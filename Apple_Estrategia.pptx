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Millones</c:v>
                </c:pt>
              </c:strCache>
            </c:strRef>
          </c:tx>
          <c:spPr>
            <a:solidFill>
              <a:srgbClr val="1D1D1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D1D1F"/>
              </a:solidFill>
              <a:effectLst/>
            </c:spPr>
          </c:dPt>
          <c:dPt>
            <c:idx val="1"/>
            <c:invertIfNegative val="0"/>
            <c:bubble3D val="0"/>
            <c:spPr>
              <a:solidFill>
                <a:srgbClr val="424245"/>
              </a:solidFill>
              <a:effectLst/>
            </c:spPr>
          </c:dPt>
          <c:dPt>
            <c:idx val="2"/>
            <c:invertIfNegative val="0"/>
            <c:bubble3D val="0"/>
            <c:spPr>
              <a:solidFill>
                <a:srgbClr val="6E6E73"/>
              </a:solidFill>
              <a:effectLst/>
            </c:spPr>
          </c:dPt>
          <c:dPt>
            <c:idx val="3"/>
            <c:invertIfNegative val="0"/>
            <c:bubble3D val="0"/>
            <c:spPr>
              <a:solidFill>
                <a:srgbClr val="AEAEB2"/>
              </a:solidFill>
              <a:effectLst/>
            </c:spPr>
          </c:dPt>
          <c:dPt>
            <c:idx val="4"/>
            <c:invertIfNegative val="0"/>
            <c:bubble3D val="0"/>
            <c:spPr>
              <a:solidFill>
                <a:srgbClr val="D1D1D6"/>
              </a:solidFill>
              <a:effectLst/>
            </c:spPr>
          </c:dPt>
          <c:cat>
            <c:multiLvlStrRef>
              <c:f>Sheet1!$A$2:$A$6</c:f>
              <c:multiLvlStrCache>
                <c:ptCount val="5"/>
                <c:lvl>
                  <c:pt idx="0">
                    <c:v>iPhone</c:v>
                  </c:pt>
                  <c:pt idx="1">
                    <c:v>Services</c:v>
                  </c:pt>
                  <c:pt idx="2">
                    <c:v>Wearables</c:v>
                  </c:pt>
                  <c:pt idx="3">
                    <c:v>Mac</c:v>
                  </c:pt>
                  <c:pt idx="4">
                    <c:v>iPad</c:v>
                  </c:pt>
                </c:lvl>
              </c:multiLvlStrCache>
            </c:multiLvlStrRef>
          </c:cat>
          <c:val>
            <c:numRef>
              <c:f>Sheet1!$B$2:$B$6</c:f>
              <c:numCache>
                <c:formatCode>General</c:formatCode>
                <c:ptCount val="5"/>
                <c:pt idx="0">
                  <c:v>209586</c:v>
                </c:pt>
                <c:pt idx="1">
                  <c:v>109158</c:v>
                </c:pt>
                <c:pt idx="2">
                  <c:v>35686</c:v>
                </c:pt>
                <c:pt idx="3">
                  <c:v>33708</c:v>
                </c:pt>
                <c:pt idx="4">
                  <c:v>28023</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2424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F0F0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Ingresos USD B</c:v>
                </c:pt>
              </c:strCache>
            </c:strRef>
          </c:tx>
          <c:spPr>
            <a:solidFill>
              <a:srgbClr val="1D1D1F"/>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D1D1F"/>
              </a:solidFill>
              <a:effectLst/>
            </c:spPr>
          </c:dPt>
          <c:dPt>
            <c:idx val="1"/>
            <c:invertIfNegative val="0"/>
            <c:bubble3D val="0"/>
            <c:spPr>
              <a:solidFill>
                <a:srgbClr val="424245"/>
              </a:solidFill>
              <a:effectLst/>
            </c:spPr>
          </c:dPt>
          <c:dPt>
            <c:idx val="2"/>
            <c:invertIfNegative val="0"/>
            <c:bubble3D val="0"/>
            <c:spPr>
              <a:solidFill>
                <a:srgbClr val="6E6E73"/>
              </a:solidFill>
              <a:effectLst/>
            </c:spPr>
          </c:dPt>
          <c:dPt>
            <c:idx val="3"/>
            <c:invertIfNegative val="0"/>
            <c:bubble3D val="0"/>
            <c:spPr>
              <a:solidFill>
                <a:srgbClr val="AEAEB2"/>
              </a:solidFill>
              <a:effectLst/>
            </c:spPr>
          </c:dPt>
          <c:cat>
            <c:multiLvlStrRef>
              <c:f>Sheet1!$A$2:$A$5</c:f>
              <c:multiLvlStrCache>
                <c:ptCount val="4"/>
                <c:lvl>
                  <c:pt idx="0">
                    <c:v>Apple</c:v>
                  </c:pt>
                  <c:pt idx="1">
                    <c:v>Samsung Elec.</c:v>
                  </c:pt>
                  <c:pt idx="2">
                    <c:v>Microsoft</c:v>
                  </c:pt>
                  <c:pt idx="3">
                    <c:v>Xiaomi</c:v>
                  </c:pt>
                </c:lvl>
              </c:multiLvlStrCache>
            </c:multiLvlStrRef>
          </c:cat>
          <c:val>
            <c:numRef>
              <c:f>Sheet1!$B$2:$B$5</c:f>
              <c:numCache>
                <c:formatCode>General</c:formatCode>
                <c:ptCount val="4"/>
                <c:pt idx="0">
                  <c:v>416</c:v>
                </c:pt>
                <c:pt idx="1">
                  <c:v>196</c:v>
                </c:pt>
                <c:pt idx="2">
                  <c:v>272</c:v>
                </c:pt>
                <c:pt idx="3">
                  <c:v>48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2424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F0F0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Crecimiento % YoY</c:v>
                </c:pt>
              </c:strCache>
            </c:strRef>
          </c:tx>
          <c:spPr>
            <a:solidFill>
              <a:srgbClr val="1D1D1F"/>
            </a:solidFill>
            <a:effectLst/>
          </c:spPr>
          <c:invertIfNegative val="0"/>
          <c:dLbls>
            <c:numFmt formatCode="#,##0" sourceLinked="0"/>
            <c:txPr>
              <a:bodyPr/>
              <a:lstStyle/>
              <a:p>
                <a:pPr>
                  <a:defRPr b="0" i="0" strike="noStrike" sz="1100" u="none">
                    <a:solidFill>
                      <a:srgbClr val="1D1D1F"/>
                    </a:solidFill>
                    <a:latin typeface="Arial"/>
                  </a:defRPr>
                </a:pPr>
              </a:p>
            </c:txPr>
            <c:showLegendKey val="0"/>
            <c:showVal val="1"/>
            <c:showCatName val="0"/>
            <c:showSerName val="0"/>
            <c:showPercent val="0"/>
            <c:showBubbleSize val="0"/>
            <c:showLeaderLines val="0"/>
          </c:dLbls>
          <c:dPt>
            <c:idx val="0"/>
            <c:invertIfNegative val="0"/>
            <c:bubble3D val="0"/>
            <c:spPr>
              <a:solidFill>
                <a:srgbClr val="1D1D1F"/>
              </a:solidFill>
              <a:effectLst/>
            </c:spPr>
          </c:dPt>
          <c:dPt>
            <c:idx val="1"/>
            <c:invertIfNegative val="0"/>
            <c:bubble3D val="0"/>
            <c:spPr>
              <a:solidFill>
                <a:srgbClr val="2D2D2F"/>
              </a:solidFill>
              <a:effectLst/>
            </c:spPr>
          </c:dPt>
          <c:dPt>
            <c:idx val="2"/>
            <c:invertIfNegative val="0"/>
            <c:bubble3D val="0"/>
            <c:spPr>
              <a:solidFill>
                <a:srgbClr val="424245"/>
              </a:solidFill>
              <a:effectLst/>
            </c:spPr>
          </c:dPt>
          <c:dPt>
            <c:idx val="3"/>
            <c:invertIfNegative val="0"/>
            <c:bubble3D val="0"/>
            <c:spPr>
              <a:solidFill>
                <a:srgbClr val="6E6E73"/>
              </a:solidFill>
              <a:effectLst/>
            </c:spPr>
          </c:dPt>
          <c:dPt>
            <c:idx val="4"/>
            <c:invertIfNegative val="0"/>
            <c:bubble3D val="0"/>
            <c:spPr>
              <a:solidFill>
                <a:srgbClr val="AEAEB2"/>
              </a:solidFill>
              <a:effectLst/>
            </c:spPr>
          </c:dPt>
          <c:cat>
            <c:multiLvlStrRef>
              <c:f>Sheet1!$A$2:$A$6</c:f>
              <c:multiLvlStrCache>
                <c:ptCount val="5"/>
                <c:lvl>
                  <c:pt idx="0">
                    <c:v>Services</c:v>
                  </c:pt>
                  <c:pt idx="1">
                    <c:v>Mac</c:v>
                  </c:pt>
                  <c:pt idx="2">
                    <c:v>iPad</c:v>
                  </c:pt>
                  <c:pt idx="3">
                    <c:v>iPhone</c:v>
                  </c:pt>
                  <c:pt idx="4">
                    <c:v>Wearables</c:v>
                  </c:pt>
                </c:lvl>
              </c:multiLvlStrCache>
            </c:multiLvlStrRef>
          </c:cat>
          <c:val>
            <c:numRef>
              <c:f>Sheet1!$B$2:$B$6</c:f>
              <c:numCache>
                <c:formatCode>General</c:formatCode>
                <c:ptCount val="5"/>
                <c:pt idx="0">
                  <c:v>14</c:v>
                </c:pt>
                <c:pt idx="1">
                  <c:v>12</c:v>
                </c:pt>
                <c:pt idx="2">
                  <c:v>6</c:v>
                </c:pt>
                <c:pt idx="3">
                  <c:v>4</c:v>
                </c:pt>
                <c:pt idx="4">
                  <c:v>-7</c:v>
                </c:pt>
              </c:numCache>
            </c:numRef>
          </c:val>
        </c:ser>
        <c:dLbls>
          <c:numFmt formatCode="#,##0" sourceLinked="0"/>
          <c:txPr>
            <a:bodyPr/>
            <a:lstStyle/>
            <a:p>
              <a:pPr>
                <a:defRPr b="0" i="0" strike="noStrike" sz="1100" u="none">
                  <a:solidFill>
                    <a:srgbClr val="1D1D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2424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F0F0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E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F0F0F2"/>
          </a:solidFill>
          <a:ln w="12700">
            <a:solidFill>
              <a:srgbClr val="AEAEB2"/>
            </a:solidFill>
            <a:prstDash val="solid"/>
          </a:ln>
        </p:spPr>
      </p:sp>
      <p:sp>
        <p:nvSpPr>
          <p:cNvPr id="3" name="Shape 1"/>
          <p:cNvSpPr/>
          <p:nvPr/>
        </p:nvSpPr>
        <p:spPr>
          <a:xfrm>
            <a:off x="0" y="0"/>
            <a:ext cx="5029200" cy="0"/>
          </a:xfrm>
          <a:prstGeom prst="line">
            <a:avLst/>
          </a:prstGeom>
          <a:noFill/>
          <a:ln w="6350">
            <a:solidFill>
              <a:srgbClr val="D1D1D6"/>
            </a:solidFill>
            <a:prstDash val="solid"/>
          </a:ln>
        </p:spPr>
      </p:sp>
      <p:sp>
        <p:nvSpPr>
          <p:cNvPr id="4" name="Text 2"/>
          <p:cNvSpPr/>
          <p:nvPr/>
        </p:nvSpPr>
        <p:spPr>
          <a:xfrm>
            <a:off x="0" y="2407158"/>
            <a:ext cx="502920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Imagen de portada ]</a:t>
            </a:r>
            <a:endParaRPr lang="en-US" sz="1000" dirty="0"/>
          </a:p>
        </p:txBody>
      </p:sp>
      <p:sp>
        <p:nvSpPr>
          <p:cNvPr id="5" name="Shape 3"/>
          <p:cNvSpPr/>
          <p:nvPr/>
        </p:nvSpPr>
        <p:spPr>
          <a:xfrm>
            <a:off x="5029200" y="0"/>
            <a:ext cx="4114800" cy="5143500"/>
          </a:xfrm>
          <a:prstGeom prst="rect">
            <a:avLst/>
          </a:prstGeom>
          <a:solidFill>
            <a:srgbClr val="1D1D1F"/>
          </a:solidFill>
          <a:ln w="12700">
            <a:solidFill>
              <a:srgbClr val="1D1D1F"/>
            </a:solidFill>
            <a:prstDash val="solid"/>
          </a:ln>
        </p:spPr>
      </p:sp>
      <p:sp>
        <p:nvSpPr>
          <p:cNvPr id="6" name="Shape 4"/>
          <p:cNvSpPr/>
          <p:nvPr/>
        </p:nvSpPr>
        <p:spPr>
          <a:xfrm>
            <a:off x="9052560" y="0"/>
            <a:ext cx="91440" cy="5143500"/>
          </a:xfrm>
          <a:prstGeom prst="rect">
            <a:avLst/>
          </a:prstGeom>
          <a:solidFill>
            <a:srgbClr val="147CE5"/>
          </a:solidFill>
          <a:ln w="12700">
            <a:solidFill>
              <a:srgbClr val="147CE5"/>
            </a:solidFill>
            <a:prstDash val="solid"/>
          </a:ln>
        </p:spPr>
      </p:sp>
      <p:sp>
        <p:nvSpPr>
          <p:cNvPr id="7" name="Text 5"/>
          <p:cNvSpPr/>
          <p:nvPr/>
        </p:nvSpPr>
        <p:spPr>
          <a:xfrm>
            <a:off x="5303520" y="1280160"/>
            <a:ext cx="3566160" cy="1097280"/>
          </a:xfrm>
          <a:prstGeom prst="rect">
            <a:avLst/>
          </a:prstGeom>
          <a:noFill/>
          <a:ln/>
        </p:spPr>
        <p:txBody>
          <a:bodyPr wrap="square" lIns="0" tIns="0" rIns="0" bIns="0" rtlCol="0" anchor="ctr"/>
          <a:lstStyle/>
          <a:p>
            <a:pPr indent="0" marL="0">
              <a:buNone/>
            </a:pPr>
            <a:r>
              <a:rPr lang="en-US" sz="4200" dirty="0">
                <a:solidFill>
                  <a:srgbClr val="FFFFFF"/>
                </a:solidFill>
                <a:latin typeface="Georgia" pitchFamily="34" charset="0"/>
                <a:ea typeface="Georgia" pitchFamily="34" charset="-122"/>
                <a:cs typeface="Georgia" pitchFamily="34" charset="-120"/>
              </a:rPr>
              <a:t>Apple Inc.</a:t>
            </a:r>
            <a:endParaRPr lang="en-US" sz="4200" dirty="0"/>
          </a:p>
        </p:txBody>
      </p:sp>
      <p:sp>
        <p:nvSpPr>
          <p:cNvPr id="8" name="Text 6"/>
          <p:cNvSpPr/>
          <p:nvPr/>
        </p:nvSpPr>
        <p:spPr>
          <a:xfrm>
            <a:off x="5303520" y="2423160"/>
            <a:ext cx="3566160" cy="502920"/>
          </a:xfrm>
          <a:prstGeom prst="rect">
            <a:avLst/>
          </a:prstGeom>
          <a:noFill/>
          <a:ln/>
        </p:spPr>
        <p:txBody>
          <a:bodyPr wrap="square" lIns="0" tIns="0" rIns="0" bIns="0" rtlCol="0" anchor="ctr"/>
          <a:lstStyle/>
          <a:p>
            <a:pPr indent="0" marL="0">
              <a:buNone/>
            </a:pPr>
            <a:r>
              <a:rPr lang="en-US" sz="1400" dirty="0">
                <a:solidFill>
                  <a:srgbClr val="6E6E73"/>
                </a:solidFill>
                <a:latin typeface="Calibri" pitchFamily="34" charset="0"/>
                <a:ea typeface="Calibri" pitchFamily="34" charset="-122"/>
                <a:cs typeface="Calibri" pitchFamily="34" charset="-120"/>
              </a:rPr>
              <a:t>Analisis Estrategico Integral</a:t>
            </a:r>
            <a:endParaRPr lang="en-US" sz="1400" dirty="0"/>
          </a:p>
        </p:txBody>
      </p:sp>
      <p:sp>
        <p:nvSpPr>
          <p:cNvPr id="9" name="Shape 7"/>
          <p:cNvSpPr/>
          <p:nvPr/>
        </p:nvSpPr>
        <p:spPr>
          <a:xfrm>
            <a:off x="5303520" y="3017520"/>
            <a:ext cx="3291840" cy="0"/>
          </a:xfrm>
          <a:prstGeom prst="line">
            <a:avLst/>
          </a:prstGeom>
          <a:noFill/>
          <a:ln w="9525">
            <a:solidFill>
              <a:srgbClr val="424245"/>
            </a:solidFill>
            <a:prstDash val="solid"/>
          </a:ln>
        </p:spPr>
      </p:sp>
      <p:sp>
        <p:nvSpPr>
          <p:cNvPr id="10" name="Text 8"/>
          <p:cNvSpPr/>
          <p:nvPr/>
        </p:nvSpPr>
        <p:spPr>
          <a:xfrm>
            <a:off x="5303520" y="3200400"/>
            <a:ext cx="3566160" cy="365760"/>
          </a:xfrm>
          <a:prstGeom prst="rect">
            <a:avLst/>
          </a:prstGeom>
          <a:noFill/>
          <a:ln/>
        </p:spPr>
        <p:txBody>
          <a:bodyPr wrap="square" lIns="0" tIns="0" rIns="0" bIns="0" rtlCol="0" anchor="ctr"/>
          <a:lstStyle/>
          <a:p>
            <a:pPr indent="0" marL="0">
              <a:buNone/>
            </a:pPr>
            <a:r>
              <a:rPr lang="en-US" sz="1100" dirty="0">
                <a:solidFill>
                  <a:srgbClr val="AEAEB2"/>
                </a:solidFill>
                <a:latin typeface="Calibri" pitchFamily="34" charset="0"/>
                <a:ea typeface="Calibri" pitchFamily="34" charset="-122"/>
                <a:cs typeface="Calibri" pitchFamily="34" charset="-120"/>
              </a:rPr>
              <a:t>Administracion Estrategica  |  2025</a:t>
            </a:r>
            <a:endParaRPr lang="en-US" sz="1100" dirty="0"/>
          </a:p>
        </p:txBody>
      </p:sp>
      <p:sp>
        <p:nvSpPr>
          <p:cNvPr id="11" name="Text 9"/>
          <p:cNvSpPr/>
          <p:nvPr/>
        </p:nvSpPr>
        <p:spPr>
          <a:xfrm>
            <a:off x="5303520" y="3840480"/>
            <a:ext cx="3566160" cy="731520"/>
          </a:xfrm>
          <a:prstGeom prst="rect">
            <a:avLst/>
          </a:prstGeom>
          <a:noFill/>
          <a:ln/>
        </p:spPr>
        <p:txBody>
          <a:bodyPr wrap="square" lIns="0" tIns="0" rIns="0" bIns="0" rtlCol="0" anchor="ctr"/>
          <a:lstStyle/>
          <a:p>
            <a:pPr indent="0" marL="0">
              <a:buNone/>
            </a:pPr>
            <a:r>
              <a:rPr lang="en-US" sz="1000" i="1" dirty="0">
                <a:solidFill>
                  <a:srgbClr val="6E6E73"/>
                </a:solidFill>
                <a:latin typeface="Calibri" pitchFamily="34" charset="0"/>
                <a:ea typeface="Calibri" pitchFamily="34" charset="-122"/>
                <a:cs typeface="Calibri" pitchFamily="34" charset="-120"/>
              </a:rPr>
              <a:t>[ Integrantes del grupo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863840" cy="777240"/>
          </a:xfrm>
          <a:prstGeom prst="rect">
            <a:avLst/>
          </a:prstGeom>
          <a:noFill/>
          <a:ln/>
        </p:spPr>
        <p:txBody>
          <a:bodyPr wrap="square" lIns="0" tIns="0" rIns="0" bIns="0" rtlCol="0" anchor="ctr"/>
          <a:lstStyle/>
          <a:p>
            <a:pPr indent="0" marL="0">
              <a:buNone/>
            </a:pPr>
            <a:r>
              <a:rPr lang="en-US" sz="3200" dirty="0">
                <a:solidFill>
                  <a:srgbClr val="1D1D1F"/>
                </a:solidFill>
                <a:latin typeface="Georgia" pitchFamily="34" charset="0"/>
                <a:ea typeface="Georgia" pitchFamily="34" charset="-122"/>
                <a:cs typeface="Georgia" pitchFamily="34" charset="-120"/>
              </a:rPr>
              <a:t>Contenido</a:t>
            </a:r>
            <a:endParaRPr lang="en-US" sz="3200" dirty="0"/>
          </a:p>
        </p:txBody>
      </p:sp>
      <p:sp>
        <p:nvSpPr>
          <p:cNvPr id="3" name="Shape 1"/>
          <p:cNvSpPr/>
          <p:nvPr/>
        </p:nvSpPr>
        <p:spPr>
          <a:xfrm>
            <a:off x="640080" y="1261872"/>
            <a:ext cx="7863840" cy="0"/>
          </a:xfrm>
          <a:prstGeom prst="line">
            <a:avLst/>
          </a:prstGeom>
          <a:noFill/>
          <a:ln w="9525">
            <a:solidFill>
              <a:srgbClr val="D1D1D6"/>
            </a:solidFill>
            <a:prstDash val="solid"/>
          </a:ln>
        </p:spPr>
      </p:sp>
      <p:sp>
        <p:nvSpPr>
          <p:cNvPr id="4" name="Text 2"/>
          <p:cNvSpPr/>
          <p:nvPr/>
        </p:nvSpPr>
        <p:spPr>
          <a:xfrm>
            <a:off x="640080" y="146304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01</a:t>
            </a:r>
            <a:endParaRPr lang="en-US" sz="2400" dirty="0"/>
          </a:p>
        </p:txBody>
      </p:sp>
      <p:sp>
        <p:nvSpPr>
          <p:cNvPr id="5" name="Text 3"/>
          <p:cNvSpPr/>
          <p:nvPr/>
        </p:nvSpPr>
        <p:spPr>
          <a:xfrm>
            <a:off x="1234440" y="153619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Introduccion y Empresa</a:t>
            </a:r>
            <a:endParaRPr lang="en-US" sz="1400" dirty="0"/>
          </a:p>
        </p:txBody>
      </p:sp>
      <p:sp>
        <p:nvSpPr>
          <p:cNvPr id="6" name="Shape 4"/>
          <p:cNvSpPr/>
          <p:nvPr/>
        </p:nvSpPr>
        <p:spPr>
          <a:xfrm>
            <a:off x="640080" y="2103120"/>
            <a:ext cx="3840480" cy="0"/>
          </a:xfrm>
          <a:prstGeom prst="line">
            <a:avLst/>
          </a:prstGeom>
          <a:noFill/>
          <a:ln w="9525">
            <a:solidFill>
              <a:srgbClr val="D1D1D6"/>
            </a:solidFill>
            <a:prstDash val="solid"/>
          </a:ln>
        </p:spPr>
      </p:sp>
      <p:sp>
        <p:nvSpPr>
          <p:cNvPr id="7" name="Text 5"/>
          <p:cNvSpPr/>
          <p:nvPr/>
        </p:nvSpPr>
        <p:spPr>
          <a:xfrm>
            <a:off x="4846320" y="146304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02</a:t>
            </a:r>
            <a:endParaRPr lang="en-US" sz="2400" dirty="0"/>
          </a:p>
        </p:txBody>
      </p:sp>
      <p:sp>
        <p:nvSpPr>
          <p:cNvPr id="8" name="Text 6"/>
          <p:cNvSpPr/>
          <p:nvPr/>
        </p:nvSpPr>
        <p:spPr>
          <a:xfrm>
            <a:off x="5440680" y="153619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Mision y Vision</a:t>
            </a:r>
            <a:endParaRPr lang="en-US" sz="1400" dirty="0"/>
          </a:p>
        </p:txBody>
      </p:sp>
      <p:sp>
        <p:nvSpPr>
          <p:cNvPr id="9" name="Shape 7"/>
          <p:cNvSpPr/>
          <p:nvPr/>
        </p:nvSpPr>
        <p:spPr>
          <a:xfrm>
            <a:off x="4846320" y="2103120"/>
            <a:ext cx="3840480" cy="0"/>
          </a:xfrm>
          <a:prstGeom prst="line">
            <a:avLst/>
          </a:prstGeom>
          <a:noFill/>
          <a:ln w="9525">
            <a:solidFill>
              <a:srgbClr val="D1D1D6"/>
            </a:solidFill>
            <a:prstDash val="solid"/>
          </a:ln>
        </p:spPr>
      </p:sp>
      <p:sp>
        <p:nvSpPr>
          <p:cNvPr id="10" name="Text 8"/>
          <p:cNvSpPr/>
          <p:nvPr/>
        </p:nvSpPr>
        <p:spPr>
          <a:xfrm>
            <a:off x="640080" y="233172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03</a:t>
            </a:r>
            <a:endParaRPr lang="en-US" sz="2400" dirty="0"/>
          </a:p>
        </p:txBody>
      </p:sp>
      <p:sp>
        <p:nvSpPr>
          <p:cNvPr id="11" name="Text 9"/>
          <p:cNvSpPr/>
          <p:nvPr/>
        </p:nvSpPr>
        <p:spPr>
          <a:xfrm>
            <a:off x="1234440" y="240487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Auditoria Interna</a:t>
            </a:r>
            <a:endParaRPr lang="en-US" sz="1400" dirty="0"/>
          </a:p>
        </p:txBody>
      </p:sp>
      <p:sp>
        <p:nvSpPr>
          <p:cNvPr id="12" name="Shape 10"/>
          <p:cNvSpPr/>
          <p:nvPr/>
        </p:nvSpPr>
        <p:spPr>
          <a:xfrm>
            <a:off x="640080" y="2971800"/>
            <a:ext cx="3840480" cy="0"/>
          </a:xfrm>
          <a:prstGeom prst="line">
            <a:avLst/>
          </a:prstGeom>
          <a:noFill/>
          <a:ln w="9525">
            <a:solidFill>
              <a:srgbClr val="D1D1D6"/>
            </a:solidFill>
            <a:prstDash val="solid"/>
          </a:ln>
        </p:spPr>
      </p:sp>
      <p:sp>
        <p:nvSpPr>
          <p:cNvPr id="13" name="Text 11"/>
          <p:cNvSpPr/>
          <p:nvPr/>
        </p:nvSpPr>
        <p:spPr>
          <a:xfrm>
            <a:off x="4846320" y="233172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04</a:t>
            </a:r>
            <a:endParaRPr lang="en-US" sz="2400" dirty="0"/>
          </a:p>
        </p:txBody>
      </p:sp>
      <p:sp>
        <p:nvSpPr>
          <p:cNvPr id="14" name="Text 12"/>
          <p:cNvSpPr/>
          <p:nvPr/>
        </p:nvSpPr>
        <p:spPr>
          <a:xfrm>
            <a:off x="5440680" y="240487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Auditoria Externa</a:t>
            </a:r>
            <a:endParaRPr lang="en-US" sz="1400" dirty="0"/>
          </a:p>
        </p:txBody>
      </p:sp>
      <p:sp>
        <p:nvSpPr>
          <p:cNvPr id="15" name="Shape 13"/>
          <p:cNvSpPr/>
          <p:nvPr/>
        </p:nvSpPr>
        <p:spPr>
          <a:xfrm>
            <a:off x="4846320" y="2971800"/>
            <a:ext cx="3840480" cy="0"/>
          </a:xfrm>
          <a:prstGeom prst="line">
            <a:avLst/>
          </a:prstGeom>
          <a:noFill/>
          <a:ln w="9525">
            <a:solidFill>
              <a:srgbClr val="D1D1D6"/>
            </a:solidFill>
            <a:prstDash val="solid"/>
          </a:ln>
        </p:spPr>
      </p:sp>
      <p:sp>
        <p:nvSpPr>
          <p:cNvPr id="16" name="Text 14"/>
          <p:cNvSpPr/>
          <p:nvPr/>
        </p:nvSpPr>
        <p:spPr>
          <a:xfrm>
            <a:off x="640080" y="320040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05</a:t>
            </a:r>
            <a:endParaRPr lang="en-US" sz="2400" dirty="0"/>
          </a:p>
        </p:txBody>
      </p:sp>
      <p:sp>
        <p:nvSpPr>
          <p:cNvPr id="17" name="Text 15"/>
          <p:cNvSpPr/>
          <p:nvPr/>
        </p:nvSpPr>
        <p:spPr>
          <a:xfrm>
            <a:off x="1234440" y="327355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Formulacion Estrategica</a:t>
            </a:r>
            <a:endParaRPr lang="en-US" sz="1400" dirty="0"/>
          </a:p>
        </p:txBody>
      </p:sp>
      <p:sp>
        <p:nvSpPr>
          <p:cNvPr id="18" name="Shape 16"/>
          <p:cNvSpPr/>
          <p:nvPr/>
        </p:nvSpPr>
        <p:spPr>
          <a:xfrm>
            <a:off x="640080" y="3840480"/>
            <a:ext cx="3840480" cy="0"/>
          </a:xfrm>
          <a:prstGeom prst="line">
            <a:avLst/>
          </a:prstGeom>
          <a:noFill/>
          <a:ln w="9525">
            <a:solidFill>
              <a:srgbClr val="D1D1D6"/>
            </a:solidFill>
            <a:prstDash val="solid"/>
          </a:ln>
        </p:spPr>
      </p:sp>
      <p:sp>
        <p:nvSpPr>
          <p:cNvPr id="19" name="Text 17"/>
          <p:cNvSpPr/>
          <p:nvPr/>
        </p:nvSpPr>
        <p:spPr>
          <a:xfrm>
            <a:off x="4846320" y="320040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06</a:t>
            </a:r>
            <a:endParaRPr lang="en-US" sz="2400" dirty="0"/>
          </a:p>
        </p:txBody>
      </p:sp>
      <p:sp>
        <p:nvSpPr>
          <p:cNvPr id="20" name="Text 18"/>
          <p:cNvSpPr/>
          <p:nvPr/>
        </p:nvSpPr>
        <p:spPr>
          <a:xfrm>
            <a:off x="5440680" y="327355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Implementacion</a:t>
            </a:r>
            <a:endParaRPr lang="en-US" sz="1400" dirty="0"/>
          </a:p>
        </p:txBody>
      </p:sp>
      <p:sp>
        <p:nvSpPr>
          <p:cNvPr id="21" name="Shape 19"/>
          <p:cNvSpPr/>
          <p:nvPr/>
        </p:nvSpPr>
        <p:spPr>
          <a:xfrm>
            <a:off x="4846320" y="3840480"/>
            <a:ext cx="3840480" cy="0"/>
          </a:xfrm>
          <a:prstGeom prst="line">
            <a:avLst/>
          </a:prstGeom>
          <a:noFill/>
          <a:ln w="9525">
            <a:solidFill>
              <a:srgbClr val="D1D1D6"/>
            </a:solidFill>
            <a:prstDash val="solid"/>
          </a:ln>
        </p:spPr>
      </p:sp>
      <p:sp>
        <p:nvSpPr>
          <p:cNvPr id="22" name="Text 20"/>
          <p:cNvSpPr/>
          <p:nvPr/>
        </p:nvSpPr>
        <p:spPr>
          <a:xfrm>
            <a:off x="640080" y="406908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07</a:t>
            </a:r>
            <a:endParaRPr lang="en-US" sz="2400" dirty="0"/>
          </a:p>
        </p:txBody>
      </p:sp>
      <p:sp>
        <p:nvSpPr>
          <p:cNvPr id="23" name="Text 21"/>
          <p:cNvSpPr/>
          <p:nvPr/>
        </p:nvSpPr>
        <p:spPr>
          <a:xfrm>
            <a:off x="1234440" y="414223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Evaluacion y Balanced Scorecard</a:t>
            </a:r>
            <a:endParaRPr lang="en-US" sz="1400" dirty="0"/>
          </a:p>
        </p:txBody>
      </p:sp>
      <p:sp>
        <p:nvSpPr>
          <p:cNvPr id="24" name="Shape 22"/>
          <p:cNvSpPr/>
          <p:nvPr/>
        </p:nvSpPr>
        <p:spPr>
          <a:xfrm>
            <a:off x="640080" y="4709160"/>
            <a:ext cx="3840480" cy="0"/>
          </a:xfrm>
          <a:prstGeom prst="line">
            <a:avLst/>
          </a:prstGeom>
          <a:noFill/>
          <a:ln w="9525">
            <a:solidFill>
              <a:srgbClr val="D1D1D6"/>
            </a:solidFill>
            <a:prstDash val="solid"/>
          </a:ln>
        </p:spPr>
      </p:sp>
      <p:sp>
        <p:nvSpPr>
          <p:cNvPr id="25" name="Text 23"/>
          <p:cNvSpPr/>
          <p:nvPr/>
        </p:nvSpPr>
        <p:spPr>
          <a:xfrm>
            <a:off x="4846320" y="4069080"/>
            <a:ext cx="502920" cy="548640"/>
          </a:xfrm>
          <a:prstGeom prst="rect">
            <a:avLst/>
          </a:prstGeom>
          <a:noFill/>
          <a:ln/>
        </p:spPr>
        <p:txBody>
          <a:bodyPr wrap="square" lIns="0" tIns="0" rIns="0" bIns="0" rtlCol="0" anchor="ctr"/>
          <a:lstStyle/>
          <a:p>
            <a:pPr indent="0" marL="0">
              <a:buNone/>
            </a:pPr>
            <a:r>
              <a:rPr lang="en-US" sz="2400" dirty="0">
                <a:solidFill>
                  <a:srgbClr val="147CE5"/>
                </a:solidFill>
                <a:latin typeface="Georgia" pitchFamily="34" charset="0"/>
                <a:ea typeface="Georgia" pitchFamily="34" charset="-122"/>
                <a:cs typeface="Georgia" pitchFamily="34" charset="-120"/>
              </a:rPr>
              <a:t>08</a:t>
            </a:r>
            <a:endParaRPr lang="en-US" sz="2400" dirty="0"/>
          </a:p>
        </p:txBody>
      </p:sp>
      <p:sp>
        <p:nvSpPr>
          <p:cNvPr id="26" name="Text 24"/>
          <p:cNvSpPr/>
          <p:nvPr/>
        </p:nvSpPr>
        <p:spPr>
          <a:xfrm>
            <a:off x="5440680" y="4142232"/>
            <a:ext cx="3383280" cy="457200"/>
          </a:xfrm>
          <a:prstGeom prst="rect">
            <a:avLst/>
          </a:prstGeom>
          <a:noFill/>
          <a:ln/>
        </p:spPr>
        <p:txBody>
          <a:bodyPr wrap="square" lIns="0" tIns="0" rIns="0" bIns="0" rtlCol="0" anchor="ctr"/>
          <a:lstStyle/>
          <a:p>
            <a:pPr indent="0" marL="0">
              <a:buNone/>
            </a:pPr>
            <a:r>
              <a:rPr lang="en-US" sz="1400" dirty="0">
                <a:solidFill>
                  <a:srgbClr val="1D1D1F"/>
                </a:solidFill>
                <a:latin typeface="Calibri" pitchFamily="34" charset="0"/>
                <a:ea typeface="Calibri" pitchFamily="34" charset="-122"/>
                <a:cs typeface="Calibri" pitchFamily="34" charset="-120"/>
              </a:rPr>
              <a:t>Conclusion y Recomendaciones</a:t>
            </a:r>
            <a:endParaRPr lang="en-US" sz="1400" dirty="0"/>
          </a:p>
        </p:txBody>
      </p:sp>
      <p:sp>
        <p:nvSpPr>
          <p:cNvPr id="27" name="Shape 25"/>
          <p:cNvSpPr/>
          <p:nvPr/>
        </p:nvSpPr>
        <p:spPr>
          <a:xfrm>
            <a:off x="4846320" y="4709160"/>
            <a:ext cx="3840480" cy="0"/>
          </a:xfrm>
          <a:prstGeom prst="line">
            <a:avLst/>
          </a:prstGeom>
          <a:noFill/>
          <a:ln w="9525">
            <a:solidFill>
              <a:srgbClr val="D1D1D6"/>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01 — Introduccion</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y Empresa</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Historia, fundacion, ecosistema y portafolio de productos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Empresa y Productos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34440"/>
            <a:ext cx="3200400" cy="3291840"/>
          </a:xfrm>
          <a:prstGeom prst="rect">
            <a:avLst/>
          </a:prstGeom>
          <a:solidFill>
            <a:srgbClr val="F0F0F2"/>
          </a:solidFill>
          <a:ln w="12700">
            <a:solidFill>
              <a:srgbClr val="AEAEB2"/>
            </a:solidFill>
            <a:prstDash val="solid"/>
          </a:ln>
        </p:spPr>
      </p:sp>
      <p:sp>
        <p:nvSpPr>
          <p:cNvPr id="5" name="Shape 3"/>
          <p:cNvSpPr/>
          <p:nvPr/>
        </p:nvSpPr>
        <p:spPr>
          <a:xfrm>
            <a:off x="640080" y="1234440"/>
            <a:ext cx="3200400" cy="0"/>
          </a:xfrm>
          <a:prstGeom prst="line">
            <a:avLst/>
          </a:prstGeom>
          <a:noFill/>
          <a:ln w="6350">
            <a:solidFill>
              <a:srgbClr val="D1D1D6"/>
            </a:solidFill>
            <a:prstDash val="solid"/>
          </a:ln>
        </p:spPr>
      </p:sp>
      <p:sp>
        <p:nvSpPr>
          <p:cNvPr id="6" name="Text 4"/>
          <p:cNvSpPr/>
          <p:nvPr/>
        </p:nvSpPr>
        <p:spPr>
          <a:xfrm>
            <a:off x="640080" y="2715768"/>
            <a:ext cx="320040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Imagen Apple Store / Logo ]</a:t>
            </a:r>
            <a:endParaRPr lang="en-US" sz="1000" dirty="0"/>
          </a:p>
        </p:txBody>
      </p:sp>
      <p:sp>
        <p:nvSpPr>
          <p:cNvPr id="7" name="Text 5"/>
          <p:cNvSpPr/>
          <p:nvPr/>
        </p:nvSpPr>
        <p:spPr>
          <a:xfrm>
            <a:off x="4114800" y="1234440"/>
            <a:ext cx="4663440" cy="292608"/>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FUNDACION</a:t>
            </a:r>
            <a:endParaRPr lang="en-US" sz="900" dirty="0"/>
          </a:p>
        </p:txBody>
      </p:sp>
      <p:sp>
        <p:nvSpPr>
          <p:cNvPr id="8" name="Text 6"/>
          <p:cNvSpPr/>
          <p:nvPr/>
        </p:nvSpPr>
        <p:spPr>
          <a:xfrm>
            <a:off x="4114800" y="1508760"/>
            <a:ext cx="4663440" cy="475488"/>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1976, Cupertino, California</a:t>
            </a:r>
            <a:endParaRPr lang="en-US" sz="1200" dirty="0"/>
          </a:p>
          <a:p>
            <a:pPr indent="0" marL="0">
              <a:buNone/>
            </a:pPr>
            <a:r>
              <a:rPr lang="en-US" sz="1200" dirty="0">
                <a:solidFill>
                  <a:srgbClr val="1D1D1F"/>
                </a:solidFill>
                <a:latin typeface="Calibri" pitchFamily="34" charset="0"/>
                <a:ea typeface="Calibri" pitchFamily="34" charset="-122"/>
                <a:cs typeface="Calibri" pitchFamily="34" charset="-120"/>
              </a:rPr>
              <a:t>Steve Jobs, Steve Wozniak y Ronald Wayne</a:t>
            </a:r>
            <a:endParaRPr lang="en-US" sz="1200" dirty="0"/>
          </a:p>
        </p:txBody>
      </p:sp>
      <p:sp>
        <p:nvSpPr>
          <p:cNvPr id="9" name="Shape 7"/>
          <p:cNvSpPr/>
          <p:nvPr/>
        </p:nvSpPr>
        <p:spPr>
          <a:xfrm>
            <a:off x="4114800" y="2039112"/>
            <a:ext cx="4663440" cy="0"/>
          </a:xfrm>
          <a:prstGeom prst="line">
            <a:avLst/>
          </a:prstGeom>
          <a:noFill/>
          <a:ln w="9525">
            <a:solidFill>
              <a:srgbClr val="D1D1D6"/>
            </a:solidFill>
            <a:prstDash val="solid"/>
          </a:ln>
        </p:spPr>
      </p:sp>
      <p:sp>
        <p:nvSpPr>
          <p:cNvPr id="10" name="Text 8"/>
          <p:cNvSpPr/>
          <p:nvPr/>
        </p:nvSpPr>
        <p:spPr>
          <a:xfrm>
            <a:off x="4114800" y="2075688"/>
            <a:ext cx="4663440" cy="292608"/>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MODELO DE NEGOCIO</a:t>
            </a:r>
            <a:endParaRPr lang="en-US" sz="900" dirty="0"/>
          </a:p>
        </p:txBody>
      </p:sp>
      <p:sp>
        <p:nvSpPr>
          <p:cNvPr id="11" name="Text 9"/>
          <p:cNvSpPr/>
          <p:nvPr/>
        </p:nvSpPr>
        <p:spPr>
          <a:xfrm>
            <a:off x="4114800" y="2350008"/>
            <a:ext cx="4663440" cy="475488"/>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Diseno, desarrollo y venta de hardware,</a:t>
            </a:r>
            <a:endParaRPr lang="en-US" sz="1200" dirty="0"/>
          </a:p>
          <a:p>
            <a:pPr indent="0" marL="0">
              <a:buNone/>
            </a:pPr>
            <a:r>
              <a:rPr lang="en-US" sz="1200" dirty="0">
                <a:solidFill>
                  <a:srgbClr val="1D1D1F"/>
                </a:solidFill>
                <a:latin typeface="Calibri" pitchFamily="34" charset="0"/>
                <a:ea typeface="Calibri" pitchFamily="34" charset="-122"/>
                <a:cs typeface="Calibri" pitchFamily="34" charset="-120"/>
              </a:rPr>
              <a:t>software y servicios integrados</a:t>
            </a:r>
            <a:endParaRPr lang="en-US" sz="1200" dirty="0"/>
          </a:p>
        </p:txBody>
      </p:sp>
      <p:sp>
        <p:nvSpPr>
          <p:cNvPr id="12" name="Shape 10"/>
          <p:cNvSpPr/>
          <p:nvPr/>
        </p:nvSpPr>
        <p:spPr>
          <a:xfrm>
            <a:off x="4114800" y="2880360"/>
            <a:ext cx="4663440" cy="0"/>
          </a:xfrm>
          <a:prstGeom prst="line">
            <a:avLst/>
          </a:prstGeom>
          <a:noFill/>
          <a:ln w="9525">
            <a:solidFill>
              <a:srgbClr val="D1D1D6"/>
            </a:solidFill>
            <a:prstDash val="solid"/>
          </a:ln>
        </p:spPr>
      </p:sp>
      <p:sp>
        <p:nvSpPr>
          <p:cNvPr id="13" name="Text 11"/>
          <p:cNvSpPr/>
          <p:nvPr/>
        </p:nvSpPr>
        <p:spPr>
          <a:xfrm>
            <a:off x="4114800" y="2916936"/>
            <a:ext cx="4663440" cy="292608"/>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PRESENCIA GLOBAL</a:t>
            </a:r>
            <a:endParaRPr lang="en-US" sz="900" dirty="0"/>
          </a:p>
        </p:txBody>
      </p:sp>
      <p:sp>
        <p:nvSpPr>
          <p:cNvPr id="14" name="Text 12"/>
          <p:cNvSpPr/>
          <p:nvPr/>
        </p:nvSpPr>
        <p:spPr>
          <a:xfrm>
            <a:off x="4114800" y="3191256"/>
            <a:ext cx="4663440" cy="475488"/>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Mas de 500 tiendas fisicas en 25 paises</a:t>
            </a:r>
            <a:endParaRPr lang="en-US" sz="1200" dirty="0"/>
          </a:p>
          <a:p>
            <a:pPr indent="0" marL="0">
              <a:buNone/>
            </a:pPr>
            <a:r>
              <a:rPr lang="en-US" sz="1200" dirty="0">
                <a:solidFill>
                  <a:srgbClr val="1D1D1F"/>
                </a:solidFill>
                <a:latin typeface="Calibri" pitchFamily="34" charset="0"/>
                <a:ea typeface="Calibri" pitchFamily="34" charset="-122"/>
                <a:cs typeface="Calibri" pitchFamily="34" charset="-120"/>
              </a:rPr>
              <a:t>5 segmentos geograficos de reporte</a:t>
            </a:r>
            <a:endParaRPr lang="en-US" sz="1200" dirty="0"/>
          </a:p>
        </p:txBody>
      </p:sp>
      <p:sp>
        <p:nvSpPr>
          <p:cNvPr id="15" name="Shape 13"/>
          <p:cNvSpPr/>
          <p:nvPr/>
        </p:nvSpPr>
        <p:spPr>
          <a:xfrm>
            <a:off x="4114800" y="3721608"/>
            <a:ext cx="4663440" cy="0"/>
          </a:xfrm>
          <a:prstGeom prst="line">
            <a:avLst/>
          </a:prstGeom>
          <a:noFill/>
          <a:ln w="9525">
            <a:solidFill>
              <a:srgbClr val="D1D1D6"/>
            </a:solidFill>
            <a:prstDash val="solid"/>
          </a:ln>
        </p:spPr>
      </p:sp>
      <p:sp>
        <p:nvSpPr>
          <p:cNvPr id="16" name="Text 14"/>
          <p:cNvSpPr/>
          <p:nvPr/>
        </p:nvSpPr>
        <p:spPr>
          <a:xfrm>
            <a:off x="4114800" y="3758184"/>
            <a:ext cx="4663440" cy="292608"/>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BOLSA</a:t>
            </a:r>
            <a:endParaRPr lang="en-US" sz="900" dirty="0"/>
          </a:p>
        </p:txBody>
      </p:sp>
      <p:sp>
        <p:nvSpPr>
          <p:cNvPr id="17" name="Text 15"/>
          <p:cNvSpPr/>
          <p:nvPr/>
        </p:nvSpPr>
        <p:spPr>
          <a:xfrm>
            <a:off x="4114800" y="4032504"/>
            <a:ext cx="4663440" cy="475488"/>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NASDAQ: AAPL — capitalizacion ~$3.4T</a:t>
            </a:r>
            <a:endParaRPr lang="en-US" sz="1200" dirty="0"/>
          </a:p>
        </p:txBody>
      </p:sp>
      <p:sp>
        <p:nvSpPr>
          <p:cNvPr id="18" name="Text 16"/>
          <p:cNvSpPr/>
          <p:nvPr/>
        </p:nvSpPr>
        <p:spPr>
          <a:xfrm>
            <a:off x="640080" y="4663440"/>
            <a:ext cx="7863840" cy="384048"/>
          </a:xfrm>
          <a:prstGeom prst="rect">
            <a:avLst/>
          </a:prstGeom>
          <a:noFill/>
          <a:ln/>
        </p:spPr>
        <p:txBody>
          <a:bodyPr wrap="square" lIns="0" tIns="0" rIns="0" bIns="0" rtlCol="0" anchor="ctr"/>
          <a:lstStyle/>
          <a:p>
            <a:pPr indent="0" marL="0">
              <a:buNone/>
            </a:pPr>
            <a:r>
              <a:rPr lang="en-US" sz="1050" i="1" dirty="0">
                <a:solidFill>
                  <a:srgbClr val="6E6E73"/>
                </a:solidFill>
                <a:latin typeface="Calibri" pitchFamily="34" charset="0"/>
                <a:ea typeface="Calibri" pitchFamily="34" charset="-122"/>
                <a:cs typeface="Calibri" pitchFamily="34" charset="-120"/>
              </a:rPr>
              <a:t>"Disenar productos que la gente ame y que conecten el hardware, el software</a:t>
            </a:r>
            <a:endParaRPr lang="en-US" sz="1050" dirty="0"/>
          </a:p>
          <a:p>
            <a:pPr indent="0" marL="0">
              <a:buNone/>
            </a:pPr>
            <a:r>
              <a:rPr lang="en-US" sz="1050" i="1" dirty="0">
                <a:solidFill>
                  <a:srgbClr val="6E6E73"/>
                </a:solidFill>
                <a:latin typeface="Calibri" pitchFamily="34" charset="0"/>
                <a:ea typeface="Calibri" pitchFamily="34" charset="-122"/>
                <a:cs typeface="Calibri" pitchFamily="34" charset="-120"/>
              </a:rPr>
              <a:t>y los servicios de manera unica en el mundo."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Portafolio de Productos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80160"/>
            <a:ext cx="1463040" cy="2651760"/>
          </a:xfrm>
          <a:prstGeom prst="rect">
            <a:avLst/>
          </a:prstGeom>
          <a:solidFill>
            <a:srgbClr val="FFFFFF"/>
          </a:solidFill>
          <a:ln w="9525">
            <a:solidFill>
              <a:srgbClr val="D1D1D6"/>
            </a:solidFill>
            <a:prstDash val="solid"/>
          </a:ln>
        </p:spPr>
      </p:sp>
      <p:sp>
        <p:nvSpPr>
          <p:cNvPr id="5" name="Shape 3"/>
          <p:cNvSpPr/>
          <p:nvPr/>
        </p:nvSpPr>
        <p:spPr>
          <a:xfrm>
            <a:off x="640080" y="1280160"/>
            <a:ext cx="1463040" cy="45720"/>
          </a:xfrm>
          <a:prstGeom prst="rect">
            <a:avLst/>
          </a:prstGeom>
          <a:solidFill>
            <a:srgbClr val="147CE5"/>
          </a:solidFill>
          <a:ln w="12700">
            <a:solidFill>
              <a:srgbClr val="147CE5"/>
            </a:solidFill>
            <a:prstDash val="solid"/>
          </a:ln>
        </p:spPr>
      </p:sp>
      <p:sp>
        <p:nvSpPr>
          <p:cNvPr id="6" name="Shape 4"/>
          <p:cNvSpPr/>
          <p:nvPr/>
        </p:nvSpPr>
        <p:spPr>
          <a:xfrm>
            <a:off x="731520" y="1417320"/>
            <a:ext cx="1280160" cy="1188720"/>
          </a:xfrm>
          <a:prstGeom prst="rect">
            <a:avLst/>
          </a:prstGeom>
          <a:solidFill>
            <a:srgbClr val="F0F0F2"/>
          </a:solidFill>
          <a:ln w="12700">
            <a:solidFill>
              <a:srgbClr val="AEAEB2"/>
            </a:solidFill>
            <a:prstDash val="solid"/>
          </a:ln>
        </p:spPr>
      </p:sp>
      <p:sp>
        <p:nvSpPr>
          <p:cNvPr id="7" name="Shape 5"/>
          <p:cNvSpPr/>
          <p:nvPr/>
        </p:nvSpPr>
        <p:spPr>
          <a:xfrm>
            <a:off x="731520" y="1417320"/>
            <a:ext cx="1280160" cy="0"/>
          </a:xfrm>
          <a:prstGeom prst="line">
            <a:avLst/>
          </a:prstGeom>
          <a:noFill/>
          <a:ln w="6350">
            <a:solidFill>
              <a:srgbClr val="D1D1D6"/>
            </a:solidFill>
            <a:prstDash val="solid"/>
          </a:ln>
        </p:spPr>
      </p:sp>
      <p:sp>
        <p:nvSpPr>
          <p:cNvPr id="8" name="Text 6"/>
          <p:cNvSpPr/>
          <p:nvPr/>
        </p:nvSpPr>
        <p:spPr>
          <a:xfrm>
            <a:off x="731520" y="1847088"/>
            <a:ext cx="128016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img ]</a:t>
            </a:r>
            <a:endParaRPr lang="en-US" sz="1000" dirty="0"/>
          </a:p>
        </p:txBody>
      </p:sp>
      <p:sp>
        <p:nvSpPr>
          <p:cNvPr id="9" name="Text 7"/>
          <p:cNvSpPr/>
          <p:nvPr/>
        </p:nvSpPr>
        <p:spPr>
          <a:xfrm>
            <a:off x="731520" y="2697480"/>
            <a:ext cx="128016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iPhone</a:t>
            </a:r>
            <a:endParaRPr lang="en-US" sz="1300" dirty="0"/>
          </a:p>
        </p:txBody>
      </p:sp>
      <p:sp>
        <p:nvSpPr>
          <p:cNvPr id="10" name="Text 8"/>
          <p:cNvSpPr/>
          <p:nvPr/>
        </p:nvSpPr>
        <p:spPr>
          <a:xfrm>
            <a:off x="731520" y="3090672"/>
            <a:ext cx="1280160" cy="685800"/>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Smartphone premium</a:t>
            </a:r>
            <a:endParaRPr lang="en-US" sz="950" dirty="0"/>
          </a:p>
          <a:p>
            <a:pPr indent="0" marL="0">
              <a:buNone/>
            </a:pPr>
            <a:r>
              <a:rPr lang="en-US" sz="950" dirty="0">
                <a:solidFill>
                  <a:srgbClr val="6E6E73"/>
                </a:solidFill>
                <a:latin typeface="Calibri" pitchFamily="34" charset="0"/>
                <a:ea typeface="Calibri" pitchFamily="34" charset="-122"/>
                <a:cs typeface="Calibri" pitchFamily="34" charset="-120"/>
              </a:rPr>
              <a:t>A-series silicon</a:t>
            </a:r>
            <a:endParaRPr lang="en-US" sz="950" dirty="0"/>
          </a:p>
        </p:txBody>
      </p:sp>
      <p:sp>
        <p:nvSpPr>
          <p:cNvPr id="11" name="Shape 9"/>
          <p:cNvSpPr/>
          <p:nvPr/>
        </p:nvSpPr>
        <p:spPr>
          <a:xfrm>
            <a:off x="2249424" y="1280160"/>
            <a:ext cx="1463040" cy="2651760"/>
          </a:xfrm>
          <a:prstGeom prst="rect">
            <a:avLst/>
          </a:prstGeom>
          <a:solidFill>
            <a:srgbClr val="FFFFFF"/>
          </a:solidFill>
          <a:ln w="9525">
            <a:solidFill>
              <a:srgbClr val="D1D1D6"/>
            </a:solidFill>
            <a:prstDash val="solid"/>
          </a:ln>
        </p:spPr>
      </p:sp>
      <p:sp>
        <p:nvSpPr>
          <p:cNvPr id="12" name="Shape 10"/>
          <p:cNvSpPr/>
          <p:nvPr/>
        </p:nvSpPr>
        <p:spPr>
          <a:xfrm>
            <a:off x="2249424" y="1280160"/>
            <a:ext cx="1463040" cy="45720"/>
          </a:xfrm>
          <a:prstGeom prst="rect">
            <a:avLst/>
          </a:prstGeom>
          <a:solidFill>
            <a:srgbClr val="147CE5"/>
          </a:solidFill>
          <a:ln w="12700">
            <a:solidFill>
              <a:srgbClr val="147CE5"/>
            </a:solidFill>
            <a:prstDash val="solid"/>
          </a:ln>
        </p:spPr>
      </p:sp>
      <p:sp>
        <p:nvSpPr>
          <p:cNvPr id="13" name="Shape 11"/>
          <p:cNvSpPr/>
          <p:nvPr/>
        </p:nvSpPr>
        <p:spPr>
          <a:xfrm>
            <a:off x="2340864" y="1417320"/>
            <a:ext cx="1280160" cy="1188720"/>
          </a:xfrm>
          <a:prstGeom prst="rect">
            <a:avLst/>
          </a:prstGeom>
          <a:solidFill>
            <a:srgbClr val="F0F0F2"/>
          </a:solidFill>
          <a:ln w="12700">
            <a:solidFill>
              <a:srgbClr val="AEAEB2"/>
            </a:solidFill>
            <a:prstDash val="solid"/>
          </a:ln>
        </p:spPr>
      </p:sp>
      <p:sp>
        <p:nvSpPr>
          <p:cNvPr id="14" name="Shape 12"/>
          <p:cNvSpPr/>
          <p:nvPr/>
        </p:nvSpPr>
        <p:spPr>
          <a:xfrm>
            <a:off x="2340864" y="1417320"/>
            <a:ext cx="1280160" cy="0"/>
          </a:xfrm>
          <a:prstGeom prst="line">
            <a:avLst/>
          </a:prstGeom>
          <a:noFill/>
          <a:ln w="6350">
            <a:solidFill>
              <a:srgbClr val="D1D1D6"/>
            </a:solidFill>
            <a:prstDash val="solid"/>
          </a:ln>
        </p:spPr>
      </p:sp>
      <p:sp>
        <p:nvSpPr>
          <p:cNvPr id="15" name="Text 13"/>
          <p:cNvSpPr/>
          <p:nvPr/>
        </p:nvSpPr>
        <p:spPr>
          <a:xfrm>
            <a:off x="2340864" y="1847088"/>
            <a:ext cx="128016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img ]</a:t>
            </a:r>
            <a:endParaRPr lang="en-US" sz="1000" dirty="0"/>
          </a:p>
        </p:txBody>
      </p:sp>
      <p:sp>
        <p:nvSpPr>
          <p:cNvPr id="16" name="Text 14"/>
          <p:cNvSpPr/>
          <p:nvPr/>
        </p:nvSpPr>
        <p:spPr>
          <a:xfrm>
            <a:off x="2340864" y="2697480"/>
            <a:ext cx="128016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Mac</a:t>
            </a:r>
            <a:endParaRPr lang="en-US" sz="1300" dirty="0"/>
          </a:p>
        </p:txBody>
      </p:sp>
      <p:sp>
        <p:nvSpPr>
          <p:cNvPr id="17" name="Text 15"/>
          <p:cNvSpPr/>
          <p:nvPr/>
        </p:nvSpPr>
        <p:spPr>
          <a:xfrm>
            <a:off x="2340864" y="3090672"/>
            <a:ext cx="1280160" cy="685800"/>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Computadoras con</a:t>
            </a:r>
            <a:endParaRPr lang="en-US" sz="950" dirty="0"/>
          </a:p>
          <a:p>
            <a:pPr indent="0" marL="0">
              <a:buNone/>
            </a:pPr>
            <a:r>
              <a:rPr lang="en-US" sz="950" dirty="0">
                <a:solidFill>
                  <a:srgbClr val="6E6E73"/>
                </a:solidFill>
                <a:latin typeface="Calibri" pitchFamily="34" charset="0"/>
                <a:ea typeface="Calibri" pitchFamily="34" charset="-122"/>
                <a:cs typeface="Calibri" pitchFamily="34" charset="-120"/>
              </a:rPr>
              <a:t>M-series silicon propio</a:t>
            </a:r>
            <a:endParaRPr lang="en-US" sz="950" dirty="0"/>
          </a:p>
        </p:txBody>
      </p:sp>
      <p:sp>
        <p:nvSpPr>
          <p:cNvPr id="18" name="Shape 16"/>
          <p:cNvSpPr/>
          <p:nvPr/>
        </p:nvSpPr>
        <p:spPr>
          <a:xfrm>
            <a:off x="3858768" y="1280160"/>
            <a:ext cx="1463040" cy="2651760"/>
          </a:xfrm>
          <a:prstGeom prst="rect">
            <a:avLst/>
          </a:prstGeom>
          <a:solidFill>
            <a:srgbClr val="FFFFFF"/>
          </a:solidFill>
          <a:ln w="9525">
            <a:solidFill>
              <a:srgbClr val="D1D1D6"/>
            </a:solidFill>
            <a:prstDash val="solid"/>
          </a:ln>
        </p:spPr>
      </p:sp>
      <p:sp>
        <p:nvSpPr>
          <p:cNvPr id="19" name="Shape 17"/>
          <p:cNvSpPr/>
          <p:nvPr/>
        </p:nvSpPr>
        <p:spPr>
          <a:xfrm>
            <a:off x="3858768" y="1280160"/>
            <a:ext cx="1463040" cy="45720"/>
          </a:xfrm>
          <a:prstGeom prst="rect">
            <a:avLst/>
          </a:prstGeom>
          <a:solidFill>
            <a:srgbClr val="147CE5"/>
          </a:solidFill>
          <a:ln w="12700">
            <a:solidFill>
              <a:srgbClr val="147CE5"/>
            </a:solidFill>
            <a:prstDash val="solid"/>
          </a:ln>
        </p:spPr>
      </p:sp>
      <p:sp>
        <p:nvSpPr>
          <p:cNvPr id="20" name="Shape 18"/>
          <p:cNvSpPr/>
          <p:nvPr/>
        </p:nvSpPr>
        <p:spPr>
          <a:xfrm>
            <a:off x="3950208" y="1417320"/>
            <a:ext cx="1280160" cy="1188720"/>
          </a:xfrm>
          <a:prstGeom prst="rect">
            <a:avLst/>
          </a:prstGeom>
          <a:solidFill>
            <a:srgbClr val="F0F0F2"/>
          </a:solidFill>
          <a:ln w="12700">
            <a:solidFill>
              <a:srgbClr val="AEAEB2"/>
            </a:solidFill>
            <a:prstDash val="solid"/>
          </a:ln>
        </p:spPr>
      </p:sp>
      <p:sp>
        <p:nvSpPr>
          <p:cNvPr id="21" name="Shape 19"/>
          <p:cNvSpPr/>
          <p:nvPr/>
        </p:nvSpPr>
        <p:spPr>
          <a:xfrm>
            <a:off x="3950208" y="1417320"/>
            <a:ext cx="1280160" cy="0"/>
          </a:xfrm>
          <a:prstGeom prst="line">
            <a:avLst/>
          </a:prstGeom>
          <a:noFill/>
          <a:ln w="6350">
            <a:solidFill>
              <a:srgbClr val="D1D1D6"/>
            </a:solidFill>
            <a:prstDash val="solid"/>
          </a:ln>
        </p:spPr>
      </p:sp>
      <p:sp>
        <p:nvSpPr>
          <p:cNvPr id="22" name="Text 20"/>
          <p:cNvSpPr/>
          <p:nvPr/>
        </p:nvSpPr>
        <p:spPr>
          <a:xfrm>
            <a:off x="3950208" y="1847088"/>
            <a:ext cx="128016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img ]</a:t>
            </a:r>
            <a:endParaRPr lang="en-US" sz="1000" dirty="0"/>
          </a:p>
        </p:txBody>
      </p:sp>
      <p:sp>
        <p:nvSpPr>
          <p:cNvPr id="23" name="Text 21"/>
          <p:cNvSpPr/>
          <p:nvPr/>
        </p:nvSpPr>
        <p:spPr>
          <a:xfrm>
            <a:off x="3950208" y="2697480"/>
            <a:ext cx="128016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iPad</a:t>
            </a:r>
            <a:endParaRPr lang="en-US" sz="1300" dirty="0"/>
          </a:p>
        </p:txBody>
      </p:sp>
      <p:sp>
        <p:nvSpPr>
          <p:cNvPr id="24" name="Text 22"/>
          <p:cNvSpPr/>
          <p:nvPr/>
        </p:nvSpPr>
        <p:spPr>
          <a:xfrm>
            <a:off x="3950208" y="3090672"/>
            <a:ext cx="1280160" cy="685800"/>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Tablets para</a:t>
            </a:r>
            <a:endParaRPr lang="en-US" sz="950" dirty="0"/>
          </a:p>
          <a:p>
            <a:pPr indent="0" marL="0">
              <a:buNone/>
            </a:pPr>
            <a:r>
              <a:rPr lang="en-US" sz="950" dirty="0">
                <a:solidFill>
                  <a:srgbClr val="6E6E73"/>
                </a:solidFill>
                <a:latin typeface="Calibri" pitchFamily="34" charset="0"/>
                <a:ea typeface="Calibri" pitchFamily="34" charset="-122"/>
                <a:cs typeface="Calibri" pitchFamily="34" charset="-120"/>
              </a:rPr>
              <a:t>creatividad y productividad</a:t>
            </a:r>
            <a:endParaRPr lang="en-US" sz="950" dirty="0"/>
          </a:p>
        </p:txBody>
      </p:sp>
      <p:sp>
        <p:nvSpPr>
          <p:cNvPr id="25" name="Shape 23"/>
          <p:cNvSpPr/>
          <p:nvPr/>
        </p:nvSpPr>
        <p:spPr>
          <a:xfrm>
            <a:off x="5468112" y="1280160"/>
            <a:ext cx="1463040" cy="2651760"/>
          </a:xfrm>
          <a:prstGeom prst="rect">
            <a:avLst/>
          </a:prstGeom>
          <a:solidFill>
            <a:srgbClr val="FFFFFF"/>
          </a:solidFill>
          <a:ln w="9525">
            <a:solidFill>
              <a:srgbClr val="D1D1D6"/>
            </a:solidFill>
            <a:prstDash val="solid"/>
          </a:ln>
        </p:spPr>
      </p:sp>
      <p:sp>
        <p:nvSpPr>
          <p:cNvPr id="26" name="Shape 24"/>
          <p:cNvSpPr/>
          <p:nvPr/>
        </p:nvSpPr>
        <p:spPr>
          <a:xfrm>
            <a:off x="5468112" y="1280160"/>
            <a:ext cx="1463040" cy="45720"/>
          </a:xfrm>
          <a:prstGeom prst="rect">
            <a:avLst/>
          </a:prstGeom>
          <a:solidFill>
            <a:srgbClr val="147CE5"/>
          </a:solidFill>
          <a:ln w="12700">
            <a:solidFill>
              <a:srgbClr val="147CE5"/>
            </a:solidFill>
            <a:prstDash val="solid"/>
          </a:ln>
        </p:spPr>
      </p:sp>
      <p:sp>
        <p:nvSpPr>
          <p:cNvPr id="27" name="Shape 25"/>
          <p:cNvSpPr/>
          <p:nvPr/>
        </p:nvSpPr>
        <p:spPr>
          <a:xfrm>
            <a:off x="5559552" y="1417320"/>
            <a:ext cx="1280160" cy="1188720"/>
          </a:xfrm>
          <a:prstGeom prst="rect">
            <a:avLst/>
          </a:prstGeom>
          <a:solidFill>
            <a:srgbClr val="F0F0F2"/>
          </a:solidFill>
          <a:ln w="12700">
            <a:solidFill>
              <a:srgbClr val="AEAEB2"/>
            </a:solidFill>
            <a:prstDash val="solid"/>
          </a:ln>
        </p:spPr>
      </p:sp>
      <p:sp>
        <p:nvSpPr>
          <p:cNvPr id="28" name="Shape 26"/>
          <p:cNvSpPr/>
          <p:nvPr/>
        </p:nvSpPr>
        <p:spPr>
          <a:xfrm>
            <a:off x="5559552" y="1417320"/>
            <a:ext cx="1280160" cy="0"/>
          </a:xfrm>
          <a:prstGeom prst="line">
            <a:avLst/>
          </a:prstGeom>
          <a:noFill/>
          <a:ln w="6350">
            <a:solidFill>
              <a:srgbClr val="D1D1D6"/>
            </a:solidFill>
            <a:prstDash val="solid"/>
          </a:ln>
        </p:spPr>
      </p:sp>
      <p:sp>
        <p:nvSpPr>
          <p:cNvPr id="29" name="Text 27"/>
          <p:cNvSpPr/>
          <p:nvPr/>
        </p:nvSpPr>
        <p:spPr>
          <a:xfrm>
            <a:off x="5559552" y="1847088"/>
            <a:ext cx="128016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img ]</a:t>
            </a:r>
            <a:endParaRPr lang="en-US" sz="1000" dirty="0"/>
          </a:p>
        </p:txBody>
      </p:sp>
      <p:sp>
        <p:nvSpPr>
          <p:cNvPr id="30" name="Text 28"/>
          <p:cNvSpPr/>
          <p:nvPr/>
        </p:nvSpPr>
        <p:spPr>
          <a:xfrm>
            <a:off x="5559552" y="2697480"/>
            <a:ext cx="128016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Wearables</a:t>
            </a:r>
            <a:endParaRPr lang="en-US" sz="1300" dirty="0"/>
          </a:p>
        </p:txBody>
      </p:sp>
      <p:sp>
        <p:nvSpPr>
          <p:cNvPr id="31" name="Text 29"/>
          <p:cNvSpPr/>
          <p:nvPr/>
        </p:nvSpPr>
        <p:spPr>
          <a:xfrm>
            <a:off x="5559552" y="3090672"/>
            <a:ext cx="1280160" cy="685800"/>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Apple Watch, AirPods</a:t>
            </a:r>
            <a:endParaRPr lang="en-US" sz="950" dirty="0"/>
          </a:p>
          <a:p>
            <a:pPr indent="0" marL="0">
              <a:buNone/>
            </a:pPr>
            <a:r>
              <a:rPr lang="en-US" sz="950" dirty="0">
                <a:solidFill>
                  <a:srgbClr val="6E6E73"/>
                </a:solidFill>
                <a:latin typeface="Calibri" pitchFamily="34" charset="0"/>
                <a:ea typeface="Calibri" pitchFamily="34" charset="-122"/>
                <a:cs typeface="Calibri" pitchFamily="34" charset="-120"/>
              </a:rPr>
              <a:t>y accesorios</a:t>
            </a:r>
            <a:endParaRPr lang="en-US" sz="950" dirty="0"/>
          </a:p>
        </p:txBody>
      </p:sp>
      <p:sp>
        <p:nvSpPr>
          <p:cNvPr id="32" name="Shape 30"/>
          <p:cNvSpPr/>
          <p:nvPr/>
        </p:nvSpPr>
        <p:spPr>
          <a:xfrm>
            <a:off x="7077456" y="1280160"/>
            <a:ext cx="1463040" cy="2651760"/>
          </a:xfrm>
          <a:prstGeom prst="rect">
            <a:avLst/>
          </a:prstGeom>
          <a:solidFill>
            <a:srgbClr val="FFFFFF"/>
          </a:solidFill>
          <a:ln w="9525">
            <a:solidFill>
              <a:srgbClr val="D1D1D6"/>
            </a:solidFill>
            <a:prstDash val="solid"/>
          </a:ln>
        </p:spPr>
      </p:sp>
      <p:sp>
        <p:nvSpPr>
          <p:cNvPr id="33" name="Shape 31"/>
          <p:cNvSpPr/>
          <p:nvPr/>
        </p:nvSpPr>
        <p:spPr>
          <a:xfrm>
            <a:off x="7077456" y="1280160"/>
            <a:ext cx="1463040" cy="45720"/>
          </a:xfrm>
          <a:prstGeom prst="rect">
            <a:avLst/>
          </a:prstGeom>
          <a:solidFill>
            <a:srgbClr val="147CE5"/>
          </a:solidFill>
          <a:ln w="12700">
            <a:solidFill>
              <a:srgbClr val="147CE5"/>
            </a:solidFill>
            <a:prstDash val="solid"/>
          </a:ln>
        </p:spPr>
      </p:sp>
      <p:sp>
        <p:nvSpPr>
          <p:cNvPr id="34" name="Shape 32"/>
          <p:cNvSpPr/>
          <p:nvPr/>
        </p:nvSpPr>
        <p:spPr>
          <a:xfrm>
            <a:off x="7168896" y="1417320"/>
            <a:ext cx="1280160" cy="1188720"/>
          </a:xfrm>
          <a:prstGeom prst="rect">
            <a:avLst/>
          </a:prstGeom>
          <a:solidFill>
            <a:srgbClr val="F0F0F2"/>
          </a:solidFill>
          <a:ln w="12700">
            <a:solidFill>
              <a:srgbClr val="AEAEB2"/>
            </a:solidFill>
            <a:prstDash val="solid"/>
          </a:ln>
        </p:spPr>
      </p:sp>
      <p:sp>
        <p:nvSpPr>
          <p:cNvPr id="35" name="Shape 33"/>
          <p:cNvSpPr/>
          <p:nvPr/>
        </p:nvSpPr>
        <p:spPr>
          <a:xfrm>
            <a:off x="7168896" y="1417320"/>
            <a:ext cx="1280160" cy="0"/>
          </a:xfrm>
          <a:prstGeom prst="line">
            <a:avLst/>
          </a:prstGeom>
          <a:noFill/>
          <a:ln w="6350">
            <a:solidFill>
              <a:srgbClr val="D1D1D6"/>
            </a:solidFill>
            <a:prstDash val="solid"/>
          </a:ln>
        </p:spPr>
      </p:sp>
      <p:sp>
        <p:nvSpPr>
          <p:cNvPr id="36" name="Text 34"/>
          <p:cNvSpPr/>
          <p:nvPr/>
        </p:nvSpPr>
        <p:spPr>
          <a:xfrm>
            <a:off x="7168896" y="1847088"/>
            <a:ext cx="128016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img ]</a:t>
            </a:r>
            <a:endParaRPr lang="en-US" sz="1000" dirty="0"/>
          </a:p>
        </p:txBody>
      </p:sp>
      <p:sp>
        <p:nvSpPr>
          <p:cNvPr id="37" name="Text 35"/>
          <p:cNvSpPr/>
          <p:nvPr/>
        </p:nvSpPr>
        <p:spPr>
          <a:xfrm>
            <a:off x="7168896" y="2697480"/>
            <a:ext cx="128016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Services</a:t>
            </a:r>
            <a:endParaRPr lang="en-US" sz="1300" dirty="0"/>
          </a:p>
        </p:txBody>
      </p:sp>
      <p:sp>
        <p:nvSpPr>
          <p:cNvPr id="38" name="Text 36"/>
          <p:cNvSpPr/>
          <p:nvPr/>
        </p:nvSpPr>
        <p:spPr>
          <a:xfrm>
            <a:off x="7168896" y="3090672"/>
            <a:ext cx="1280160" cy="685800"/>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App Store, iCloud,</a:t>
            </a:r>
            <a:endParaRPr lang="en-US" sz="950" dirty="0"/>
          </a:p>
          <a:p>
            <a:pPr indent="0" marL="0">
              <a:buNone/>
            </a:pPr>
            <a:r>
              <a:rPr lang="en-US" sz="950" dirty="0">
                <a:solidFill>
                  <a:srgbClr val="6E6E73"/>
                </a:solidFill>
                <a:latin typeface="Calibri" pitchFamily="34" charset="0"/>
                <a:ea typeface="Calibri" pitchFamily="34" charset="-122"/>
                <a:cs typeface="Calibri" pitchFamily="34" charset="-120"/>
              </a:rPr>
              <a:t>Apple Music, TV+, Arcade</a:t>
            </a:r>
            <a:endParaRPr lang="en-US" sz="950" dirty="0"/>
          </a:p>
        </p:txBody>
      </p:sp>
      <p:sp>
        <p:nvSpPr>
          <p:cNvPr id="39" name="Text 37"/>
          <p:cNvSpPr/>
          <p:nvPr/>
        </p:nvSpPr>
        <p:spPr>
          <a:xfrm>
            <a:off x="640080" y="4846320"/>
            <a:ext cx="7863840" cy="256032"/>
          </a:xfrm>
          <a:prstGeom prst="rect">
            <a:avLst/>
          </a:prstGeom>
          <a:noFill/>
          <a:ln/>
        </p:spPr>
        <p:txBody>
          <a:bodyPr wrap="square" lIns="0" tIns="0" rIns="0" bIns="0" rtlCol="0" anchor="ctr"/>
          <a:lstStyle/>
          <a:p>
            <a:pPr indent="0" marL="0">
              <a:buNone/>
            </a:pPr>
            <a:r>
              <a:rPr lang="en-US" sz="900" dirty="0">
                <a:solidFill>
                  <a:srgbClr val="AEAEB2"/>
                </a:solidFill>
                <a:latin typeface="Calibri" pitchFamily="34" charset="0"/>
                <a:ea typeface="Calibri" pitchFamily="34" charset="-122"/>
                <a:cs typeface="Calibri" pitchFamily="34" charset="-120"/>
              </a:rPr>
              <a:t>Fuente: Apple Inc. Annual Report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Ventas Netas por Categoria — FY 2025</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4" name="Chart 0" descr=""/>
          <p:cNvGraphicFramePr/>
          <p:nvPr/>
        </p:nvGraphicFramePr>
        <p:xfrm>
          <a:off x="640080" y="123444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325880"/>
            <a:ext cx="2743200" cy="777240"/>
          </a:xfrm>
          <a:prstGeom prst="rect">
            <a:avLst/>
          </a:prstGeom>
          <a:solidFill>
            <a:srgbClr val="F5F5F7"/>
          </a:solidFill>
          <a:ln w="9525">
            <a:solidFill>
              <a:srgbClr val="D1D1D6"/>
            </a:solidFill>
            <a:prstDash val="solid"/>
          </a:ln>
        </p:spPr>
      </p:sp>
      <p:sp>
        <p:nvSpPr>
          <p:cNvPr id="6" name="Text 3"/>
          <p:cNvSpPr/>
          <p:nvPr/>
        </p:nvSpPr>
        <p:spPr>
          <a:xfrm>
            <a:off x="6217920" y="1380744"/>
            <a:ext cx="2377440" cy="274320"/>
          </a:xfrm>
          <a:prstGeom prst="rect">
            <a:avLst/>
          </a:prstGeom>
          <a:noFill/>
          <a:ln/>
        </p:spPr>
        <p:txBody>
          <a:bodyPr wrap="square" lIns="0" tIns="0" rIns="0" bIns="0" rtlCol="0" anchor="ctr"/>
          <a:lstStyle/>
          <a:p>
            <a:pPr indent="0" marL="0">
              <a:buNone/>
            </a:pPr>
            <a:r>
              <a:rPr lang="en-US" sz="850" spc="100" kern="0" dirty="0">
                <a:solidFill>
                  <a:srgbClr val="6E6E73"/>
                </a:solidFill>
                <a:latin typeface="Calibri" pitchFamily="34" charset="0"/>
                <a:ea typeface="Calibri" pitchFamily="34" charset="-122"/>
                <a:cs typeface="Calibri" pitchFamily="34" charset="-120"/>
              </a:rPr>
              <a:t>TOTAL FY 2025</a:t>
            </a:r>
            <a:endParaRPr lang="en-US" sz="850" dirty="0"/>
          </a:p>
        </p:txBody>
      </p:sp>
      <p:sp>
        <p:nvSpPr>
          <p:cNvPr id="7" name="Text 4"/>
          <p:cNvSpPr/>
          <p:nvPr/>
        </p:nvSpPr>
        <p:spPr>
          <a:xfrm>
            <a:off x="6217920" y="1673352"/>
            <a:ext cx="2377440" cy="347472"/>
          </a:xfrm>
          <a:prstGeom prst="rect">
            <a:avLst/>
          </a:prstGeom>
          <a:noFill/>
          <a:ln/>
        </p:spPr>
        <p:txBody>
          <a:bodyPr wrap="square" lIns="0" tIns="0" rIns="0" bIns="0" rtlCol="0" anchor="ctr"/>
          <a:lstStyle/>
          <a:p>
            <a:pPr indent="0" marL="0">
              <a:buNone/>
            </a:pPr>
            <a:r>
              <a:rPr lang="en-US" sz="1600" dirty="0">
                <a:solidFill>
                  <a:srgbClr val="1D1D1F"/>
                </a:solidFill>
                <a:latin typeface="Georgia" pitchFamily="34" charset="0"/>
                <a:ea typeface="Georgia" pitchFamily="34" charset="-122"/>
                <a:cs typeface="Georgia" pitchFamily="34" charset="-120"/>
              </a:rPr>
              <a:t>$416.2 B</a:t>
            </a:r>
            <a:endParaRPr lang="en-US" sz="1600" dirty="0"/>
          </a:p>
        </p:txBody>
      </p:sp>
      <p:sp>
        <p:nvSpPr>
          <p:cNvPr id="8" name="Shape 5"/>
          <p:cNvSpPr/>
          <p:nvPr/>
        </p:nvSpPr>
        <p:spPr>
          <a:xfrm>
            <a:off x="6035040" y="2276856"/>
            <a:ext cx="2743200" cy="777240"/>
          </a:xfrm>
          <a:prstGeom prst="rect">
            <a:avLst/>
          </a:prstGeom>
          <a:solidFill>
            <a:srgbClr val="F5F5F7"/>
          </a:solidFill>
          <a:ln w="9525">
            <a:solidFill>
              <a:srgbClr val="D1D1D6"/>
            </a:solidFill>
            <a:prstDash val="solid"/>
          </a:ln>
        </p:spPr>
      </p:sp>
      <p:sp>
        <p:nvSpPr>
          <p:cNvPr id="9" name="Text 6"/>
          <p:cNvSpPr/>
          <p:nvPr/>
        </p:nvSpPr>
        <p:spPr>
          <a:xfrm>
            <a:off x="6217920" y="2331720"/>
            <a:ext cx="2377440" cy="274320"/>
          </a:xfrm>
          <a:prstGeom prst="rect">
            <a:avLst/>
          </a:prstGeom>
          <a:noFill/>
          <a:ln/>
        </p:spPr>
        <p:txBody>
          <a:bodyPr wrap="square" lIns="0" tIns="0" rIns="0" bIns="0" rtlCol="0" anchor="ctr"/>
          <a:lstStyle/>
          <a:p>
            <a:pPr indent="0" marL="0">
              <a:buNone/>
            </a:pPr>
            <a:r>
              <a:rPr lang="en-US" sz="850" spc="100" kern="0" dirty="0">
                <a:solidFill>
                  <a:srgbClr val="6E6E73"/>
                </a:solidFill>
                <a:latin typeface="Calibri" pitchFamily="34" charset="0"/>
                <a:ea typeface="Calibri" pitchFamily="34" charset="-122"/>
                <a:cs typeface="Calibri" pitchFamily="34" charset="-120"/>
              </a:rPr>
              <a:t>CRECIMIENTO</a:t>
            </a:r>
            <a:endParaRPr lang="en-US" sz="850" dirty="0"/>
          </a:p>
        </p:txBody>
      </p:sp>
      <p:sp>
        <p:nvSpPr>
          <p:cNvPr id="10" name="Text 7"/>
          <p:cNvSpPr/>
          <p:nvPr/>
        </p:nvSpPr>
        <p:spPr>
          <a:xfrm>
            <a:off x="6217920" y="2624328"/>
            <a:ext cx="2377440" cy="347472"/>
          </a:xfrm>
          <a:prstGeom prst="rect">
            <a:avLst/>
          </a:prstGeom>
          <a:noFill/>
          <a:ln/>
        </p:spPr>
        <p:txBody>
          <a:bodyPr wrap="square" lIns="0" tIns="0" rIns="0" bIns="0" rtlCol="0" anchor="ctr"/>
          <a:lstStyle/>
          <a:p>
            <a:pPr indent="0" marL="0">
              <a:buNone/>
            </a:pPr>
            <a:r>
              <a:rPr lang="en-US" sz="1600" dirty="0">
                <a:solidFill>
                  <a:srgbClr val="1D1D1F"/>
                </a:solidFill>
                <a:latin typeface="Georgia" pitchFamily="34" charset="0"/>
                <a:ea typeface="Georgia" pitchFamily="34" charset="-122"/>
                <a:cs typeface="Georgia" pitchFamily="34" charset="-120"/>
              </a:rPr>
              <a:t>+6% vs 2024</a:t>
            </a:r>
            <a:endParaRPr lang="en-US" sz="1600" dirty="0"/>
          </a:p>
        </p:txBody>
      </p:sp>
      <p:sp>
        <p:nvSpPr>
          <p:cNvPr id="11" name="Shape 8"/>
          <p:cNvSpPr/>
          <p:nvPr/>
        </p:nvSpPr>
        <p:spPr>
          <a:xfrm>
            <a:off x="6035040" y="3227832"/>
            <a:ext cx="2743200" cy="777240"/>
          </a:xfrm>
          <a:prstGeom prst="rect">
            <a:avLst/>
          </a:prstGeom>
          <a:solidFill>
            <a:srgbClr val="F5F5F7"/>
          </a:solidFill>
          <a:ln w="9525">
            <a:solidFill>
              <a:srgbClr val="D1D1D6"/>
            </a:solidFill>
            <a:prstDash val="solid"/>
          </a:ln>
        </p:spPr>
      </p:sp>
      <p:sp>
        <p:nvSpPr>
          <p:cNvPr id="12" name="Text 9"/>
          <p:cNvSpPr/>
          <p:nvPr/>
        </p:nvSpPr>
        <p:spPr>
          <a:xfrm>
            <a:off x="6217920" y="3282696"/>
            <a:ext cx="2377440" cy="274320"/>
          </a:xfrm>
          <a:prstGeom prst="rect">
            <a:avLst/>
          </a:prstGeom>
          <a:noFill/>
          <a:ln/>
        </p:spPr>
        <p:txBody>
          <a:bodyPr wrap="square" lIns="0" tIns="0" rIns="0" bIns="0" rtlCol="0" anchor="ctr"/>
          <a:lstStyle/>
          <a:p>
            <a:pPr indent="0" marL="0">
              <a:buNone/>
            </a:pPr>
            <a:r>
              <a:rPr lang="en-US" sz="850" spc="100" kern="0" dirty="0">
                <a:solidFill>
                  <a:srgbClr val="6E6E73"/>
                </a:solidFill>
                <a:latin typeface="Calibri" pitchFamily="34" charset="0"/>
                <a:ea typeface="Calibri" pitchFamily="34" charset="-122"/>
                <a:cs typeface="Calibri" pitchFamily="34" charset="-120"/>
              </a:rPr>
              <a:t>LIDER</a:t>
            </a:r>
            <a:endParaRPr lang="en-US" sz="850" dirty="0"/>
          </a:p>
        </p:txBody>
      </p:sp>
      <p:sp>
        <p:nvSpPr>
          <p:cNvPr id="13" name="Text 10"/>
          <p:cNvSpPr/>
          <p:nvPr/>
        </p:nvSpPr>
        <p:spPr>
          <a:xfrm>
            <a:off x="6217920" y="3575304"/>
            <a:ext cx="2377440" cy="347472"/>
          </a:xfrm>
          <a:prstGeom prst="rect">
            <a:avLst/>
          </a:prstGeom>
          <a:noFill/>
          <a:ln/>
        </p:spPr>
        <p:txBody>
          <a:bodyPr wrap="square" lIns="0" tIns="0" rIns="0" bIns="0" rtlCol="0" anchor="ctr"/>
          <a:lstStyle/>
          <a:p>
            <a:pPr indent="0" marL="0">
              <a:buNone/>
            </a:pPr>
            <a:r>
              <a:rPr lang="en-US" sz="1600" dirty="0">
                <a:solidFill>
                  <a:srgbClr val="1D1D1F"/>
                </a:solidFill>
                <a:latin typeface="Georgia" pitchFamily="34" charset="0"/>
                <a:ea typeface="Georgia" pitchFamily="34" charset="-122"/>
                <a:cs typeface="Georgia" pitchFamily="34" charset="-120"/>
              </a:rPr>
              <a:t>iPhone — 50.4%</a:t>
            </a:r>
            <a:endParaRPr lang="en-US" sz="1600" dirty="0"/>
          </a:p>
        </p:txBody>
      </p:sp>
      <p:sp>
        <p:nvSpPr>
          <p:cNvPr id="14" name="Shape 11"/>
          <p:cNvSpPr/>
          <p:nvPr/>
        </p:nvSpPr>
        <p:spPr>
          <a:xfrm>
            <a:off x="6035040" y="4178808"/>
            <a:ext cx="2743200" cy="777240"/>
          </a:xfrm>
          <a:prstGeom prst="rect">
            <a:avLst/>
          </a:prstGeom>
          <a:solidFill>
            <a:srgbClr val="F5F5F7"/>
          </a:solidFill>
          <a:ln w="9525">
            <a:solidFill>
              <a:srgbClr val="D1D1D6"/>
            </a:solidFill>
            <a:prstDash val="solid"/>
          </a:ln>
        </p:spPr>
      </p:sp>
      <p:sp>
        <p:nvSpPr>
          <p:cNvPr id="15" name="Text 12"/>
          <p:cNvSpPr/>
          <p:nvPr/>
        </p:nvSpPr>
        <p:spPr>
          <a:xfrm>
            <a:off x="6217920" y="4233672"/>
            <a:ext cx="2377440" cy="274320"/>
          </a:xfrm>
          <a:prstGeom prst="rect">
            <a:avLst/>
          </a:prstGeom>
          <a:noFill/>
          <a:ln/>
        </p:spPr>
        <p:txBody>
          <a:bodyPr wrap="square" lIns="0" tIns="0" rIns="0" bIns="0" rtlCol="0" anchor="ctr"/>
          <a:lstStyle/>
          <a:p>
            <a:pPr indent="0" marL="0">
              <a:buNone/>
            </a:pPr>
            <a:r>
              <a:rPr lang="en-US" sz="850" spc="100" kern="0" dirty="0">
                <a:solidFill>
                  <a:srgbClr val="6E6E73"/>
                </a:solidFill>
                <a:latin typeface="Calibri" pitchFamily="34" charset="0"/>
                <a:ea typeface="Calibri" pitchFamily="34" charset="-122"/>
                <a:cs typeface="Calibri" pitchFamily="34" charset="-120"/>
              </a:rPr>
              <a:t>MOTOR FUTURO</a:t>
            </a:r>
            <a:endParaRPr lang="en-US" sz="850" dirty="0"/>
          </a:p>
        </p:txBody>
      </p:sp>
      <p:sp>
        <p:nvSpPr>
          <p:cNvPr id="16" name="Text 13"/>
          <p:cNvSpPr/>
          <p:nvPr/>
        </p:nvSpPr>
        <p:spPr>
          <a:xfrm>
            <a:off x="6217920" y="4526280"/>
            <a:ext cx="2377440" cy="347472"/>
          </a:xfrm>
          <a:prstGeom prst="rect">
            <a:avLst/>
          </a:prstGeom>
          <a:noFill/>
          <a:ln/>
        </p:spPr>
        <p:txBody>
          <a:bodyPr wrap="square" lIns="0" tIns="0" rIns="0" bIns="0" rtlCol="0" anchor="ctr"/>
          <a:lstStyle/>
          <a:p>
            <a:pPr indent="0" marL="0">
              <a:buNone/>
            </a:pPr>
            <a:r>
              <a:rPr lang="en-US" sz="1600" dirty="0">
                <a:solidFill>
                  <a:srgbClr val="1D1D1F"/>
                </a:solidFill>
                <a:latin typeface="Georgia" pitchFamily="34" charset="0"/>
                <a:ea typeface="Georgia" pitchFamily="34" charset="-122"/>
                <a:cs typeface="Georgia" pitchFamily="34" charset="-120"/>
              </a:rPr>
              <a:t>Services +14%</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02 — Mision</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y Vision</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Declaraciones originales, version mejorada y comparacion competitiva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Mision y Vision — Actual</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34440"/>
            <a:ext cx="3749040" cy="45720"/>
          </a:xfrm>
          <a:prstGeom prst="rect">
            <a:avLst/>
          </a:prstGeom>
          <a:solidFill>
            <a:srgbClr val="1D1D1F"/>
          </a:solidFill>
          <a:ln w="12700">
            <a:solidFill>
              <a:srgbClr val="1D1D1F"/>
            </a:solidFill>
            <a:prstDash val="solid"/>
          </a:ln>
        </p:spPr>
      </p:sp>
      <p:sp>
        <p:nvSpPr>
          <p:cNvPr id="5" name="Text 3"/>
          <p:cNvSpPr/>
          <p:nvPr/>
        </p:nvSpPr>
        <p:spPr>
          <a:xfrm>
            <a:off x="640080" y="1353312"/>
            <a:ext cx="3749040" cy="365760"/>
          </a:xfrm>
          <a:prstGeom prst="rect">
            <a:avLst/>
          </a:prstGeom>
          <a:noFill/>
          <a:ln/>
        </p:spPr>
        <p:txBody>
          <a:bodyPr wrap="square" lIns="0" tIns="0" rIns="0" bIns="0" rtlCol="0" anchor="ctr"/>
          <a:lstStyle/>
          <a:p>
            <a:pPr indent="0" marL="0">
              <a:buNone/>
            </a:pPr>
            <a:r>
              <a:rPr lang="en-US" sz="1000" b="1" spc="200" kern="0" dirty="0">
                <a:solidFill>
                  <a:srgbClr val="6E6E73"/>
                </a:solidFill>
                <a:latin typeface="Calibri" pitchFamily="34" charset="0"/>
                <a:ea typeface="Calibri" pitchFamily="34" charset="-122"/>
                <a:cs typeface="Calibri" pitchFamily="34" charset="-120"/>
              </a:rPr>
              <a:t>MISION</a:t>
            </a:r>
            <a:endParaRPr lang="en-US" sz="1000" dirty="0"/>
          </a:p>
        </p:txBody>
      </p:sp>
      <p:sp>
        <p:nvSpPr>
          <p:cNvPr id="6" name="Text 4"/>
          <p:cNvSpPr/>
          <p:nvPr/>
        </p:nvSpPr>
        <p:spPr>
          <a:xfrm>
            <a:off x="640080" y="1755648"/>
            <a:ext cx="3749040" cy="2011680"/>
          </a:xfrm>
          <a:prstGeom prst="rect">
            <a:avLst/>
          </a:prstGeom>
          <a:noFill/>
          <a:ln/>
        </p:spPr>
        <p:txBody>
          <a:bodyPr wrap="square" lIns="0" tIns="0" rIns="0" bIns="0" rtlCol="0" anchor="ctr"/>
          <a:lstStyle/>
          <a:p>
            <a:pPr indent="0" marL="0">
              <a:buNone/>
            </a:pPr>
            <a:r>
              <a:rPr lang="en-US" sz="1400" i="1" dirty="0">
                <a:solidFill>
                  <a:srgbClr val="1D1D1F"/>
                </a:solidFill>
                <a:latin typeface="Georgia" pitchFamily="34" charset="0"/>
                <a:ea typeface="Georgia" pitchFamily="34" charset="-122"/>
                <a:cs typeface="Georgia" pitchFamily="34" charset="-120"/>
              </a:rPr>
              <a:t>"Apple disena los mejores computadores personales del mundo con Mac, lidera la musica digital con iPod y iTunes, y ha reinventado el telefono movil con iPhone."</a:t>
            </a:r>
            <a:endParaRPr lang="en-US" sz="1400" dirty="0"/>
          </a:p>
        </p:txBody>
      </p:sp>
      <p:sp>
        <p:nvSpPr>
          <p:cNvPr id="7" name="Shape 5"/>
          <p:cNvSpPr/>
          <p:nvPr/>
        </p:nvSpPr>
        <p:spPr>
          <a:xfrm>
            <a:off x="4846320" y="1234440"/>
            <a:ext cx="3749040" cy="45720"/>
          </a:xfrm>
          <a:prstGeom prst="rect">
            <a:avLst/>
          </a:prstGeom>
          <a:solidFill>
            <a:srgbClr val="147CE5"/>
          </a:solidFill>
          <a:ln w="12700">
            <a:solidFill>
              <a:srgbClr val="147CE5"/>
            </a:solidFill>
            <a:prstDash val="solid"/>
          </a:ln>
        </p:spPr>
      </p:sp>
      <p:sp>
        <p:nvSpPr>
          <p:cNvPr id="8" name="Text 6"/>
          <p:cNvSpPr/>
          <p:nvPr/>
        </p:nvSpPr>
        <p:spPr>
          <a:xfrm>
            <a:off x="4846320" y="1353312"/>
            <a:ext cx="3749040" cy="365760"/>
          </a:xfrm>
          <a:prstGeom prst="rect">
            <a:avLst/>
          </a:prstGeom>
          <a:noFill/>
          <a:ln/>
        </p:spPr>
        <p:txBody>
          <a:bodyPr wrap="square" lIns="0" tIns="0" rIns="0" bIns="0" rtlCol="0" anchor="ctr"/>
          <a:lstStyle/>
          <a:p>
            <a:pPr indent="0" marL="0">
              <a:buNone/>
            </a:pPr>
            <a:r>
              <a:rPr lang="en-US" sz="1000" b="1" spc="200" kern="0" dirty="0">
                <a:solidFill>
                  <a:srgbClr val="6E6E73"/>
                </a:solidFill>
                <a:latin typeface="Calibri" pitchFamily="34" charset="0"/>
                <a:ea typeface="Calibri" pitchFamily="34" charset="-122"/>
                <a:cs typeface="Calibri" pitchFamily="34" charset="-120"/>
              </a:rPr>
              <a:t>VISION</a:t>
            </a:r>
            <a:endParaRPr lang="en-US" sz="1000" dirty="0"/>
          </a:p>
        </p:txBody>
      </p:sp>
      <p:sp>
        <p:nvSpPr>
          <p:cNvPr id="9" name="Text 7"/>
          <p:cNvSpPr/>
          <p:nvPr/>
        </p:nvSpPr>
        <p:spPr>
          <a:xfrm>
            <a:off x="4846320" y="1755648"/>
            <a:ext cx="3749040" cy="2011680"/>
          </a:xfrm>
          <a:prstGeom prst="rect">
            <a:avLst/>
          </a:prstGeom>
          <a:noFill/>
          <a:ln/>
        </p:spPr>
        <p:txBody>
          <a:bodyPr wrap="square" lIns="0" tIns="0" rIns="0" bIns="0" rtlCol="0" anchor="ctr"/>
          <a:lstStyle/>
          <a:p>
            <a:pPr indent="0" marL="0">
              <a:buNone/>
            </a:pPr>
            <a:r>
              <a:rPr lang="en-US" sz="1400" i="1" dirty="0">
                <a:solidFill>
                  <a:srgbClr val="1D1D1F"/>
                </a:solidFill>
                <a:latin typeface="Georgia" pitchFamily="34" charset="0"/>
                <a:ea typeface="Georgia" pitchFamily="34" charset="-122"/>
                <a:cs typeface="Georgia" pitchFamily="34" charset="-120"/>
              </a:rPr>
              <a:t>"Crear los mejores productos del mundo y dejar el mundo mejor de como lo encontramos."</a:t>
            </a:r>
            <a:endParaRPr lang="en-US" sz="1400" dirty="0"/>
          </a:p>
        </p:txBody>
      </p:sp>
      <p:sp>
        <p:nvSpPr>
          <p:cNvPr id="10" name="Text 8"/>
          <p:cNvSpPr/>
          <p:nvPr/>
        </p:nvSpPr>
        <p:spPr>
          <a:xfrm>
            <a:off x="640080" y="4297680"/>
            <a:ext cx="7863840" cy="594360"/>
          </a:xfrm>
          <a:prstGeom prst="rect">
            <a:avLst/>
          </a:prstGeom>
          <a:noFill/>
          <a:ln/>
        </p:spPr>
        <p:txBody>
          <a:bodyPr wrap="square" lIns="0" tIns="0" rIns="0" bIns="0" rtlCol="0" anchor="ctr"/>
          <a:lstStyle/>
          <a:p>
            <a:pPr indent="0" marL="0">
              <a:buNone/>
            </a:pPr>
            <a:r>
              <a:rPr lang="en-US" sz="1000" i="1" dirty="0">
                <a:solidFill>
                  <a:srgbClr val="AEAEB2"/>
                </a:solidFill>
                <a:latin typeface="Calibri" pitchFamily="34" charset="0"/>
                <a:ea typeface="Calibri" pitchFamily="34" charset="-122"/>
                <a:cs typeface="Calibri" pitchFamily="34" charset="-120"/>
              </a:rPr>
              <a:t>Nota: Apple nunca publico una declaracion de mision formal. Las versiones disponibles corresponden a declaraciones de Tim Cook y documentos internos.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Version Mejorada</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80160"/>
            <a:ext cx="3749040" cy="3474720"/>
          </a:xfrm>
          <a:prstGeom prst="rect">
            <a:avLst/>
          </a:prstGeom>
          <a:solidFill>
            <a:srgbClr val="FFFFFF"/>
          </a:solidFill>
          <a:ln w="9525">
            <a:solidFill>
              <a:srgbClr val="D1D1D6"/>
            </a:solidFill>
            <a:prstDash val="solid"/>
          </a:ln>
        </p:spPr>
      </p:sp>
      <p:sp>
        <p:nvSpPr>
          <p:cNvPr id="5" name="Shape 3"/>
          <p:cNvSpPr/>
          <p:nvPr/>
        </p:nvSpPr>
        <p:spPr>
          <a:xfrm>
            <a:off x="640080" y="1280160"/>
            <a:ext cx="3749040" cy="45720"/>
          </a:xfrm>
          <a:prstGeom prst="rect">
            <a:avLst/>
          </a:prstGeom>
          <a:solidFill>
            <a:srgbClr val="1D1D1F"/>
          </a:solidFill>
          <a:ln w="12700">
            <a:solidFill>
              <a:srgbClr val="1D1D1F"/>
            </a:solidFill>
            <a:prstDash val="solid"/>
          </a:ln>
        </p:spPr>
      </p:sp>
      <p:sp>
        <p:nvSpPr>
          <p:cNvPr id="6" name="Text 4"/>
          <p:cNvSpPr/>
          <p:nvPr/>
        </p:nvSpPr>
        <p:spPr>
          <a:xfrm>
            <a:off x="822960" y="1417320"/>
            <a:ext cx="3383280" cy="365760"/>
          </a:xfrm>
          <a:prstGeom prst="rect">
            <a:avLst/>
          </a:prstGeom>
          <a:noFill/>
          <a:ln/>
        </p:spPr>
        <p:txBody>
          <a:bodyPr wrap="square" lIns="0" tIns="0" rIns="0" bIns="0" rtlCol="0" anchor="ctr"/>
          <a:lstStyle/>
          <a:p>
            <a:pPr indent="0" marL="0">
              <a:buNone/>
            </a:pPr>
            <a:r>
              <a:rPr lang="en-US" sz="1000" b="1" spc="200" kern="0" dirty="0">
                <a:solidFill>
                  <a:srgbClr val="6E6E73"/>
                </a:solidFill>
                <a:latin typeface="Calibri" pitchFamily="34" charset="0"/>
                <a:ea typeface="Calibri" pitchFamily="34" charset="-122"/>
                <a:cs typeface="Calibri" pitchFamily="34" charset="-120"/>
              </a:rPr>
              <a:t>MISION</a:t>
            </a:r>
            <a:endParaRPr lang="en-US" sz="1000" dirty="0"/>
          </a:p>
        </p:txBody>
      </p:sp>
      <p:sp>
        <p:nvSpPr>
          <p:cNvPr id="7" name="Text 5"/>
          <p:cNvSpPr/>
          <p:nvPr/>
        </p:nvSpPr>
        <p:spPr>
          <a:xfrm>
            <a:off x="822960" y="1874520"/>
            <a:ext cx="3383280" cy="2560320"/>
          </a:xfrm>
          <a:prstGeom prst="rect">
            <a:avLst/>
          </a:prstGeom>
          <a:noFill/>
          <a:ln/>
        </p:spPr>
        <p:txBody>
          <a:bodyPr wrap="square" lIns="0" tIns="0" rIns="0" bIns="0" rtlCol="0" anchor="t"/>
          <a:lstStyle/>
          <a:p>
            <a:pPr indent="0" marL="0">
              <a:buNone/>
            </a:pPr>
            <a:r>
              <a:rPr lang="en-US" sz="1250" dirty="0">
                <a:solidFill>
                  <a:srgbClr val="1D1D1F"/>
                </a:solidFill>
                <a:latin typeface="Calibri" pitchFamily="34" charset="0"/>
                <a:ea typeface="Calibri" pitchFamily="34" charset="-122"/>
                <a:cs typeface="Calibri" pitchFamily="34" charset="-120"/>
              </a:rPr>
              <a:t>Disenar experiencias tecnologicas integradas que combinen hardware, software, silicon y servicios para potenciar la creatividad, la productividad y el bienestar de personas en todo el mundo, generando valor sostenible para clientes, accionistas, empleados y comunidades.</a:t>
            </a:r>
            <a:endParaRPr lang="en-US" sz="1250" dirty="0"/>
          </a:p>
        </p:txBody>
      </p:sp>
      <p:sp>
        <p:nvSpPr>
          <p:cNvPr id="8" name="Shape 6"/>
          <p:cNvSpPr/>
          <p:nvPr/>
        </p:nvSpPr>
        <p:spPr>
          <a:xfrm>
            <a:off x="4846320" y="1280160"/>
            <a:ext cx="3749040" cy="3474720"/>
          </a:xfrm>
          <a:prstGeom prst="rect">
            <a:avLst/>
          </a:prstGeom>
          <a:solidFill>
            <a:srgbClr val="FFFFFF"/>
          </a:solidFill>
          <a:ln w="9525">
            <a:solidFill>
              <a:srgbClr val="D1D1D6"/>
            </a:solidFill>
            <a:prstDash val="solid"/>
          </a:ln>
        </p:spPr>
      </p:sp>
      <p:sp>
        <p:nvSpPr>
          <p:cNvPr id="9" name="Shape 7"/>
          <p:cNvSpPr/>
          <p:nvPr/>
        </p:nvSpPr>
        <p:spPr>
          <a:xfrm>
            <a:off x="4846320" y="1280160"/>
            <a:ext cx="3749040" cy="45720"/>
          </a:xfrm>
          <a:prstGeom prst="rect">
            <a:avLst/>
          </a:prstGeom>
          <a:solidFill>
            <a:srgbClr val="147CE5"/>
          </a:solidFill>
          <a:ln w="12700">
            <a:solidFill>
              <a:srgbClr val="147CE5"/>
            </a:solidFill>
            <a:prstDash val="solid"/>
          </a:ln>
        </p:spPr>
      </p:sp>
      <p:sp>
        <p:nvSpPr>
          <p:cNvPr id="10" name="Text 8"/>
          <p:cNvSpPr/>
          <p:nvPr/>
        </p:nvSpPr>
        <p:spPr>
          <a:xfrm>
            <a:off x="5029200" y="1417320"/>
            <a:ext cx="3383280" cy="365760"/>
          </a:xfrm>
          <a:prstGeom prst="rect">
            <a:avLst/>
          </a:prstGeom>
          <a:noFill/>
          <a:ln/>
        </p:spPr>
        <p:txBody>
          <a:bodyPr wrap="square" lIns="0" tIns="0" rIns="0" bIns="0" rtlCol="0" anchor="ctr"/>
          <a:lstStyle/>
          <a:p>
            <a:pPr indent="0" marL="0">
              <a:buNone/>
            </a:pPr>
            <a:r>
              <a:rPr lang="en-US" sz="1000" b="1" spc="200" kern="0" dirty="0">
                <a:solidFill>
                  <a:srgbClr val="6E6E73"/>
                </a:solidFill>
                <a:latin typeface="Calibri" pitchFamily="34" charset="0"/>
                <a:ea typeface="Calibri" pitchFamily="34" charset="-122"/>
                <a:cs typeface="Calibri" pitchFamily="34" charset="-120"/>
              </a:rPr>
              <a:t>VISION</a:t>
            </a:r>
            <a:endParaRPr lang="en-US" sz="1000" dirty="0"/>
          </a:p>
        </p:txBody>
      </p:sp>
      <p:sp>
        <p:nvSpPr>
          <p:cNvPr id="11" name="Text 9"/>
          <p:cNvSpPr/>
          <p:nvPr/>
        </p:nvSpPr>
        <p:spPr>
          <a:xfrm>
            <a:off x="5029200" y="1874520"/>
            <a:ext cx="3383280" cy="2560320"/>
          </a:xfrm>
          <a:prstGeom prst="rect">
            <a:avLst/>
          </a:prstGeom>
          <a:noFill/>
          <a:ln/>
        </p:spPr>
        <p:txBody>
          <a:bodyPr wrap="square" lIns="0" tIns="0" rIns="0" bIns="0" rtlCol="0" anchor="t"/>
          <a:lstStyle/>
          <a:p>
            <a:pPr indent="0" marL="0">
              <a:buNone/>
            </a:pPr>
            <a:r>
              <a:rPr lang="en-US" sz="1250" dirty="0">
                <a:solidFill>
                  <a:srgbClr val="1D1D1F"/>
                </a:solidFill>
                <a:latin typeface="Calibri" pitchFamily="34" charset="0"/>
                <a:ea typeface="Calibri" pitchFamily="34" charset="-122"/>
                <a:cs typeface="Calibri" pitchFamily="34" charset="-120"/>
              </a:rPr>
              <a:t>Ser la empresa que define el futuro de la tecnologia personal y ambientalmente responsable, construyendo el ecosistema mas confiable, inteligente y valioso del mundo, donde la innovacion mejora genuinamente la vida de las personas.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Comparacion — Apple vs Samsung</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7863840" cy="914400"/>
        </p:xfrm>
        <a:graphic>
          <a:graphicData uri="http://schemas.openxmlformats.org/drawingml/2006/table">
            <a:tbl>
              <a:tblPr/>
              <a:tblGrid>
                <a:gridCol w="2103120"/>
                <a:gridCol w="3017520"/>
                <a:gridCol w="2743200"/>
              </a:tblGrid>
              <a:tr h="0">
                <a:tc>
                  <a:txBody>
                    <a:bodyPr/>
                    <a:lstStyle/>
                    <a:p>
                      <a:pPr algn="l" indent="0" marL="0">
                        <a:buNone/>
                      </a:pPr>
                      <a:r>
                        <a:rPr lang="en-US" sz="1100" b="1" dirty="0">
                          <a:solidFill>
                            <a:srgbClr val="FFFFFF"/>
                          </a:solidFill>
                        </a:rPr>
                        <a:t>Elemento</a:t>
                      </a:r>
                      <a:endParaRPr lang="en-US" sz="110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rPr>
                        <a:t>Apple</a:t>
                      </a:r>
                      <a:endParaRPr lang="en-US" sz="110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rPr>
                        <a:t>Samsung</a:t>
                      </a:r>
                      <a:endParaRPr lang="en-US" sz="110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50" b="1" dirty="0">
                          <a:solidFill>
                            <a:srgbClr val="1D1D1F"/>
                          </a:solidFill>
                        </a:rPr>
                        <a:t>Nucleo estrategico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l" indent="0" marL="0">
                        <a:buNone/>
                      </a:pPr>
                      <a:r>
                        <a:rPr lang="en-US" sz="1050" dirty="0">
                          <a:solidFill>
                            <a:srgbClr val="424245"/>
                          </a:solidFill>
                        </a:rPr>
                        <a:t>Integracion vertical completa: hardware, software, silicon, retail y servicios</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24245"/>
                          </a:solidFill>
                        </a:rPr>
                        <a:t>Escala industrial extrema: semiconductores, electrodomesticos, pantallas y smartphones</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1D1F"/>
                          </a:solidFill>
                        </a:rPr>
                        <a:t>Tono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l" indent="0" marL="0">
                        <a:buNone/>
                      </a:pPr>
                      <a:r>
                        <a:rPr lang="en-US" sz="1050" dirty="0">
                          <a:solidFill>
                            <a:srgbClr val="424245"/>
                          </a:solidFill>
                        </a:rPr>
                        <a:t>Preciso, premium, centrado en la experiencia del usuario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24245"/>
                          </a:solidFill>
                        </a:rPr>
                        <a:t>Amplio, institucional, orientado a impacto global y volumen</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1D1F"/>
                          </a:solidFill>
                        </a:rPr>
                        <a:t>Define el negocio?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l" indent="0" marL="0">
                        <a:buNone/>
                      </a:pPr>
                      <a:r>
                        <a:rPr lang="en-US" sz="1050" dirty="0">
                          <a:solidFill>
                            <a:srgbClr val="424245"/>
                          </a:solidFill>
                        </a:rPr>
                        <a:t>Si — foco claro en ecosistema integrado y diferenciacion premium</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24245"/>
                          </a:solidFill>
                        </a:rPr>
                        <a:t>Si — pero menos especifico y mas generico en su proposito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1D1F"/>
                          </a:solidFill>
                        </a:rPr>
                        <a:t>Proyecta el futuro?</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l" indent="0" marL="0">
                        <a:buNone/>
                      </a:pPr>
                      <a:r>
                        <a:rPr lang="en-US" sz="1050" dirty="0">
                          <a:solidFill>
                            <a:srgbClr val="424245"/>
                          </a:solidFill>
                        </a:rPr>
                        <a:t>Si — liderazgo del ecosistema y confianza como activos centrales</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24245"/>
                          </a:solidFill>
                        </a:rPr>
                        <a:t>Si — foco aspiracional en tecnologia positiva para la sociedad</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1D1F"/>
                          </a:solidFill>
                        </a:rPr>
                        <a:t>Sostenibilidad</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l" indent="0" marL="0">
                        <a:buNone/>
                      </a:pPr>
                      <a:r>
                        <a:rPr lang="en-US" sz="1050" dirty="0">
                          <a:solidFill>
                            <a:srgbClr val="424245"/>
                          </a:solidFill>
                        </a:rPr>
                        <a:t>Explicita — net zero 2030, cadena de valor circular</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24245"/>
                          </a:solidFill>
                        </a:rPr>
                        <a:t>Presente, pero mas implicita en la narrativa corporativa</a:t>
                      </a:r>
                      <a:endParaRPr lang="en-US" sz="1050" dirty="0"/>
                    </a:p>
                  </a:txBody>
                  <a:tcPr marL="101600" marR="1016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4736592"/>
            <a:ext cx="7863840" cy="347472"/>
          </a:xfrm>
          <a:prstGeom prst="rect">
            <a:avLst/>
          </a:prstGeom>
          <a:noFill/>
          <a:ln/>
        </p:spPr>
        <p:txBody>
          <a:bodyPr wrap="square" lIns="0" tIns="0" rIns="0" bIns="0" rtlCol="0" anchor="ctr"/>
          <a:lstStyle/>
          <a:p>
            <a:pPr indent="0" marL="0">
              <a:buNone/>
            </a:pPr>
            <a:r>
              <a:rPr lang="en-US" sz="1050" i="1" dirty="0">
                <a:solidFill>
                  <a:srgbClr val="6E6E73"/>
                </a:solidFill>
                <a:latin typeface="Calibri" pitchFamily="34" charset="0"/>
                <a:ea typeface="Calibri" pitchFamily="34" charset="-122"/>
                <a:cs typeface="Calibri" pitchFamily="34" charset="-120"/>
              </a:rPr>
              <a:t>Ventaja Apple: mision especifica y alineada con su propuesta de valor, estructura operativa y estrategia financiera.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Como sustentan las estrategias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435608"/>
            <a:ext cx="384048" cy="384048"/>
          </a:xfrm>
          <a:prstGeom prst="ellipse">
            <a:avLst/>
          </a:prstGeom>
          <a:solidFill>
            <a:srgbClr val="1D1D1F"/>
          </a:solidFill>
          <a:ln w="12700">
            <a:solidFill>
              <a:srgbClr val="1D1D1F"/>
            </a:solidFill>
            <a:prstDash val="solid"/>
          </a:ln>
        </p:spPr>
      </p:sp>
      <p:sp>
        <p:nvSpPr>
          <p:cNvPr id="5" name="Text 3"/>
          <p:cNvSpPr/>
          <p:nvPr/>
        </p:nvSpPr>
        <p:spPr>
          <a:xfrm>
            <a:off x="640080" y="1453896"/>
            <a:ext cx="384048" cy="347472"/>
          </a:xfrm>
          <a:prstGeom prst="rect">
            <a:avLst/>
          </a:prstGeom>
          <a:noFill/>
          <a:ln/>
        </p:spPr>
        <p:txBody>
          <a:bodyPr wrap="square" lIns="0" tIns="0" rIns="0" bIns="0"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1</a:t>
            </a:r>
            <a:endParaRPr lang="en-US" sz="1500" dirty="0"/>
          </a:p>
        </p:txBody>
      </p:sp>
      <p:sp>
        <p:nvSpPr>
          <p:cNvPr id="6" name="Text 4"/>
          <p:cNvSpPr/>
          <p:nvPr/>
        </p:nvSpPr>
        <p:spPr>
          <a:xfrm>
            <a:off x="1188720" y="1325880"/>
            <a:ext cx="731520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Direccion clara</a:t>
            </a:r>
            <a:endParaRPr lang="en-US" sz="1300" dirty="0"/>
          </a:p>
        </p:txBody>
      </p:sp>
      <p:sp>
        <p:nvSpPr>
          <p:cNvPr id="7" name="Text 5"/>
          <p:cNvSpPr/>
          <p:nvPr/>
        </p:nvSpPr>
        <p:spPr>
          <a:xfrm>
            <a:off x="1188720" y="1709928"/>
            <a:ext cx="7315200" cy="713232"/>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La mision y vision definen que es Apple, para quien existe y que tipo de empresa quiere ser. Las estrategias de producto, precio y canal derivan directamente de ese foco.</a:t>
            </a:r>
            <a:endParaRPr lang="en-US" sz="1100" dirty="0"/>
          </a:p>
        </p:txBody>
      </p:sp>
      <p:sp>
        <p:nvSpPr>
          <p:cNvPr id="8" name="Shape 6"/>
          <p:cNvSpPr/>
          <p:nvPr/>
        </p:nvSpPr>
        <p:spPr>
          <a:xfrm>
            <a:off x="640080" y="2624328"/>
            <a:ext cx="384048" cy="384048"/>
          </a:xfrm>
          <a:prstGeom prst="ellipse">
            <a:avLst/>
          </a:prstGeom>
          <a:solidFill>
            <a:srgbClr val="1D1D1F"/>
          </a:solidFill>
          <a:ln w="12700">
            <a:solidFill>
              <a:srgbClr val="1D1D1F"/>
            </a:solidFill>
            <a:prstDash val="solid"/>
          </a:ln>
        </p:spPr>
      </p:sp>
      <p:sp>
        <p:nvSpPr>
          <p:cNvPr id="9" name="Text 7"/>
          <p:cNvSpPr/>
          <p:nvPr/>
        </p:nvSpPr>
        <p:spPr>
          <a:xfrm>
            <a:off x="640080" y="2642616"/>
            <a:ext cx="384048" cy="347472"/>
          </a:xfrm>
          <a:prstGeom prst="rect">
            <a:avLst/>
          </a:prstGeom>
          <a:noFill/>
          <a:ln/>
        </p:spPr>
        <p:txBody>
          <a:bodyPr wrap="square" lIns="0" tIns="0" rIns="0" bIns="0"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88720" y="2514600"/>
            <a:ext cx="731520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Coherencia entre areas</a:t>
            </a:r>
            <a:endParaRPr lang="en-US" sz="1300" dirty="0"/>
          </a:p>
        </p:txBody>
      </p:sp>
      <p:sp>
        <p:nvSpPr>
          <p:cNvPr id="11" name="Text 9"/>
          <p:cNvSpPr/>
          <p:nvPr/>
        </p:nvSpPr>
        <p:spPr>
          <a:xfrm>
            <a:off x="1188720" y="2898648"/>
            <a:ext cx="7315200" cy="713232"/>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Cada division — hardware, software, retail, servicios — alinea sus objetivos anuales con el proposito central de crear experiencias integradas de calidad excepcional.</a:t>
            </a:r>
            <a:endParaRPr lang="en-US" sz="1100" dirty="0"/>
          </a:p>
        </p:txBody>
      </p:sp>
      <p:sp>
        <p:nvSpPr>
          <p:cNvPr id="12" name="Shape 10"/>
          <p:cNvSpPr/>
          <p:nvPr/>
        </p:nvSpPr>
        <p:spPr>
          <a:xfrm>
            <a:off x="640080" y="3813048"/>
            <a:ext cx="384048" cy="384048"/>
          </a:xfrm>
          <a:prstGeom prst="ellipse">
            <a:avLst/>
          </a:prstGeom>
          <a:solidFill>
            <a:srgbClr val="1D1D1F"/>
          </a:solidFill>
          <a:ln w="12700">
            <a:solidFill>
              <a:srgbClr val="1D1D1F"/>
            </a:solidFill>
            <a:prstDash val="solid"/>
          </a:ln>
        </p:spPr>
      </p:sp>
      <p:sp>
        <p:nvSpPr>
          <p:cNvPr id="13" name="Text 11"/>
          <p:cNvSpPr/>
          <p:nvPr/>
        </p:nvSpPr>
        <p:spPr>
          <a:xfrm>
            <a:off x="640080" y="3831336"/>
            <a:ext cx="384048" cy="347472"/>
          </a:xfrm>
          <a:prstGeom prst="rect">
            <a:avLst/>
          </a:prstGeom>
          <a:noFill/>
          <a:ln/>
        </p:spPr>
        <p:txBody>
          <a:bodyPr wrap="square" lIns="0" tIns="0" rIns="0" bIns="0" rtlCol="0" anchor="ctr"/>
          <a:lstStyle/>
          <a:p>
            <a:pPr algn="ctr" indent="0" marL="0">
              <a:buNone/>
            </a:pPr>
            <a:r>
              <a:rPr lang="en-US" sz="1500" dirty="0">
                <a:solidFill>
                  <a:srgbClr val="FFFFFF"/>
                </a:solidFill>
                <a:latin typeface="Georgia" pitchFamily="34" charset="0"/>
                <a:ea typeface="Georgia" pitchFamily="34" charset="-122"/>
                <a:cs typeface="Georgia" pitchFamily="34" charset="-120"/>
              </a:rPr>
              <a:t>3</a:t>
            </a:r>
            <a:endParaRPr lang="en-US" sz="1500" dirty="0"/>
          </a:p>
        </p:txBody>
      </p:sp>
      <p:sp>
        <p:nvSpPr>
          <p:cNvPr id="14" name="Text 12"/>
          <p:cNvSpPr/>
          <p:nvPr/>
        </p:nvSpPr>
        <p:spPr>
          <a:xfrm>
            <a:off x="1188720" y="3703320"/>
            <a:ext cx="7315200" cy="365760"/>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Diferenciacion sostenible</a:t>
            </a:r>
            <a:endParaRPr lang="en-US" sz="1300" dirty="0"/>
          </a:p>
        </p:txBody>
      </p:sp>
      <p:sp>
        <p:nvSpPr>
          <p:cNvPr id="15" name="Text 13"/>
          <p:cNvSpPr/>
          <p:nvPr/>
        </p:nvSpPr>
        <p:spPr>
          <a:xfrm>
            <a:off x="1188720" y="4087368"/>
            <a:ext cx="7315200" cy="713232"/>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La declaracion de vision refuerza por que Apple no compite por volumen: su orientacion premium y de ecosistema cierra el negocio, define el precio y atrae al talento adecuado.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03 — Auditoria</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Interna</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Indicadores financieros, organigrama, cadena de valor y EFI</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Indicadores Financieros — FY 2025</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2542032" cy="1691640"/>
          </a:xfrm>
          <a:prstGeom prst="rect">
            <a:avLst/>
          </a:prstGeom>
          <a:solidFill>
            <a:srgbClr val="F5F5F7"/>
          </a:solidFill>
          <a:ln w="9525">
            <a:solidFill>
              <a:srgbClr val="D1D1D6"/>
            </a:solidFill>
            <a:prstDash val="solid"/>
          </a:ln>
        </p:spPr>
      </p:sp>
      <p:sp>
        <p:nvSpPr>
          <p:cNvPr id="5" name="Shape 3"/>
          <p:cNvSpPr/>
          <p:nvPr/>
        </p:nvSpPr>
        <p:spPr>
          <a:xfrm>
            <a:off x="640080" y="1261872"/>
            <a:ext cx="2542032" cy="54864"/>
          </a:xfrm>
          <a:prstGeom prst="rect">
            <a:avLst/>
          </a:prstGeom>
          <a:solidFill>
            <a:srgbClr val="1D1D1F"/>
          </a:solidFill>
          <a:ln w="12700">
            <a:solidFill>
              <a:srgbClr val="1D1D1F"/>
            </a:solidFill>
            <a:prstDash val="solid"/>
          </a:ln>
        </p:spPr>
      </p:sp>
      <p:sp>
        <p:nvSpPr>
          <p:cNvPr id="6" name="Text 4"/>
          <p:cNvSpPr/>
          <p:nvPr/>
        </p:nvSpPr>
        <p:spPr>
          <a:xfrm>
            <a:off x="804672" y="142646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VENTAS NETAS</a:t>
            </a:r>
            <a:endParaRPr lang="en-US" sz="900" dirty="0"/>
          </a:p>
        </p:txBody>
      </p:sp>
      <p:sp>
        <p:nvSpPr>
          <p:cNvPr id="7" name="Text 5"/>
          <p:cNvSpPr/>
          <p:nvPr/>
        </p:nvSpPr>
        <p:spPr>
          <a:xfrm>
            <a:off x="804672" y="173736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$416.2 B</a:t>
            </a:r>
            <a:endParaRPr lang="en-US" sz="2800" dirty="0"/>
          </a:p>
        </p:txBody>
      </p:sp>
      <p:sp>
        <p:nvSpPr>
          <p:cNvPr id="8" name="Text 6"/>
          <p:cNvSpPr/>
          <p:nvPr/>
        </p:nvSpPr>
        <p:spPr>
          <a:xfrm>
            <a:off x="804672" y="246888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+6.0% vs FY2024</a:t>
            </a:r>
            <a:endParaRPr lang="en-US" sz="1000" dirty="0"/>
          </a:p>
        </p:txBody>
      </p:sp>
      <p:sp>
        <p:nvSpPr>
          <p:cNvPr id="9" name="Shape 7"/>
          <p:cNvSpPr/>
          <p:nvPr/>
        </p:nvSpPr>
        <p:spPr>
          <a:xfrm>
            <a:off x="3383280" y="1261872"/>
            <a:ext cx="2542032" cy="1691640"/>
          </a:xfrm>
          <a:prstGeom prst="rect">
            <a:avLst/>
          </a:prstGeom>
          <a:solidFill>
            <a:srgbClr val="F5F5F7"/>
          </a:solidFill>
          <a:ln w="9525">
            <a:solidFill>
              <a:srgbClr val="D1D1D6"/>
            </a:solidFill>
            <a:prstDash val="solid"/>
          </a:ln>
        </p:spPr>
      </p:sp>
      <p:sp>
        <p:nvSpPr>
          <p:cNvPr id="10" name="Shape 8"/>
          <p:cNvSpPr/>
          <p:nvPr/>
        </p:nvSpPr>
        <p:spPr>
          <a:xfrm>
            <a:off x="3383280" y="1261872"/>
            <a:ext cx="2542032" cy="54864"/>
          </a:xfrm>
          <a:prstGeom prst="rect">
            <a:avLst/>
          </a:prstGeom>
          <a:solidFill>
            <a:srgbClr val="1D1D1F"/>
          </a:solidFill>
          <a:ln w="12700">
            <a:solidFill>
              <a:srgbClr val="1D1D1F"/>
            </a:solidFill>
            <a:prstDash val="solid"/>
          </a:ln>
        </p:spPr>
      </p:sp>
      <p:sp>
        <p:nvSpPr>
          <p:cNvPr id="11" name="Text 9"/>
          <p:cNvSpPr/>
          <p:nvPr/>
        </p:nvSpPr>
        <p:spPr>
          <a:xfrm>
            <a:off x="3547872" y="142646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GROSS MARGIN</a:t>
            </a:r>
            <a:endParaRPr lang="en-US" sz="900" dirty="0"/>
          </a:p>
        </p:txBody>
      </p:sp>
      <p:sp>
        <p:nvSpPr>
          <p:cNvPr id="12" name="Text 10"/>
          <p:cNvSpPr/>
          <p:nvPr/>
        </p:nvSpPr>
        <p:spPr>
          <a:xfrm>
            <a:off x="3547872" y="173736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46.9%</a:t>
            </a:r>
            <a:endParaRPr lang="en-US" sz="2800" dirty="0"/>
          </a:p>
        </p:txBody>
      </p:sp>
      <p:sp>
        <p:nvSpPr>
          <p:cNvPr id="13" name="Text 11"/>
          <p:cNvSpPr/>
          <p:nvPr/>
        </p:nvSpPr>
        <p:spPr>
          <a:xfrm>
            <a:off x="3547872" y="246888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$195.2B en dolares</a:t>
            </a:r>
            <a:endParaRPr lang="en-US" sz="1000" dirty="0"/>
          </a:p>
        </p:txBody>
      </p:sp>
      <p:sp>
        <p:nvSpPr>
          <p:cNvPr id="14" name="Shape 12"/>
          <p:cNvSpPr/>
          <p:nvPr/>
        </p:nvSpPr>
        <p:spPr>
          <a:xfrm>
            <a:off x="6126480" y="1261872"/>
            <a:ext cx="2542032" cy="1691640"/>
          </a:xfrm>
          <a:prstGeom prst="rect">
            <a:avLst/>
          </a:prstGeom>
          <a:solidFill>
            <a:srgbClr val="F5F5F7"/>
          </a:solidFill>
          <a:ln w="9525">
            <a:solidFill>
              <a:srgbClr val="D1D1D6"/>
            </a:solidFill>
            <a:prstDash val="solid"/>
          </a:ln>
        </p:spPr>
      </p:sp>
      <p:sp>
        <p:nvSpPr>
          <p:cNvPr id="15" name="Shape 13"/>
          <p:cNvSpPr/>
          <p:nvPr/>
        </p:nvSpPr>
        <p:spPr>
          <a:xfrm>
            <a:off x="6126480" y="1261872"/>
            <a:ext cx="2542032" cy="54864"/>
          </a:xfrm>
          <a:prstGeom prst="rect">
            <a:avLst/>
          </a:prstGeom>
          <a:solidFill>
            <a:srgbClr val="1D1D1F"/>
          </a:solidFill>
          <a:ln w="12700">
            <a:solidFill>
              <a:srgbClr val="1D1D1F"/>
            </a:solidFill>
            <a:prstDash val="solid"/>
          </a:ln>
        </p:spPr>
      </p:sp>
      <p:sp>
        <p:nvSpPr>
          <p:cNvPr id="16" name="Text 14"/>
          <p:cNvSpPr/>
          <p:nvPr/>
        </p:nvSpPr>
        <p:spPr>
          <a:xfrm>
            <a:off x="6291072" y="142646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EBIT</a:t>
            </a:r>
            <a:endParaRPr lang="en-US" sz="900" dirty="0"/>
          </a:p>
        </p:txBody>
      </p:sp>
      <p:sp>
        <p:nvSpPr>
          <p:cNvPr id="17" name="Text 15"/>
          <p:cNvSpPr/>
          <p:nvPr/>
        </p:nvSpPr>
        <p:spPr>
          <a:xfrm>
            <a:off x="6291072" y="173736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$133.1 B</a:t>
            </a:r>
            <a:endParaRPr lang="en-US" sz="2800" dirty="0"/>
          </a:p>
        </p:txBody>
      </p:sp>
      <p:sp>
        <p:nvSpPr>
          <p:cNvPr id="18" name="Text 16"/>
          <p:cNvSpPr/>
          <p:nvPr/>
        </p:nvSpPr>
        <p:spPr>
          <a:xfrm>
            <a:off x="6291072" y="246888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Margen operativo 32.0%</a:t>
            </a:r>
            <a:endParaRPr lang="en-US" sz="1000" dirty="0"/>
          </a:p>
        </p:txBody>
      </p:sp>
      <p:sp>
        <p:nvSpPr>
          <p:cNvPr id="19" name="Shape 17"/>
          <p:cNvSpPr/>
          <p:nvPr/>
        </p:nvSpPr>
        <p:spPr>
          <a:xfrm>
            <a:off x="640080" y="3136392"/>
            <a:ext cx="2542032" cy="1691640"/>
          </a:xfrm>
          <a:prstGeom prst="rect">
            <a:avLst/>
          </a:prstGeom>
          <a:solidFill>
            <a:srgbClr val="F5F5F7"/>
          </a:solidFill>
          <a:ln w="9525">
            <a:solidFill>
              <a:srgbClr val="D1D1D6"/>
            </a:solidFill>
            <a:prstDash val="solid"/>
          </a:ln>
        </p:spPr>
      </p:sp>
      <p:sp>
        <p:nvSpPr>
          <p:cNvPr id="20" name="Shape 18"/>
          <p:cNvSpPr/>
          <p:nvPr/>
        </p:nvSpPr>
        <p:spPr>
          <a:xfrm>
            <a:off x="640080" y="3136392"/>
            <a:ext cx="2542032" cy="54864"/>
          </a:xfrm>
          <a:prstGeom prst="rect">
            <a:avLst/>
          </a:prstGeom>
          <a:solidFill>
            <a:srgbClr val="1D1D1F"/>
          </a:solidFill>
          <a:ln w="12700">
            <a:solidFill>
              <a:srgbClr val="1D1D1F"/>
            </a:solidFill>
            <a:prstDash val="solid"/>
          </a:ln>
        </p:spPr>
      </p:sp>
      <p:sp>
        <p:nvSpPr>
          <p:cNvPr id="21" name="Text 19"/>
          <p:cNvSpPr/>
          <p:nvPr/>
        </p:nvSpPr>
        <p:spPr>
          <a:xfrm>
            <a:off x="804672" y="330098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NET INCOME</a:t>
            </a:r>
            <a:endParaRPr lang="en-US" sz="900" dirty="0"/>
          </a:p>
        </p:txBody>
      </p:sp>
      <p:sp>
        <p:nvSpPr>
          <p:cNvPr id="22" name="Text 20"/>
          <p:cNvSpPr/>
          <p:nvPr/>
        </p:nvSpPr>
        <p:spPr>
          <a:xfrm>
            <a:off x="804672" y="361188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$112.0 B</a:t>
            </a:r>
            <a:endParaRPr lang="en-US" sz="2800" dirty="0"/>
          </a:p>
        </p:txBody>
      </p:sp>
      <p:sp>
        <p:nvSpPr>
          <p:cNvPr id="23" name="Text 21"/>
          <p:cNvSpPr/>
          <p:nvPr/>
        </p:nvSpPr>
        <p:spPr>
          <a:xfrm>
            <a:off x="804672" y="434340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Margen neto 26.9%</a:t>
            </a:r>
            <a:endParaRPr lang="en-US" sz="1000" dirty="0"/>
          </a:p>
        </p:txBody>
      </p:sp>
      <p:sp>
        <p:nvSpPr>
          <p:cNvPr id="24" name="Shape 22"/>
          <p:cNvSpPr/>
          <p:nvPr/>
        </p:nvSpPr>
        <p:spPr>
          <a:xfrm>
            <a:off x="3383280" y="3136392"/>
            <a:ext cx="2542032" cy="1691640"/>
          </a:xfrm>
          <a:prstGeom prst="rect">
            <a:avLst/>
          </a:prstGeom>
          <a:solidFill>
            <a:srgbClr val="F5F5F7"/>
          </a:solidFill>
          <a:ln w="9525">
            <a:solidFill>
              <a:srgbClr val="D1D1D6"/>
            </a:solidFill>
            <a:prstDash val="solid"/>
          </a:ln>
        </p:spPr>
      </p:sp>
      <p:sp>
        <p:nvSpPr>
          <p:cNvPr id="25" name="Shape 23"/>
          <p:cNvSpPr/>
          <p:nvPr/>
        </p:nvSpPr>
        <p:spPr>
          <a:xfrm>
            <a:off x="3383280" y="3136392"/>
            <a:ext cx="2542032" cy="54864"/>
          </a:xfrm>
          <a:prstGeom prst="rect">
            <a:avLst/>
          </a:prstGeom>
          <a:solidFill>
            <a:srgbClr val="1D1D1F"/>
          </a:solidFill>
          <a:ln w="12700">
            <a:solidFill>
              <a:srgbClr val="1D1D1F"/>
            </a:solidFill>
            <a:prstDash val="solid"/>
          </a:ln>
        </p:spPr>
      </p:sp>
      <p:sp>
        <p:nvSpPr>
          <p:cNvPr id="26" name="Text 24"/>
          <p:cNvSpPr/>
          <p:nvPr/>
        </p:nvSpPr>
        <p:spPr>
          <a:xfrm>
            <a:off x="3547872" y="330098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EPS DILUIDO</a:t>
            </a:r>
            <a:endParaRPr lang="en-US" sz="900" dirty="0"/>
          </a:p>
        </p:txBody>
      </p:sp>
      <p:sp>
        <p:nvSpPr>
          <p:cNvPr id="27" name="Text 25"/>
          <p:cNvSpPr/>
          <p:nvPr/>
        </p:nvSpPr>
        <p:spPr>
          <a:xfrm>
            <a:off x="3547872" y="361188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$7.46</a:t>
            </a:r>
            <a:endParaRPr lang="en-US" sz="2800" dirty="0"/>
          </a:p>
        </p:txBody>
      </p:sp>
      <p:sp>
        <p:nvSpPr>
          <p:cNvPr id="28" name="Text 26"/>
          <p:cNvSpPr/>
          <p:nvPr/>
        </p:nvSpPr>
        <p:spPr>
          <a:xfrm>
            <a:off x="3547872" y="434340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Crecimiento sostenido</a:t>
            </a:r>
            <a:endParaRPr lang="en-US" sz="1000" dirty="0"/>
          </a:p>
        </p:txBody>
      </p:sp>
      <p:sp>
        <p:nvSpPr>
          <p:cNvPr id="29" name="Shape 27"/>
          <p:cNvSpPr/>
          <p:nvPr/>
        </p:nvSpPr>
        <p:spPr>
          <a:xfrm>
            <a:off x="6126480" y="3136392"/>
            <a:ext cx="2542032" cy="1691640"/>
          </a:xfrm>
          <a:prstGeom prst="rect">
            <a:avLst/>
          </a:prstGeom>
          <a:solidFill>
            <a:srgbClr val="F5F5F7"/>
          </a:solidFill>
          <a:ln w="9525">
            <a:solidFill>
              <a:srgbClr val="D1D1D6"/>
            </a:solidFill>
            <a:prstDash val="solid"/>
          </a:ln>
        </p:spPr>
      </p:sp>
      <p:sp>
        <p:nvSpPr>
          <p:cNvPr id="30" name="Shape 28"/>
          <p:cNvSpPr/>
          <p:nvPr/>
        </p:nvSpPr>
        <p:spPr>
          <a:xfrm>
            <a:off x="6126480" y="3136392"/>
            <a:ext cx="2542032" cy="54864"/>
          </a:xfrm>
          <a:prstGeom prst="rect">
            <a:avLst/>
          </a:prstGeom>
          <a:solidFill>
            <a:srgbClr val="1D1D1F"/>
          </a:solidFill>
          <a:ln w="12700">
            <a:solidFill>
              <a:srgbClr val="1D1D1F"/>
            </a:solidFill>
            <a:prstDash val="solid"/>
          </a:ln>
        </p:spPr>
      </p:sp>
      <p:sp>
        <p:nvSpPr>
          <p:cNvPr id="31" name="Text 29"/>
          <p:cNvSpPr/>
          <p:nvPr/>
        </p:nvSpPr>
        <p:spPr>
          <a:xfrm>
            <a:off x="6291072" y="3300984"/>
            <a:ext cx="2194560" cy="320040"/>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INVERSION R&amp;D</a:t>
            </a:r>
            <a:endParaRPr lang="en-US" sz="900" dirty="0"/>
          </a:p>
        </p:txBody>
      </p:sp>
      <p:sp>
        <p:nvSpPr>
          <p:cNvPr id="32" name="Text 30"/>
          <p:cNvSpPr/>
          <p:nvPr/>
        </p:nvSpPr>
        <p:spPr>
          <a:xfrm>
            <a:off x="6291072" y="3611880"/>
            <a:ext cx="219456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$34.6 B</a:t>
            </a:r>
            <a:endParaRPr lang="en-US" sz="2800" dirty="0"/>
          </a:p>
        </p:txBody>
      </p:sp>
      <p:sp>
        <p:nvSpPr>
          <p:cNvPr id="33" name="Text 31"/>
          <p:cNvSpPr/>
          <p:nvPr/>
        </p:nvSpPr>
        <p:spPr>
          <a:xfrm>
            <a:off x="6291072" y="4343400"/>
            <a:ext cx="2194560" cy="365760"/>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8.3% sobre ventas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Estrategia de Marketing</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3931920" cy="1664208"/>
          </a:xfrm>
          <a:prstGeom prst="rect">
            <a:avLst/>
          </a:prstGeom>
          <a:solidFill>
            <a:srgbClr val="FFFFFF"/>
          </a:solidFill>
          <a:ln w="9525">
            <a:solidFill>
              <a:srgbClr val="D1D1D6"/>
            </a:solidFill>
            <a:prstDash val="solid"/>
          </a:ln>
        </p:spPr>
      </p:sp>
      <p:sp>
        <p:nvSpPr>
          <p:cNvPr id="5" name="Shape 3"/>
          <p:cNvSpPr/>
          <p:nvPr/>
        </p:nvSpPr>
        <p:spPr>
          <a:xfrm>
            <a:off x="640080" y="1261872"/>
            <a:ext cx="3931920" cy="45720"/>
          </a:xfrm>
          <a:prstGeom prst="rect">
            <a:avLst/>
          </a:prstGeom>
          <a:solidFill>
            <a:srgbClr val="1D1D1F"/>
          </a:solidFill>
          <a:ln w="12700">
            <a:solidFill>
              <a:srgbClr val="1D1D1F"/>
            </a:solidFill>
            <a:prstDash val="solid"/>
          </a:ln>
        </p:spPr>
      </p:sp>
      <p:sp>
        <p:nvSpPr>
          <p:cNvPr id="6" name="Text 4"/>
          <p:cNvSpPr/>
          <p:nvPr/>
        </p:nvSpPr>
        <p:spPr>
          <a:xfrm>
            <a:off x="822960" y="1371600"/>
            <a:ext cx="3566160" cy="5029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Marketing emocional</a:t>
            </a:r>
            <a:endParaRPr lang="en-US" sz="1200" dirty="0"/>
          </a:p>
          <a:p>
            <a:pPr indent="0" marL="0">
              <a:buNone/>
            </a:pPr>
            <a:r>
              <a:rPr lang="en-US" sz="1200" b="1" dirty="0">
                <a:solidFill>
                  <a:srgbClr val="1D1D1F"/>
                </a:solidFill>
                <a:latin typeface="Calibri" pitchFamily="34" charset="0"/>
                <a:ea typeface="Calibri" pitchFamily="34" charset="-122"/>
                <a:cs typeface="Calibri" pitchFamily="34" charset="-120"/>
              </a:rPr>
              <a:t>y de producto</a:t>
            </a:r>
            <a:endParaRPr lang="en-US" sz="1200" dirty="0"/>
          </a:p>
        </p:txBody>
      </p:sp>
      <p:sp>
        <p:nvSpPr>
          <p:cNvPr id="7" name="Text 5"/>
          <p:cNvSpPr/>
          <p:nvPr/>
        </p:nvSpPr>
        <p:spPr>
          <a:xfrm>
            <a:off x="822960" y="190195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Marca con alto valor simbolico y reconocimiento global</a:t>
            </a:r>
            <a:endParaRPr lang="en-US" sz="950" dirty="0"/>
          </a:p>
        </p:txBody>
      </p:sp>
      <p:sp>
        <p:nvSpPr>
          <p:cNvPr id="8" name="Text 6"/>
          <p:cNvSpPr/>
          <p:nvPr/>
        </p:nvSpPr>
        <p:spPr>
          <a:xfrm>
            <a:off x="822960" y="217627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Diferenciacion por diseno y experiencia, no por precio</a:t>
            </a:r>
            <a:endParaRPr lang="en-US" sz="950" dirty="0"/>
          </a:p>
        </p:txBody>
      </p:sp>
      <p:sp>
        <p:nvSpPr>
          <p:cNvPr id="9" name="Text 7"/>
          <p:cNvSpPr/>
          <p:nvPr/>
        </p:nvSpPr>
        <p:spPr>
          <a:xfrm>
            <a:off x="822960" y="2468880"/>
            <a:ext cx="3566160" cy="256032"/>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 Debe mantenerse relevante para jovenes que valoran autenticidad</a:t>
            </a:r>
            <a:endParaRPr lang="en-US" sz="950" dirty="0"/>
          </a:p>
        </p:txBody>
      </p:sp>
      <p:sp>
        <p:nvSpPr>
          <p:cNvPr id="10" name="Shape 8"/>
          <p:cNvSpPr/>
          <p:nvPr/>
        </p:nvSpPr>
        <p:spPr>
          <a:xfrm>
            <a:off x="4846320" y="1261872"/>
            <a:ext cx="3931920" cy="1664208"/>
          </a:xfrm>
          <a:prstGeom prst="rect">
            <a:avLst/>
          </a:prstGeom>
          <a:solidFill>
            <a:srgbClr val="FFFFFF"/>
          </a:solidFill>
          <a:ln w="9525">
            <a:solidFill>
              <a:srgbClr val="D1D1D6"/>
            </a:solidFill>
            <a:prstDash val="solid"/>
          </a:ln>
        </p:spPr>
      </p:sp>
      <p:sp>
        <p:nvSpPr>
          <p:cNvPr id="11" name="Shape 9"/>
          <p:cNvSpPr/>
          <p:nvPr/>
        </p:nvSpPr>
        <p:spPr>
          <a:xfrm>
            <a:off x="4846320" y="1261872"/>
            <a:ext cx="3931920" cy="45720"/>
          </a:xfrm>
          <a:prstGeom prst="rect">
            <a:avLst/>
          </a:prstGeom>
          <a:solidFill>
            <a:srgbClr val="1D1D1F"/>
          </a:solidFill>
          <a:ln w="12700">
            <a:solidFill>
              <a:srgbClr val="1D1D1F"/>
            </a:solidFill>
            <a:prstDash val="solid"/>
          </a:ln>
        </p:spPr>
      </p:sp>
      <p:sp>
        <p:nvSpPr>
          <p:cNvPr id="12" name="Text 10"/>
          <p:cNvSpPr/>
          <p:nvPr/>
        </p:nvSpPr>
        <p:spPr>
          <a:xfrm>
            <a:off x="5029200" y="1371600"/>
            <a:ext cx="3566160" cy="5029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Ecosistema como</a:t>
            </a:r>
            <a:endParaRPr lang="en-US" sz="1200" dirty="0"/>
          </a:p>
          <a:p>
            <a:pPr indent="0" marL="0">
              <a:buNone/>
            </a:pPr>
            <a:r>
              <a:rPr lang="en-US" sz="1200" b="1" dirty="0">
                <a:solidFill>
                  <a:srgbClr val="1D1D1F"/>
                </a:solidFill>
                <a:latin typeface="Calibri" pitchFamily="34" charset="0"/>
                <a:ea typeface="Calibri" pitchFamily="34" charset="-122"/>
                <a:cs typeface="Calibri" pitchFamily="34" charset="-120"/>
              </a:rPr>
              <a:t>retencion</a:t>
            </a:r>
            <a:endParaRPr lang="en-US" sz="1200" dirty="0"/>
          </a:p>
        </p:txBody>
      </p:sp>
      <p:sp>
        <p:nvSpPr>
          <p:cNvPr id="13" name="Text 11"/>
          <p:cNvSpPr/>
          <p:nvPr/>
        </p:nvSpPr>
        <p:spPr>
          <a:xfrm>
            <a:off x="5029200" y="190195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Una vez dentro del ecosistema, el costo de salida es alto</a:t>
            </a:r>
            <a:endParaRPr lang="en-US" sz="950" dirty="0"/>
          </a:p>
        </p:txBody>
      </p:sp>
      <p:sp>
        <p:nvSpPr>
          <p:cNvPr id="14" name="Text 12"/>
          <p:cNvSpPr/>
          <p:nvPr/>
        </p:nvSpPr>
        <p:spPr>
          <a:xfrm>
            <a:off x="5029200" y="217627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Servicios crecen sin depender del hardware</a:t>
            </a:r>
            <a:endParaRPr lang="en-US" sz="950" dirty="0"/>
          </a:p>
        </p:txBody>
      </p:sp>
      <p:sp>
        <p:nvSpPr>
          <p:cNvPr id="15" name="Text 13"/>
          <p:cNvSpPr/>
          <p:nvPr/>
        </p:nvSpPr>
        <p:spPr>
          <a:xfrm>
            <a:off x="5029200" y="2468880"/>
            <a:ext cx="3566160" cy="256032"/>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 Genera dependencia critica percibida como 'walled garden'</a:t>
            </a:r>
            <a:endParaRPr lang="en-US" sz="950" dirty="0"/>
          </a:p>
        </p:txBody>
      </p:sp>
      <p:sp>
        <p:nvSpPr>
          <p:cNvPr id="16" name="Shape 14"/>
          <p:cNvSpPr/>
          <p:nvPr/>
        </p:nvSpPr>
        <p:spPr>
          <a:xfrm>
            <a:off x="640080" y="3090672"/>
            <a:ext cx="3931920" cy="1664208"/>
          </a:xfrm>
          <a:prstGeom prst="rect">
            <a:avLst/>
          </a:prstGeom>
          <a:solidFill>
            <a:srgbClr val="FFFFFF"/>
          </a:solidFill>
          <a:ln w="9525">
            <a:solidFill>
              <a:srgbClr val="D1D1D6"/>
            </a:solidFill>
            <a:prstDash val="solid"/>
          </a:ln>
        </p:spPr>
      </p:sp>
      <p:sp>
        <p:nvSpPr>
          <p:cNvPr id="17" name="Shape 15"/>
          <p:cNvSpPr/>
          <p:nvPr/>
        </p:nvSpPr>
        <p:spPr>
          <a:xfrm>
            <a:off x="640080" y="3090672"/>
            <a:ext cx="3931920" cy="45720"/>
          </a:xfrm>
          <a:prstGeom prst="rect">
            <a:avLst/>
          </a:prstGeom>
          <a:solidFill>
            <a:srgbClr val="1D1D1F"/>
          </a:solidFill>
          <a:ln w="12700">
            <a:solidFill>
              <a:srgbClr val="1D1D1F"/>
            </a:solidFill>
            <a:prstDash val="solid"/>
          </a:ln>
        </p:spPr>
      </p:sp>
      <p:sp>
        <p:nvSpPr>
          <p:cNvPr id="18" name="Text 16"/>
          <p:cNvSpPr/>
          <p:nvPr/>
        </p:nvSpPr>
        <p:spPr>
          <a:xfrm>
            <a:off x="822960" y="3200400"/>
            <a:ext cx="3566160" cy="5029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Retail propio</a:t>
            </a:r>
            <a:endParaRPr lang="en-US" sz="1200" dirty="0"/>
          </a:p>
          <a:p>
            <a:pPr indent="0" marL="0">
              <a:buNone/>
            </a:pPr>
            <a:r>
              <a:rPr lang="en-US" sz="1200" b="1" dirty="0">
                <a:solidFill>
                  <a:srgbClr val="1D1D1F"/>
                </a:solidFill>
                <a:latin typeface="Calibri" pitchFamily="34" charset="0"/>
                <a:ea typeface="Calibri" pitchFamily="34" charset="-122"/>
                <a:cs typeface="Calibri" pitchFamily="34" charset="-120"/>
              </a:rPr>
              <a:t>como canal</a:t>
            </a:r>
            <a:endParaRPr lang="en-US" sz="1200" dirty="0"/>
          </a:p>
        </p:txBody>
      </p:sp>
      <p:sp>
        <p:nvSpPr>
          <p:cNvPr id="19" name="Text 17"/>
          <p:cNvSpPr/>
          <p:nvPr/>
        </p:nvSpPr>
        <p:spPr>
          <a:xfrm>
            <a:off x="822960" y="373075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Control total de la experiencia de compra</a:t>
            </a:r>
            <a:endParaRPr lang="en-US" sz="950" dirty="0"/>
          </a:p>
        </p:txBody>
      </p:sp>
      <p:sp>
        <p:nvSpPr>
          <p:cNvPr id="20" name="Text 18"/>
          <p:cNvSpPr/>
          <p:nvPr/>
        </p:nvSpPr>
        <p:spPr>
          <a:xfrm>
            <a:off x="822960" y="400507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Marge adicional al eliminar intermediarios</a:t>
            </a:r>
            <a:endParaRPr lang="en-US" sz="950" dirty="0"/>
          </a:p>
        </p:txBody>
      </p:sp>
      <p:sp>
        <p:nvSpPr>
          <p:cNvPr id="21" name="Text 19"/>
          <p:cNvSpPr/>
          <p:nvPr/>
        </p:nvSpPr>
        <p:spPr>
          <a:xfrm>
            <a:off x="822960" y="4297680"/>
            <a:ext cx="3566160" cy="256032"/>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 Alta inversion fija en operaciones de retail premium</a:t>
            </a:r>
            <a:endParaRPr lang="en-US" sz="950" dirty="0"/>
          </a:p>
        </p:txBody>
      </p:sp>
      <p:sp>
        <p:nvSpPr>
          <p:cNvPr id="22" name="Shape 20"/>
          <p:cNvSpPr/>
          <p:nvPr/>
        </p:nvSpPr>
        <p:spPr>
          <a:xfrm>
            <a:off x="4846320" y="3090672"/>
            <a:ext cx="3931920" cy="1664208"/>
          </a:xfrm>
          <a:prstGeom prst="rect">
            <a:avLst/>
          </a:prstGeom>
          <a:solidFill>
            <a:srgbClr val="FFFFFF"/>
          </a:solidFill>
          <a:ln w="9525">
            <a:solidFill>
              <a:srgbClr val="D1D1D6"/>
            </a:solidFill>
            <a:prstDash val="solid"/>
          </a:ln>
        </p:spPr>
      </p:sp>
      <p:sp>
        <p:nvSpPr>
          <p:cNvPr id="23" name="Shape 21"/>
          <p:cNvSpPr/>
          <p:nvPr/>
        </p:nvSpPr>
        <p:spPr>
          <a:xfrm>
            <a:off x="4846320" y="3090672"/>
            <a:ext cx="3931920" cy="45720"/>
          </a:xfrm>
          <a:prstGeom prst="rect">
            <a:avLst/>
          </a:prstGeom>
          <a:solidFill>
            <a:srgbClr val="1D1D1F"/>
          </a:solidFill>
          <a:ln w="12700">
            <a:solidFill>
              <a:srgbClr val="1D1D1F"/>
            </a:solidFill>
            <a:prstDash val="solid"/>
          </a:ln>
        </p:spPr>
      </p:sp>
      <p:sp>
        <p:nvSpPr>
          <p:cNvPr id="24" name="Text 22"/>
          <p:cNvSpPr/>
          <p:nvPr/>
        </p:nvSpPr>
        <p:spPr>
          <a:xfrm>
            <a:off x="5029200" y="3200400"/>
            <a:ext cx="3566160" cy="5029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Precio premium</a:t>
            </a:r>
            <a:endParaRPr lang="en-US" sz="1200" dirty="0"/>
          </a:p>
          <a:p>
            <a:pPr indent="0" marL="0">
              <a:buNone/>
            </a:pPr>
            <a:r>
              <a:rPr lang="en-US" sz="1200" b="1" dirty="0">
                <a:solidFill>
                  <a:srgbClr val="1D1D1F"/>
                </a:solidFill>
                <a:latin typeface="Calibri" pitchFamily="34" charset="0"/>
                <a:ea typeface="Calibri" pitchFamily="34" charset="-122"/>
                <a:cs typeface="Calibri" pitchFamily="34" charset="-120"/>
              </a:rPr>
              <a:t>como posicion</a:t>
            </a:r>
            <a:endParaRPr lang="en-US" sz="1200" dirty="0"/>
          </a:p>
        </p:txBody>
      </p:sp>
      <p:sp>
        <p:nvSpPr>
          <p:cNvPr id="25" name="Text 23"/>
          <p:cNvSpPr/>
          <p:nvPr/>
        </p:nvSpPr>
        <p:spPr>
          <a:xfrm>
            <a:off x="5029200" y="373075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Margenes superiores a cualquier competidor</a:t>
            </a:r>
            <a:endParaRPr lang="en-US" sz="950" dirty="0"/>
          </a:p>
        </p:txBody>
      </p:sp>
      <p:sp>
        <p:nvSpPr>
          <p:cNvPr id="26" name="Text 24"/>
          <p:cNvSpPr/>
          <p:nvPr/>
        </p:nvSpPr>
        <p:spPr>
          <a:xfrm>
            <a:off x="5029200" y="4005072"/>
            <a:ext cx="3566160" cy="256032"/>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Consolida percepcion de exclusividad</a:t>
            </a:r>
            <a:endParaRPr lang="en-US" sz="950" dirty="0"/>
          </a:p>
        </p:txBody>
      </p:sp>
      <p:sp>
        <p:nvSpPr>
          <p:cNvPr id="27" name="Text 25"/>
          <p:cNvSpPr/>
          <p:nvPr/>
        </p:nvSpPr>
        <p:spPr>
          <a:xfrm>
            <a:off x="5029200" y="4297680"/>
            <a:ext cx="3566160" cy="256032"/>
          </a:xfrm>
          <a:prstGeom prst="rect">
            <a:avLst/>
          </a:prstGeom>
          <a:noFill/>
          <a:ln/>
        </p:spPr>
        <p:txBody>
          <a:bodyPr wrap="square" lIns="0" tIns="0" rIns="0" bIns="0" rtlCol="0" anchor="ctr"/>
          <a:lstStyle/>
          <a:p>
            <a:pPr indent="0" marL="0">
              <a:buNone/>
            </a:pPr>
            <a:r>
              <a:rPr lang="en-US" sz="950" dirty="0">
                <a:solidFill>
                  <a:srgbClr val="6E6E73"/>
                </a:solidFill>
                <a:latin typeface="Calibri" pitchFamily="34" charset="0"/>
                <a:ea typeface="Calibri" pitchFamily="34" charset="-122"/>
                <a:cs typeface="Calibri" pitchFamily="34" charset="-120"/>
              </a:rPr>
              <a:t>- Limita participacion en mercados de precio medio-bajo</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Organigrama Actual</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3657600"/>
          </a:xfrm>
          <a:prstGeom prst="rect">
            <a:avLst/>
          </a:prstGeom>
          <a:solidFill>
            <a:srgbClr val="F0F0F2"/>
          </a:solidFill>
          <a:ln w="12700">
            <a:solidFill>
              <a:srgbClr val="AEAEB2"/>
            </a:solidFill>
            <a:prstDash val="solid"/>
          </a:ln>
        </p:spPr>
      </p:sp>
      <p:sp>
        <p:nvSpPr>
          <p:cNvPr id="5" name="Shape 3"/>
          <p:cNvSpPr/>
          <p:nvPr/>
        </p:nvSpPr>
        <p:spPr>
          <a:xfrm>
            <a:off x="640080" y="1261872"/>
            <a:ext cx="7863840" cy="0"/>
          </a:xfrm>
          <a:prstGeom prst="line">
            <a:avLst/>
          </a:prstGeom>
          <a:noFill/>
          <a:ln w="6350">
            <a:solidFill>
              <a:srgbClr val="D1D1D6"/>
            </a:solidFill>
            <a:prstDash val="solid"/>
          </a:ln>
        </p:spPr>
      </p:sp>
      <p:sp>
        <p:nvSpPr>
          <p:cNvPr id="6" name="Text 4"/>
          <p:cNvSpPr/>
          <p:nvPr/>
        </p:nvSpPr>
        <p:spPr>
          <a:xfrm>
            <a:off x="640080" y="2926080"/>
            <a:ext cx="786384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Insertar organigrama actual ]</a:t>
            </a:r>
            <a:endParaRPr lang="en-US" sz="1000" dirty="0"/>
          </a:p>
        </p:txBody>
      </p:sp>
      <p:sp>
        <p:nvSpPr>
          <p:cNvPr id="7" name="Text 5"/>
          <p:cNvSpPr/>
          <p:nvPr/>
        </p:nvSpPr>
        <p:spPr>
          <a:xfrm>
            <a:off x="640080" y="4864608"/>
            <a:ext cx="7863840" cy="256032"/>
          </a:xfrm>
          <a:prstGeom prst="rect">
            <a:avLst/>
          </a:prstGeom>
          <a:noFill/>
          <a:ln/>
        </p:spPr>
        <p:txBody>
          <a:bodyPr wrap="square" lIns="0" tIns="0" rIns="0" bIns="0" rtlCol="0" anchor="ctr"/>
          <a:lstStyle/>
          <a:p>
            <a:pPr indent="0" marL="0">
              <a:buNone/>
            </a:pPr>
            <a:r>
              <a:rPr lang="en-US" sz="900" dirty="0">
                <a:solidFill>
                  <a:srgbClr val="AEAEB2"/>
                </a:solidFill>
                <a:latin typeface="Calibri" pitchFamily="34" charset="0"/>
                <a:ea typeface="Calibri" pitchFamily="34" charset="-122"/>
                <a:cs typeface="Calibri" pitchFamily="34" charset="-120"/>
              </a:rPr>
              <a:t>Fuente: Apple Inc. — Leadership Team 2025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Organigrama Sugerido</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3474720" y="1325880"/>
            <a:ext cx="2194560" cy="502920"/>
          </a:xfrm>
          <a:prstGeom prst="rect">
            <a:avLst/>
          </a:prstGeom>
          <a:solidFill>
            <a:srgbClr val="1D1D1F"/>
          </a:solidFill>
          <a:ln w="12700">
            <a:solidFill>
              <a:srgbClr val="1D1D1F"/>
            </a:solidFill>
            <a:prstDash val="solid"/>
          </a:ln>
        </p:spPr>
      </p:sp>
      <p:sp>
        <p:nvSpPr>
          <p:cNvPr id="5" name="Text 3"/>
          <p:cNvSpPr/>
          <p:nvPr/>
        </p:nvSpPr>
        <p:spPr>
          <a:xfrm>
            <a:off x="3474720" y="1325880"/>
            <a:ext cx="21945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CEO — Tim Cook</a:t>
            </a:r>
            <a:endParaRPr lang="en-US" sz="1100" dirty="0"/>
          </a:p>
        </p:txBody>
      </p:sp>
      <p:sp>
        <p:nvSpPr>
          <p:cNvPr id="6" name="Shape 4"/>
          <p:cNvSpPr/>
          <p:nvPr/>
        </p:nvSpPr>
        <p:spPr>
          <a:xfrm>
            <a:off x="4572000" y="1828800"/>
            <a:ext cx="0" cy="274320"/>
          </a:xfrm>
          <a:prstGeom prst="line">
            <a:avLst/>
          </a:prstGeom>
          <a:noFill/>
          <a:ln w="9525">
            <a:solidFill>
              <a:srgbClr val="AEAEB2"/>
            </a:solidFill>
            <a:prstDash val="solid"/>
          </a:ln>
        </p:spPr>
      </p:sp>
      <p:sp>
        <p:nvSpPr>
          <p:cNvPr id="7" name="Shape 5"/>
          <p:cNvSpPr/>
          <p:nvPr/>
        </p:nvSpPr>
        <p:spPr>
          <a:xfrm>
            <a:off x="640080" y="2103120"/>
            <a:ext cx="8138160" cy="0"/>
          </a:xfrm>
          <a:prstGeom prst="line">
            <a:avLst/>
          </a:prstGeom>
          <a:noFill/>
          <a:ln w="9525">
            <a:solidFill>
              <a:srgbClr val="AEAEB2"/>
            </a:solidFill>
            <a:prstDash val="solid"/>
          </a:ln>
        </p:spPr>
      </p:sp>
      <p:sp>
        <p:nvSpPr>
          <p:cNvPr id="8" name="Shape 6"/>
          <p:cNvSpPr/>
          <p:nvPr/>
        </p:nvSpPr>
        <p:spPr>
          <a:xfrm>
            <a:off x="640080" y="2194560"/>
            <a:ext cx="1143000" cy="640080"/>
          </a:xfrm>
          <a:prstGeom prst="rect">
            <a:avLst/>
          </a:prstGeom>
          <a:solidFill>
            <a:srgbClr val="F5F5F7"/>
          </a:solidFill>
          <a:ln w="9525">
            <a:solidFill>
              <a:srgbClr val="AEAEB2"/>
            </a:solidFill>
            <a:prstDash val="solid"/>
          </a:ln>
        </p:spPr>
      </p:sp>
      <p:sp>
        <p:nvSpPr>
          <p:cNvPr id="9" name="Text 7"/>
          <p:cNvSpPr/>
          <p:nvPr/>
        </p:nvSpPr>
        <p:spPr>
          <a:xfrm>
            <a:off x="640080" y="2194560"/>
            <a:ext cx="1143000" cy="640080"/>
          </a:xfrm>
          <a:prstGeom prst="rect">
            <a:avLst/>
          </a:prstGeom>
          <a:noFill/>
          <a:ln/>
        </p:spPr>
        <p:txBody>
          <a:bodyPr wrap="square" lIns="0" tIns="0" rIns="0" bIns="0" rtlCol="0" anchor="ctr"/>
          <a:lstStyle/>
          <a:p>
            <a:pPr algn="ctr" indent="0" marL="0">
              <a:buNone/>
            </a:pPr>
            <a:r>
              <a:rPr lang="en-US" sz="900" dirty="0">
                <a:solidFill>
                  <a:srgbClr val="1D1D1F"/>
                </a:solidFill>
                <a:latin typeface="Calibri" pitchFamily="34" charset="0"/>
                <a:ea typeface="Calibri" pitchFamily="34" charset="-122"/>
                <a:cs typeface="Calibri" pitchFamily="34" charset="-120"/>
              </a:rPr>
              <a:t>COO</a:t>
            </a:r>
            <a:endParaRPr lang="en-US" sz="900" dirty="0"/>
          </a:p>
          <a:p>
            <a:pPr algn="ctr" indent="0" marL="0">
              <a:buNone/>
            </a:pPr>
            <a:r>
              <a:rPr lang="en-US" sz="900" dirty="0">
                <a:solidFill>
                  <a:srgbClr val="1D1D1F"/>
                </a:solidFill>
                <a:latin typeface="Calibri" pitchFamily="34" charset="0"/>
                <a:ea typeface="Calibri" pitchFamily="34" charset="-122"/>
                <a:cs typeface="Calibri" pitchFamily="34" charset="-120"/>
              </a:rPr>
              <a:t>Sabih Khan</a:t>
            </a:r>
            <a:endParaRPr lang="en-US" sz="900" dirty="0"/>
          </a:p>
        </p:txBody>
      </p:sp>
      <p:sp>
        <p:nvSpPr>
          <p:cNvPr id="10" name="Shape 8"/>
          <p:cNvSpPr/>
          <p:nvPr/>
        </p:nvSpPr>
        <p:spPr>
          <a:xfrm>
            <a:off x="1211580" y="2103120"/>
            <a:ext cx="0" cy="91440"/>
          </a:xfrm>
          <a:prstGeom prst="line">
            <a:avLst/>
          </a:prstGeom>
          <a:noFill/>
          <a:ln w="9525">
            <a:solidFill>
              <a:srgbClr val="AEAEB2"/>
            </a:solidFill>
            <a:prstDash val="solid"/>
          </a:ln>
        </p:spPr>
      </p:sp>
      <p:sp>
        <p:nvSpPr>
          <p:cNvPr id="11" name="Shape 9"/>
          <p:cNvSpPr/>
          <p:nvPr/>
        </p:nvSpPr>
        <p:spPr>
          <a:xfrm>
            <a:off x="1920240" y="2194560"/>
            <a:ext cx="1143000" cy="640080"/>
          </a:xfrm>
          <a:prstGeom prst="rect">
            <a:avLst/>
          </a:prstGeom>
          <a:solidFill>
            <a:srgbClr val="F5F5F7"/>
          </a:solidFill>
          <a:ln w="9525">
            <a:solidFill>
              <a:srgbClr val="AEAEB2"/>
            </a:solidFill>
            <a:prstDash val="solid"/>
          </a:ln>
        </p:spPr>
      </p:sp>
      <p:sp>
        <p:nvSpPr>
          <p:cNvPr id="12" name="Text 10"/>
          <p:cNvSpPr/>
          <p:nvPr/>
        </p:nvSpPr>
        <p:spPr>
          <a:xfrm>
            <a:off x="1920240" y="2194560"/>
            <a:ext cx="1143000" cy="640080"/>
          </a:xfrm>
          <a:prstGeom prst="rect">
            <a:avLst/>
          </a:prstGeom>
          <a:noFill/>
          <a:ln/>
        </p:spPr>
        <p:txBody>
          <a:bodyPr wrap="square" lIns="0" tIns="0" rIns="0" bIns="0" rtlCol="0" anchor="ctr"/>
          <a:lstStyle/>
          <a:p>
            <a:pPr algn="ctr" indent="0" marL="0">
              <a:buNone/>
            </a:pPr>
            <a:r>
              <a:rPr lang="en-US" sz="900" dirty="0">
                <a:solidFill>
                  <a:srgbClr val="1D1D1F"/>
                </a:solidFill>
                <a:latin typeface="Calibri" pitchFamily="34" charset="0"/>
                <a:ea typeface="Calibri" pitchFamily="34" charset="-122"/>
                <a:cs typeface="Calibri" pitchFamily="34" charset="-120"/>
              </a:rPr>
              <a:t>CFO</a:t>
            </a:r>
            <a:endParaRPr lang="en-US" sz="900" dirty="0"/>
          </a:p>
          <a:p>
            <a:pPr algn="ctr" indent="0" marL="0">
              <a:buNone/>
            </a:pPr>
            <a:r>
              <a:rPr lang="en-US" sz="900" dirty="0">
                <a:solidFill>
                  <a:srgbClr val="1D1D1F"/>
                </a:solidFill>
                <a:latin typeface="Calibri" pitchFamily="34" charset="0"/>
                <a:ea typeface="Calibri" pitchFamily="34" charset="-122"/>
                <a:cs typeface="Calibri" pitchFamily="34" charset="-120"/>
              </a:rPr>
              <a:t>Kevan Parekh</a:t>
            </a:r>
            <a:endParaRPr lang="en-US" sz="900" dirty="0"/>
          </a:p>
        </p:txBody>
      </p:sp>
      <p:sp>
        <p:nvSpPr>
          <p:cNvPr id="13" name="Shape 11"/>
          <p:cNvSpPr/>
          <p:nvPr/>
        </p:nvSpPr>
        <p:spPr>
          <a:xfrm>
            <a:off x="2491740" y="2103120"/>
            <a:ext cx="0" cy="91440"/>
          </a:xfrm>
          <a:prstGeom prst="line">
            <a:avLst/>
          </a:prstGeom>
          <a:noFill/>
          <a:ln w="9525">
            <a:solidFill>
              <a:srgbClr val="AEAEB2"/>
            </a:solidFill>
            <a:prstDash val="solid"/>
          </a:ln>
        </p:spPr>
      </p:sp>
      <p:sp>
        <p:nvSpPr>
          <p:cNvPr id="14" name="Shape 12"/>
          <p:cNvSpPr/>
          <p:nvPr/>
        </p:nvSpPr>
        <p:spPr>
          <a:xfrm>
            <a:off x="3200400" y="2194560"/>
            <a:ext cx="1143000" cy="640080"/>
          </a:xfrm>
          <a:prstGeom prst="rect">
            <a:avLst/>
          </a:prstGeom>
          <a:solidFill>
            <a:srgbClr val="1D1D1F"/>
          </a:solidFill>
          <a:ln w="9525">
            <a:solidFill>
              <a:srgbClr val="1D1D1F"/>
            </a:solidFill>
            <a:prstDash val="solid"/>
          </a:ln>
        </p:spPr>
      </p:sp>
      <p:sp>
        <p:nvSpPr>
          <p:cNvPr id="15" name="Text 13"/>
          <p:cNvSpPr/>
          <p:nvPr/>
        </p:nvSpPr>
        <p:spPr>
          <a:xfrm>
            <a:off x="3200400" y="2194560"/>
            <a:ext cx="1143000"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Chief AI</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Platforms *</a:t>
            </a:r>
            <a:endParaRPr lang="en-US" sz="900" dirty="0"/>
          </a:p>
        </p:txBody>
      </p:sp>
      <p:sp>
        <p:nvSpPr>
          <p:cNvPr id="16" name="Shape 14"/>
          <p:cNvSpPr/>
          <p:nvPr/>
        </p:nvSpPr>
        <p:spPr>
          <a:xfrm>
            <a:off x="3771900" y="2103120"/>
            <a:ext cx="0" cy="91440"/>
          </a:xfrm>
          <a:prstGeom prst="line">
            <a:avLst/>
          </a:prstGeom>
          <a:noFill/>
          <a:ln w="9525">
            <a:solidFill>
              <a:srgbClr val="AEAEB2"/>
            </a:solidFill>
            <a:prstDash val="solid"/>
          </a:ln>
        </p:spPr>
      </p:sp>
      <p:sp>
        <p:nvSpPr>
          <p:cNvPr id="17" name="Shape 15"/>
          <p:cNvSpPr/>
          <p:nvPr/>
        </p:nvSpPr>
        <p:spPr>
          <a:xfrm>
            <a:off x="4480560" y="2194560"/>
            <a:ext cx="1143000" cy="640080"/>
          </a:xfrm>
          <a:prstGeom prst="rect">
            <a:avLst/>
          </a:prstGeom>
          <a:solidFill>
            <a:srgbClr val="F5F5F7"/>
          </a:solidFill>
          <a:ln w="9525">
            <a:solidFill>
              <a:srgbClr val="AEAEB2"/>
            </a:solidFill>
            <a:prstDash val="solid"/>
          </a:ln>
        </p:spPr>
      </p:sp>
      <p:sp>
        <p:nvSpPr>
          <p:cNvPr id="18" name="Text 16"/>
          <p:cNvSpPr/>
          <p:nvPr/>
        </p:nvSpPr>
        <p:spPr>
          <a:xfrm>
            <a:off x="4480560" y="2194560"/>
            <a:ext cx="1143000" cy="640080"/>
          </a:xfrm>
          <a:prstGeom prst="rect">
            <a:avLst/>
          </a:prstGeom>
          <a:noFill/>
          <a:ln/>
        </p:spPr>
        <p:txBody>
          <a:bodyPr wrap="square" lIns="0" tIns="0" rIns="0" bIns="0" rtlCol="0" anchor="ctr"/>
          <a:lstStyle/>
          <a:p>
            <a:pPr algn="ctr" indent="0" marL="0">
              <a:buNone/>
            </a:pPr>
            <a:r>
              <a:rPr lang="en-US" sz="900" dirty="0">
                <a:solidFill>
                  <a:srgbClr val="1D1D1F"/>
                </a:solidFill>
                <a:latin typeface="Calibri" pitchFamily="34" charset="0"/>
                <a:ea typeface="Calibri" pitchFamily="34" charset="-122"/>
                <a:cs typeface="Calibri" pitchFamily="34" charset="-120"/>
              </a:rPr>
              <a:t>SVP Software</a:t>
            </a:r>
            <a:endParaRPr lang="en-US" sz="900" dirty="0"/>
          </a:p>
          <a:p>
            <a:pPr algn="ctr" indent="0" marL="0">
              <a:buNone/>
            </a:pPr>
            <a:r>
              <a:rPr lang="en-US" sz="900" dirty="0">
                <a:solidFill>
                  <a:srgbClr val="1D1D1F"/>
                </a:solidFill>
                <a:latin typeface="Calibri" pitchFamily="34" charset="0"/>
                <a:ea typeface="Calibri" pitchFamily="34" charset="-122"/>
                <a:cs typeface="Calibri" pitchFamily="34" charset="-120"/>
              </a:rPr>
              <a:t>Federighi</a:t>
            </a:r>
            <a:endParaRPr lang="en-US" sz="900" dirty="0"/>
          </a:p>
        </p:txBody>
      </p:sp>
      <p:sp>
        <p:nvSpPr>
          <p:cNvPr id="19" name="Shape 17"/>
          <p:cNvSpPr/>
          <p:nvPr/>
        </p:nvSpPr>
        <p:spPr>
          <a:xfrm>
            <a:off x="5052060" y="2103120"/>
            <a:ext cx="0" cy="91440"/>
          </a:xfrm>
          <a:prstGeom prst="line">
            <a:avLst/>
          </a:prstGeom>
          <a:noFill/>
          <a:ln w="9525">
            <a:solidFill>
              <a:srgbClr val="AEAEB2"/>
            </a:solidFill>
            <a:prstDash val="solid"/>
          </a:ln>
        </p:spPr>
      </p:sp>
      <p:sp>
        <p:nvSpPr>
          <p:cNvPr id="20" name="Shape 18"/>
          <p:cNvSpPr/>
          <p:nvPr/>
        </p:nvSpPr>
        <p:spPr>
          <a:xfrm>
            <a:off x="5760720" y="2194560"/>
            <a:ext cx="1143000" cy="640080"/>
          </a:xfrm>
          <a:prstGeom prst="rect">
            <a:avLst/>
          </a:prstGeom>
          <a:solidFill>
            <a:srgbClr val="F5F5F7"/>
          </a:solidFill>
          <a:ln w="9525">
            <a:solidFill>
              <a:srgbClr val="AEAEB2"/>
            </a:solidFill>
            <a:prstDash val="solid"/>
          </a:ln>
        </p:spPr>
      </p:sp>
      <p:sp>
        <p:nvSpPr>
          <p:cNvPr id="21" name="Text 19"/>
          <p:cNvSpPr/>
          <p:nvPr/>
        </p:nvSpPr>
        <p:spPr>
          <a:xfrm>
            <a:off x="5760720" y="2194560"/>
            <a:ext cx="1143000" cy="640080"/>
          </a:xfrm>
          <a:prstGeom prst="rect">
            <a:avLst/>
          </a:prstGeom>
          <a:noFill/>
          <a:ln/>
        </p:spPr>
        <p:txBody>
          <a:bodyPr wrap="square" lIns="0" tIns="0" rIns="0" bIns="0" rtlCol="0" anchor="ctr"/>
          <a:lstStyle/>
          <a:p>
            <a:pPr algn="ctr" indent="0" marL="0">
              <a:buNone/>
            </a:pPr>
            <a:r>
              <a:rPr lang="en-US" sz="900" dirty="0">
                <a:solidFill>
                  <a:srgbClr val="1D1D1F"/>
                </a:solidFill>
                <a:latin typeface="Calibri" pitchFamily="34" charset="0"/>
                <a:ea typeface="Calibri" pitchFamily="34" charset="-122"/>
                <a:cs typeface="Calibri" pitchFamily="34" charset="-120"/>
              </a:rPr>
              <a:t>SVP Hardware</a:t>
            </a:r>
            <a:endParaRPr lang="en-US" sz="900" dirty="0"/>
          </a:p>
          <a:p>
            <a:pPr algn="ctr" indent="0" marL="0">
              <a:buNone/>
            </a:pPr>
            <a:r>
              <a:rPr lang="en-US" sz="900" dirty="0">
                <a:solidFill>
                  <a:srgbClr val="1D1D1F"/>
                </a:solidFill>
                <a:latin typeface="Calibri" pitchFamily="34" charset="0"/>
                <a:ea typeface="Calibri" pitchFamily="34" charset="-122"/>
                <a:cs typeface="Calibri" pitchFamily="34" charset="-120"/>
              </a:rPr>
              <a:t>Ternus</a:t>
            </a:r>
            <a:endParaRPr lang="en-US" sz="900" dirty="0"/>
          </a:p>
        </p:txBody>
      </p:sp>
      <p:sp>
        <p:nvSpPr>
          <p:cNvPr id="22" name="Shape 20"/>
          <p:cNvSpPr/>
          <p:nvPr/>
        </p:nvSpPr>
        <p:spPr>
          <a:xfrm>
            <a:off x="6332220" y="2103120"/>
            <a:ext cx="0" cy="91440"/>
          </a:xfrm>
          <a:prstGeom prst="line">
            <a:avLst/>
          </a:prstGeom>
          <a:noFill/>
          <a:ln w="9525">
            <a:solidFill>
              <a:srgbClr val="AEAEB2"/>
            </a:solidFill>
            <a:prstDash val="solid"/>
          </a:ln>
        </p:spPr>
      </p:sp>
      <p:sp>
        <p:nvSpPr>
          <p:cNvPr id="23" name="Shape 21"/>
          <p:cNvSpPr/>
          <p:nvPr/>
        </p:nvSpPr>
        <p:spPr>
          <a:xfrm>
            <a:off x="7040880" y="2194560"/>
            <a:ext cx="1143000" cy="640080"/>
          </a:xfrm>
          <a:prstGeom prst="rect">
            <a:avLst/>
          </a:prstGeom>
          <a:solidFill>
            <a:srgbClr val="F5F5F7"/>
          </a:solidFill>
          <a:ln w="9525">
            <a:solidFill>
              <a:srgbClr val="AEAEB2"/>
            </a:solidFill>
            <a:prstDash val="solid"/>
          </a:ln>
        </p:spPr>
      </p:sp>
      <p:sp>
        <p:nvSpPr>
          <p:cNvPr id="24" name="Text 22"/>
          <p:cNvSpPr/>
          <p:nvPr/>
        </p:nvSpPr>
        <p:spPr>
          <a:xfrm>
            <a:off x="7040880" y="2194560"/>
            <a:ext cx="1143000" cy="640080"/>
          </a:xfrm>
          <a:prstGeom prst="rect">
            <a:avLst/>
          </a:prstGeom>
          <a:noFill/>
          <a:ln/>
        </p:spPr>
        <p:txBody>
          <a:bodyPr wrap="square" lIns="0" tIns="0" rIns="0" bIns="0" rtlCol="0" anchor="ctr"/>
          <a:lstStyle/>
          <a:p>
            <a:pPr algn="ctr" indent="0" marL="0">
              <a:buNone/>
            </a:pPr>
            <a:r>
              <a:rPr lang="en-US" sz="900" dirty="0">
                <a:solidFill>
                  <a:srgbClr val="1D1D1F"/>
                </a:solidFill>
                <a:latin typeface="Calibri" pitchFamily="34" charset="0"/>
                <a:ea typeface="Calibri" pitchFamily="34" charset="-122"/>
                <a:cs typeface="Calibri" pitchFamily="34" charset="-120"/>
              </a:rPr>
              <a:t>SVP Services</a:t>
            </a:r>
            <a:endParaRPr lang="en-US" sz="900" dirty="0"/>
          </a:p>
          <a:p>
            <a:pPr algn="ctr" indent="0" marL="0">
              <a:buNone/>
            </a:pPr>
            <a:r>
              <a:rPr lang="en-US" sz="900" dirty="0">
                <a:solidFill>
                  <a:srgbClr val="1D1D1F"/>
                </a:solidFill>
                <a:latin typeface="Calibri" pitchFamily="34" charset="0"/>
                <a:ea typeface="Calibri" pitchFamily="34" charset="-122"/>
                <a:cs typeface="Calibri" pitchFamily="34" charset="-120"/>
              </a:rPr>
              <a:t>Eddy Cue</a:t>
            </a:r>
            <a:endParaRPr lang="en-US" sz="900" dirty="0"/>
          </a:p>
        </p:txBody>
      </p:sp>
      <p:sp>
        <p:nvSpPr>
          <p:cNvPr id="25" name="Shape 23"/>
          <p:cNvSpPr/>
          <p:nvPr/>
        </p:nvSpPr>
        <p:spPr>
          <a:xfrm>
            <a:off x="7612380" y="2103120"/>
            <a:ext cx="0" cy="91440"/>
          </a:xfrm>
          <a:prstGeom prst="line">
            <a:avLst/>
          </a:prstGeom>
          <a:noFill/>
          <a:ln w="9525">
            <a:solidFill>
              <a:srgbClr val="AEAEB2"/>
            </a:solidFill>
            <a:prstDash val="solid"/>
          </a:ln>
        </p:spPr>
      </p:sp>
      <p:sp>
        <p:nvSpPr>
          <p:cNvPr id="26" name="Shape 24"/>
          <p:cNvSpPr/>
          <p:nvPr/>
        </p:nvSpPr>
        <p:spPr>
          <a:xfrm>
            <a:off x="3200400" y="3017520"/>
            <a:ext cx="2423160" cy="0"/>
          </a:xfrm>
          <a:prstGeom prst="line">
            <a:avLst/>
          </a:prstGeom>
          <a:noFill/>
          <a:ln w="9525">
            <a:solidFill>
              <a:srgbClr val="AEAEB2"/>
            </a:solidFill>
            <a:prstDash val="solid"/>
          </a:ln>
        </p:spPr>
      </p:sp>
      <p:sp>
        <p:nvSpPr>
          <p:cNvPr id="27" name="Shape 25"/>
          <p:cNvSpPr/>
          <p:nvPr/>
        </p:nvSpPr>
        <p:spPr>
          <a:xfrm>
            <a:off x="3200400" y="3108960"/>
            <a:ext cx="1143000" cy="502920"/>
          </a:xfrm>
          <a:prstGeom prst="rect">
            <a:avLst/>
          </a:prstGeom>
          <a:solidFill>
            <a:srgbClr val="147CE5"/>
          </a:solidFill>
          <a:ln w="12700">
            <a:solidFill>
              <a:srgbClr val="147CE5"/>
            </a:solidFill>
            <a:prstDash val="solid"/>
          </a:ln>
        </p:spPr>
      </p:sp>
      <p:sp>
        <p:nvSpPr>
          <p:cNvPr id="28" name="Text 26"/>
          <p:cNvSpPr/>
          <p:nvPr/>
        </p:nvSpPr>
        <p:spPr>
          <a:xfrm>
            <a:off x="3200400" y="3108960"/>
            <a:ext cx="1143000" cy="5029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SVP Health *</a:t>
            </a:r>
            <a:endParaRPr lang="en-US" sz="900" dirty="0"/>
          </a:p>
        </p:txBody>
      </p:sp>
      <p:sp>
        <p:nvSpPr>
          <p:cNvPr id="29" name="Shape 27"/>
          <p:cNvSpPr/>
          <p:nvPr/>
        </p:nvSpPr>
        <p:spPr>
          <a:xfrm>
            <a:off x="3771900" y="3017520"/>
            <a:ext cx="0" cy="91440"/>
          </a:xfrm>
          <a:prstGeom prst="line">
            <a:avLst/>
          </a:prstGeom>
          <a:noFill/>
          <a:ln w="9525">
            <a:solidFill>
              <a:srgbClr val="AEAEB2"/>
            </a:solidFill>
            <a:prstDash val="solid"/>
          </a:ln>
        </p:spPr>
      </p:sp>
      <p:sp>
        <p:nvSpPr>
          <p:cNvPr id="30" name="Shape 28"/>
          <p:cNvSpPr/>
          <p:nvPr/>
        </p:nvSpPr>
        <p:spPr>
          <a:xfrm>
            <a:off x="4480560" y="3108960"/>
            <a:ext cx="1143000" cy="502920"/>
          </a:xfrm>
          <a:prstGeom prst="rect">
            <a:avLst/>
          </a:prstGeom>
          <a:solidFill>
            <a:srgbClr val="147CE5"/>
          </a:solidFill>
          <a:ln w="12700">
            <a:solidFill>
              <a:srgbClr val="147CE5"/>
            </a:solidFill>
            <a:prstDash val="solid"/>
          </a:ln>
        </p:spPr>
      </p:sp>
      <p:sp>
        <p:nvSpPr>
          <p:cNvPr id="31" name="Text 29"/>
          <p:cNvSpPr/>
          <p:nvPr/>
        </p:nvSpPr>
        <p:spPr>
          <a:xfrm>
            <a:off x="4480560" y="3108960"/>
            <a:ext cx="1143000" cy="50292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SVP Supply Chain *</a:t>
            </a:r>
            <a:endParaRPr lang="en-US" sz="900" dirty="0"/>
          </a:p>
        </p:txBody>
      </p:sp>
      <p:sp>
        <p:nvSpPr>
          <p:cNvPr id="32" name="Shape 30"/>
          <p:cNvSpPr/>
          <p:nvPr/>
        </p:nvSpPr>
        <p:spPr>
          <a:xfrm>
            <a:off x="5052060" y="3017520"/>
            <a:ext cx="0" cy="91440"/>
          </a:xfrm>
          <a:prstGeom prst="line">
            <a:avLst/>
          </a:prstGeom>
          <a:noFill/>
          <a:ln w="9525">
            <a:solidFill>
              <a:srgbClr val="AEAEB2"/>
            </a:solidFill>
            <a:prstDash val="solid"/>
          </a:ln>
        </p:spPr>
      </p:sp>
      <p:sp>
        <p:nvSpPr>
          <p:cNvPr id="33" name="Text 31"/>
          <p:cNvSpPr/>
          <p:nvPr/>
        </p:nvSpPr>
        <p:spPr>
          <a:xfrm>
            <a:off x="640080" y="3977640"/>
            <a:ext cx="3657600" cy="320040"/>
          </a:xfrm>
          <a:prstGeom prst="rect">
            <a:avLst/>
          </a:prstGeom>
          <a:noFill/>
          <a:ln/>
        </p:spPr>
        <p:txBody>
          <a:bodyPr wrap="square" lIns="0" tIns="0" rIns="0" bIns="0" rtlCol="0" anchor="ctr"/>
          <a:lstStyle/>
          <a:p>
            <a:pPr indent="0" marL="0">
              <a:buNone/>
            </a:pPr>
            <a:r>
              <a:rPr lang="en-US" sz="1000" i="1" dirty="0">
                <a:solidFill>
                  <a:srgbClr val="6E6E73"/>
                </a:solidFill>
                <a:latin typeface="Calibri" pitchFamily="34" charset="0"/>
                <a:ea typeface="Calibri" pitchFamily="34" charset="-122"/>
                <a:cs typeface="Calibri" pitchFamily="34" charset="-120"/>
              </a:rPr>
              <a:t>* Nuevos roles propuestos</a:t>
            </a:r>
            <a:endParaRPr lang="en-US" sz="1000" dirty="0"/>
          </a:p>
        </p:txBody>
      </p:sp>
      <p:sp>
        <p:nvSpPr>
          <p:cNvPr id="34" name="Shape 32"/>
          <p:cNvSpPr/>
          <p:nvPr/>
        </p:nvSpPr>
        <p:spPr>
          <a:xfrm>
            <a:off x="5029200" y="3886200"/>
            <a:ext cx="292608" cy="201168"/>
          </a:xfrm>
          <a:prstGeom prst="rect">
            <a:avLst/>
          </a:prstGeom>
          <a:solidFill>
            <a:srgbClr val="147CE5"/>
          </a:solidFill>
          <a:ln w="12700">
            <a:solidFill>
              <a:srgbClr val="147CE5"/>
            </a:solidFill>
            <a:prstDash val="solid"/>
          </a:ln>
        </p:spPr>
      </p:sp>
      <p:sp>
        <p:nvSpPr>
          <p:cNvPr id="35" name="Text 33"/>
          <p:cNvSpPr/>
          <p:nvPr/>
        </p:nvSpPr>
        <p:spPr>
          <a:xfrm>
            <a:off x="5376672" y="3886200"/>
            <a:ext cx="2743200" cy="256032"/>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Rol nuevo propuesto</a:t>
            </a:r>
            <a:endParaRPr lang="en-US" sz="1000" dirty="0"/>
          </a:p>
        </p:txBody>
      </p:sp>
      <p:sp>
        <p:nvSpPr>
          <p:cNvPr id="36" name="Shape 34"/>
          <p:cNvSpPr/>
          <p:nvPr/>
        </p:nvSpPr>
        <p:spPr>
          <a:xfrm>
            <a:off x="5029200" y="4206240"/>
            <a:ext cx="292608" cy="201168"/>
          </a:xfrm>
          <a:prstGeom prst="rect">
            <a:avLst/>
          </a:prstGeom>
          <a:solidFill>
            <a:srgbClr val="1D1D1F"/>
          </a:solidFill>
          <a:ln w="12700">
            <a:solidFill>
              <a:srgbClr val="1D1D1F"/>
            </a:solidFill>
            <a:prstDash val="solid"/>
          </a:ln>
        </p:spPr>
      </p:sp>
      <p:sp>
        <p:nvSpPr>
          <p:cNvPr id="37" name="Text 35"/>
          <p:cNvSpPr/>
          <p:nvPr/>
        </p:nvSpPr>
        <p:spPr>
          <a:xfrm>
            <a:off x="5376672" y="4206240"/>
            <a:ext cx="3200400" cy="256032"/>
          </a:xfrm>
          <a:prstGeom prst="rect">
            <a:avLst/>
          </a:prstGeom>
          <a:noFill/>
          <a:ln/>
        </p:spPr>
        <p:txBody>
          <a:bodyPr wrap="square" lIns="0" tIns="0" rIns="0" bIns="0" rtlCol="0" anchor="ctr"/>
          <a:lstStyle/>
          <a:p>
            <a:pPr indent="0" marL="0">
              <a:buNone/>
            </a:pPr>
            <a:r>
              <a:rPr lang="en-US" sz="1000" dirty="0">
                <a:solidFill>
                  <a:srgbClr val="6E6E73"/>
                </a:solidFill>
                <a:latin typeface="Calibri" pitchFamily="34" charset="0"/>
                <a:ea typeface="Calibri" pitchFamily="34" charset="-122"/>
                <a:cs typeface="Calibri" pitchFamily="34" charset="-120"/>
              </a:rPr>
              <a:t>Nuevo: Chief AI Platforms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Mapa Operacional</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Text 2"/>
          <p:cNvSpPr/>
          <p:nvPr/>
        </p:nvSpPr>
        <p:spPr>
          <a:xfrm>
            <a:off x="640080" y="1188720"/>
            <a:ext cx="7863840" cy="411480"/>
          </a:xfrm>
          <a:prstGeom prst="rect">
            <a:avLst/>
          </a:prstGeom>
          <a:noFill/>
          <a:ln/>
        </p:spPr>
        <p:txBody>
          <a:bodyPr wrap="square" lIns="0" tIns="0" rIns="0" bIns="0" rtlCol="0" anchor="ctr"/>
          <a:lstStyle/>
          <a:p>
            <a:pPr indent="0" marL="0">
              <a:buNone/>
            </a:pPr>
            <a:r>
              <a:rPr lang="en-US" sz="1150" i="1" dirty="0">
                <a:solidFill>
                  <a:srgbClr val="424245"/>
                </a:solidFill>
                <a:latin typeface="Calibri" pitchFamily="34" charset="0"/>
                <a:ea typeface="Calibri" pitchFamily="34" charset="-122"/>
                <a:cs typeface="Calibri" pitchFamily="34" charset="-120"/>
              </a:rPr>
              <a:t>Gerencia General — Planeacion global, modelo matricial, control por KPIs y ESG</a:t>
            </a:r>
            <a:endParaRPr lang="en-US" sz="1150" dirty="0"/>
          </a:p>
        </p:txBody>
      </p:sp>
      <p:sp>
        <p:nvSpPr>
          <p:cNvPr id="5" name="Shape 3"/>
          <p:cNvSpPr/>
          <p:nvPr/>
        </p:nvSpPr>
        <p:spPr>
          <a:xfrm>
            <a:off x="640080" y="1755648"/>
            <a:ext cx="2542032" cy="1481328"/>
          </a:xfrm>
          <a:prstGeom prst="rect">
            <a:avLst/>
          </a:prstGeom>
          <a:solidFill>
            <a:srgbClr val="F5F5F7"/>
          </a:solidFill>
          <a:ln w="9525">
            <a:solidFill>
              <a:srgbClr val="D1D1D6"/>
            </a:solidFill>
            <a:prstDash val="solid"/>
          </a:ln>
        </p:spPr>
      </p:sp>
      <p:sp>
        <p:nvSpPr>
          <p:cNvPr id="6" name="Shape 4"/>
          <p:cNvSpPr/>
          <p:nvPr/>
        </p:nvSpPr>
        <p:spPr>
          <a:xfrm>
            <a:off x="640080" y="1755648"/>
            <a:ext cx="2542032" cy="45720"/>
          </a:xfrm>
          <a:prstGeom prst="rect">
            <a:avLst/>
          </a:prstGeom>
          <a:solidFill>
            <a:srgbClr val="1D1D1F"/>
          </a:solidFill>
          <a:ln w="12700">
            <a:solidFill>
              <a:srgbClr val="1D1D1F"/>
            </a:solidFill>
            <a:prstDash val="solid"/>
          </a:ln>
        </p:spPr>
      </p:sp>
      <p:sp>
        <p:nvSpPr>
          <p:cNvPr id="7" name="Text 5"/>
          <p:cNvSpPr/>
          <p:nvPr/>
        </p:nvSpPr>
        <p:spPr>
          <a:xfrm>
            <a:off x="777240" y="18470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MARKETING</a:t>
            </a:r>
            <a:endParaRPr lang="en-US" sz="1000" dirty="0"/>
          </a:p>
        </p:txBody>
      </p:sp>
      <p:sp>
        <p:nvSpPr>
          <p:cNvPr id="8" name="Text 6"/>
          <p:cNvSpPr/>
          <p:nvPr/>
        </p:nvSpPr>
        <p:spPr>
          <a:xfrm>
            <a:off x="777240" y="21671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Producto: 5 lineas / 500+ SKUs</a:t>
            </a:r>
            <a:endParaRPr lang="en-US" sz="950" dirty="0"/>
          </a:p>
        </p:txBody>
      </p:sp>
      <p:sp>
        <p:nvSpPr>
          <p:cNvPr id="9" name="Text 7"/>
          <p:cNvSpPr/>
          <p:nvPr/>
        </p:nvSpPr>
        <p:spPr>
          <a:xfrm>
            <a:off x="777240" y="24140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Precio: segmentado por mercado</a:t>
            </a:r>
            <a:endParaRPr lang="en-US" sz="950" dirty="0"/>
          </a:p>
        </p:txBody>
      </p:sp>
      <p:sp>
        <p:nvSpPr>
          <p:cNvPr id="10" name="Text 8"/>
          <p:cNvSpPr/>
          <p:nvPr/>
        </p:nvSpPr>
        <p:spPr>
          <a:xfrm>
            <a:off x="777240" y="26609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Plaza: retail, online, operadores</a:t>
            </a:r>
            <a:endParaRPr lang="en-US" sz="950" dirty="0"/>
          </a:p>
        </p:txBody>
      </p:sp>
      <p:sp>
        <p:nvSpPr>
          <p:cNvPr id="11" name="Text 9"/>
          <p:cNvSpPr/>
          <p:nvPr/>
        </p:nvSpPr>
        <p:spPr>
          <a:xfrm>
            <a:off x="777240" y="29077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Promo: campanas emocionales globales</a:t>
            </a:r>
            <a:endParaRPr lang="en-US" sz="950" dirty="0"/>
          </a:p>
        </p:txBody>
      </p:sp>
      <p:sp>
        <p:nvSpPr>
          <p:cNvPr id="12" name="Shape 10"/>
          <p:cNvSpPr/>
          <p:nvPr/>
        </p:nvSpPr>
        <p:spPr>
          <a:xfrm>
            <a:off x="3383280" y="1755648"/>
            <a:ext cx="2542032" cy="1481328"/>
          </a:xfrm>
          <a:prstGeom prst="rect">
            <a:avLst/>
          </a:prstGeom>
          <a:solidFill>
            <a:srgbClr val="F5F5F7"/>
          </a:solidFill>
          <a:ln w="9525">
            <a:solidFill>
              <a:srgbClr val="D1D1D6"/>
            </a:solidFill>
            <a:prstDash val="solid"/>
          </a:ln>
        </p:spPr>
      </p:sp>
      <p:sp>
        <p:nvSpPr>
          <p:cNvPr id="13" name="Shape 11"/>
          <p:cNvSpPr/>
          <p:nvPr/>
        </p:nvSpPr>
        <p:spPr>
          <a:xfrm>
            <a:off x="3383280" y="1755648"/>
            <a:ext cx="2542032" cy="45720"/>
          </a:xfrm>
          <a:prstGeom prst="rect">
            <a:avLst/>
          </a:prstGeom>
          <a:solidFill>
            <a:srgbClr val="1D1D1F"/>
          </a:solidFill>
          <a:ln w="12700">
            <a:solidFill>
              <a:srgbClr val="1D1D1F"/>
            </a:solidFill>
            <a:prstDash val="solid"/>
          </a:ln>
        </p:spPr>
      </p:sp>
      <p:sp>
        <p:nvSpPr>
          <p:cNvPr id="14" name="Text 12"/>
          <p:cNvSpPr/>
          <p:nvPr/>
        </p:nvSpPr>
        <p:spPr>
          <a:xfrm>
            <a:off x="3520440" y="18470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FINANZAS</a:t>
            </a:r>
            <a:endParaRPr lang="en-US" sz="1000" dirty="0"/>
          </a:p>
        </p:txBody>
      </p:sp>
      <p:sp>
        <p:nvSpPr>
          <p:cNvPr id="15" name="Text 13"/>
          <p:cNvSpPr/>
          <p:nvPr/>
        </p:nvSpPr>
        <p:spPr>
          <a:xfrm>
            <a:off x="3520440" y="21671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Inversion: adquisicion de startups IA</a:t>
            </a:r>
            <a:endParaRPr lang="en-US" sz="950" dirty="0"/>
          </a:p>
        </p:txBody>
      </p:sp>
      <p:sp>
        <p:nvSpPr>
          <p:cNvPr id="16" name="Text 14"/>
          <p:cNvSpPr/>
          <p:nvPr/>
        </p:nvSpPr>
        <p:spPr>
          <a:xfrm>
            <a:off x="3520440" y="24140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Financiamiento: deuda low-cost + caja</a:t>
            </a:r>
            <a:endParaRPr lang="en-US" sz="950" dirty="0"/>
          </a:p>
        </p:txBody>
      </p:sp>
      <p:sp>
        <p:nvSpPr>
          <p:cNvPr id="17" name="Text 15"/>
          <p:cNvSpPr/>
          <p:nvPr/>
        </p:nvSpPr>
        <p:spPr>
          <a:xfrm>
            <a:off x="3520440" y="26609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Disciplina financiera: buybacks activos</a:t>
            </a:r>
            <a:endParaRPr lang="en-US" sz="950" dirty="0"/>
          </a:p>
        </p:txBody>
      </p:sp>
      <p:sp>
        <p:nvSpPr>
          <p:cNvPr id="18" name="Text 16"/>
          <p:cNvSpPr/>
          <p:nvPr/>
        </p:nvSpPr>
        <p:spPr>
          <a:xfrm>
            <a:off x="3520440" y="29077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Alta generacion de free cash flow</a:t>
            </a:r>
            <a:endParaRPr lang="en-US" sz="950" dirty="0"/>
          </a:p>
        </p:txBody>
      </p:sp>
      <p:sp>
        <p:nvSpPr>
          <p:cNvPr id="19" name="Shape 17"/>
          <p:cNvSpPr/>
          <p:nvPr/>
        </p:nvSpPr>
        <p:spPr>
          <a:xfrm>
            <a:off x="6126480" y="1755648"/>
            <a:ext cx="2542032" cy="1481328"/>
          </a:xfrm>
          <a:prstGeom prst="rect">
            <a:avLst/>
          </a:prstGeom>
          <a:solidFill>
            <a:srgbClr val="F5F5F7"/>
          </a:solidFill>
          <a:ln w="9525">
            <a:solidFill>
              <a:srgbClr val="D1D1D6"/>
            </a:solidFill>
            <a:prstDash val="solid"/>
          </a:ln>
        </p:spPr>
      </p:sp>
      <p:sp>
        <p:nvSpPr>
          <p:cNvPr id="20" name="Shape 18"/>
          <p:cNvSpPr/>
          <p:nvPr/>
        </p:nvSpPr>
        <p:spPr>
          <a:xfrm>
            <a:off x="6126480" y="1755648"/>
            <a:ext cx="2542032" cy="45720"/>
          </a:xfrm>
          <a:prstGeom prst="rect">
            <a:avLst/>
          </a:prstGeom>
          <a:solidFill>
            <a:srgbClr val="1D1D1F"/>
          </a:solidFill>
          <a:ln w="12700">
            <a:solidFill>
              <a:srgbClr val="1D1D1F"/>
            </a:solidFill>
            <a:prstDash val="solid"/>
          </a:ln>
        </p:spPr>
      </p:sp>
      <p:sp>
        <p:nvSpPr>
          <p:cNvPr id="21" name="Text 19"/>
          <p:cNvSpPr/>
          <p:nvPr/>
        </p:nvSpPr>
        <p:spPr>
          <a:xfrm>
            <a:off x="6263640" y="18470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PRODUCCION</a:t>
            </a:r>
            <a:endParaRPr lang="en-US" sz="1000" dirty="0"/>
          </a:p>
        </p:txBody>
      </p:sp>
      <p:sp>
        <p:nvSpPr>
          <p:cNvPr id="22" name="Text 20"/>
          <p:cNvSpPr/>
          <p:nvPr/>
        </p:nvSpPr>
        <p:spPr>
          <a:xfrm>
            <a:off x="6263640" y="21671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Silicon: TSMC 3nm (A18, M4)</a:t>
            </a:r>
            <a:endParaRPr lang="en-US" sz="950" dirty="0"/>
          </a:p>
        </p:txBody>
      </p:sp>
      <p:sp>
        <p:nvSpPr>
          <p:cNvPr id="23" name="Text 21"/>
          <p:cNvSpPr/>
          <p:nvPr/>
        </p:nvSpPr>
        <p:spPr>
          <a:xfrm>
            <a:off x="6263640" y="24140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Ensamblaje: Foxconn, diversificando India</a:t>
            </a:r>
            <a:endParaRPr lang="en-US" sz="950" dirty="0"/>
          </a:p>
        </p:txBody>
      </p:sp>
      <p:sp>
        <p:nvSpPr>
          <p:cNvPr id="24" name="Text 22"/>
          <p:cNvSpPr/>
          <p:nvPr/>
        </p:nvSpPr>
        <p:spPr>
          <a:xfrm>
            <a:off x="6263640" y="26609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Calidad: estandares ISO propios</a:t>
            </a:r>
            <a:endParaRPr lang="en-US" sz="950" dirty="0"/>
          </a:p>
        </p:txBody>
      </p:sp>
      <p:sp>
        <p:nvSpPr>
          <p:cNvPr id="25" name="Text 23"/>
          <p:cNvSpPr/>
          <p:nvPr/>
        </p:nvSpPr>
        <p:spPr>
          <a:xfrm>
            <a:off x="6263640" y="29077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Inventario: gestion lean globalizada</a:t>
            </a:r>
            <a:endParaRPr lang="en-US" sz="950" dirty="0"/>
          </a:p>
        </p:txBody>
      </p:sp>
      <p:sp>
        <p:nvSpPr>
          <p:cNvPr id="26" name="Shape 24"/>
          <p:cNvSpPr/>
          <p:nvPr/>
        </p:nvSpPr>
        <p:spPr>
          <a:xfrm>
            <a:off x="640080" y="3355848"/>
            <a:ext cx="2542032" cy="1481328"/>
          </a:xfrm>
          <a:prstGeom prst="rect">
            <a:avLst/>
          </a:prstGeom>
          <a:solidFill>
            <a:srgbClr val="F5F5F7"/>
          </a:solidFill>
          <a:ln w="9525">
            <a:solidFill>
              <a:srgbClr val="D1D1D6"/>
            </a:solidFill>
            <a:prstDash val="solid"/>
          </a:ln>
        </p:spPr>
      </p:sp>
      <p:sp>
        <p:nvSpPr>
          <p:cNvPr id="27" name="Shape 25"/>
          <p:cNvSpPr/>
          <p:nvPr/>
        </p:nvSpPr>
        <p:spPr>
          <a:xfrm>
            <a:off x="640080" y="3355848"/>
            <a:ext cx="2542032" cy="45720"/>
          </a:xfrm>
          <a:prstGeom prst="rect">
            <a:avLst/>
          </a:prstGeom>
          <a:solidFill>
            <a:srgbClr val="1D1D1F"/>
          </a:solidFill>
          <a:ln w="12700">
            <a:solidFill>
              <a:srgbClr val="1D1D1F"/>
            </a:solidFill>
            <a:prstDash val="solid"/>
          </a:ln>
        </p:spPr>
      </p:sp>
      <p:sp>
        <p:nvSpPr>
          <p:cNvPr id="28" name="Text 26"/>
          <p:cNvSpPr/>
          <p:nvPr/>
        </p:nvSpPr>
        <p:spPr>
          <a:xfrm>
            <a:off x="777240" y="34472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RRHH</a:t>
            </a:r>
            <a:endParaRPr lang="en-US" sz="1000" dirty="0"/>
          </a:p>
        </p:txBody>
      </p:sp>
      <p:sp>
        <p:nvSpPr>
          <p:cNvPr id="29" name="Text 27"/>
          <p:cNvSpPr/>
          <p:nvPr/>
        </p:nvSpPr>
        <p:spPr>
          <a:xfrm>
            <a:off x="777240" y="37673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~164,000 empleados directos</a:t>
            </a:r>
            <a:endParaRPr lang="en-US" sz="950" dirty="0"/>
          </a:p>
        </p:txBody>
      </p:sp>
      <p:sp>
        <p:nvSpPr>
          <p:cNvPr id="30" name="Text 28"/>
          <p:cNvSpPr/>
          <p:nvPr/>
        </p:nvSpPr>
        <p:spPr>
          <a:xfrm>
            <a:off x="777240" y="40142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Cultura: confidencialidad y excelencia</a:t>
            </a:r>
            <a:endParaRPr lang="en-US" sz="950" dirty="0"/>
          </a:p>
        </p:txBody>
      </p:sp>
      <p:sp>
        <p:nvSpPr>
          <p:cNvPr id="31" name="Text 29"/>
          <p:cNvSpPr/>
          <p:nvPr/>
        </p:nvSpPr>
        <p:spPr>
          <a:xfrm>
            <a:off x="777240" y="42611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Retencion alta en ingenieria top</a:t>
            </a:r>
            <a:endParaRPr lang="en-US" sz="950" dirty="0"/>
          </a:p>
        </p:txBody>
      </p:sp>
      <p:sp>
        <p:nvSpPr>
          <p:cNvPr id="32" name="Text 30"/>
          <p:cNvSpPr/>
          <p:nvPr/>
        </p:nvSpPr>
        <p:spPr>
          <a:xfrm>
            <a:off x="777240" y="45079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Programas internos de liderazgo</a:t>
            </a:r>
            <a:endParaRPr lang="en-US" sz="950" dirty="0"/>
          </a:p>
        </p:txBody>
      </p:sp>
      <p:sp>
        <p:nvSpPr>
          <p:cNvPr id="33" name="Shape 31"/>
          <p:cNvSpPr/>
          <p:nvPr/>
        </p:nvSpPr>
        <p:spPr>
          <a:xfrm>
            <a:off x="3383280" y="3355848"/>
            <a:ext cx="2542032" cy="1481328"/>
          </a:xfrm>
          <a:prstGeom prst="rect">
            <a:avLst/>
          </a:prstGeom>
          <a:solidFill>
            <a:srgbClr val="F5F5F7"/>
          </a:solidFill>
          <a:ln w="9525">
            <a:solidFill>
              <a:srgbClr val="D1D1D6"/>
            </a:solidFill>
            <a:prstDash val="solid"/>
          </a:ln>
        </p:spPr>
      </p:sp>
      <p:sp>
        <p:nvSpPr>
          <p:cNvPr id="34" name="Shape 32"/>
          <p:cNvSpPr/>
          <p:nvPr/>
        </p:nvSpPr>
        <p:spPr>
          <a:xfrm>
            <a:off x="3383280" y="3355848"/>
            <a:ext cx="2542032" cy="45720"/>
          </a:xfrm>
          <a:prstGeom prst="rect">
            <a:avLst/>
          </a:prstGeom>
          <a:solidFill>
            <a:srgbClr val="1D1D1F"/>
          </a:solidFill>
          <a:ln w="12700">
            <a:solidFill>
              <a:srgbClr val="1D1D1F"/>
            </a:solidFill>
            <a:prstDash val="solid"/>
          </a:ln>
        </p:spPr>
      </p:sp>
      <p:sp>
        <p:nvSpPr>
          <p:cNvPr id="35" name="Text 33"/>
          <p:cNvSpPr/>
          <p:nvPr/>
        </p:nvSpPr>
        <p:spPr>
          <a:xfrm>
            <a:off x="3520440" y="34472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I+D</a:t>
            </a:r>
            <a:endParaRPr lang="en-US" sz="1000" dirty="0"/>
          </a:p>
        </p:txBody>
      </p:sp>
      <p:sp>
        <p:nvSpPr>
          <p:cNvPr id="36" name="Text 34"/>
          <p:cNvSpPr/>
          <p:nvPr/>
        </p:nvSpPr>
        <p:spPr>
          <a:xfrm>
            <a:off x="3520440" y="37673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$34.6B invertidos en 2025</a:t>
            </a:r>
            <a:endParaRPr lang="en-US" sz="950" dirty="0"/>
          </a:p>
        </p:txBody>
      </p:sp>
      <p:sp>
        <p:nvSpPr>
          <p:cNvPr id="37" name="Text 35"/>
          <p:cNvSpPr/>
          <p:nvPr/>
        </p:nvSpPr>
        <p:spPr>
          <a:xfrm>
            <a:off x="3520440" y="40142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Silicon, IA on-device, AR/VR</a:t>
            </a:r>
            <a:endParaRPr lang="en-US" sz="950" dirty="0"/>
          </a:p>
        </p:txBody>
      </p:sp>
      <p:sp>
        <p:nvSpPr>
          <p:cNvPr id="38" name="Text 36"/>
          <p:cNvSpPr/>
          <p:nvPr/>
        </p:nvSpPr>
        <p:spPr>
          <a:xfrm>
            <a:off x="3520440" y="42611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Vision Pro como plataforma futura</a:t>
            </a:r>
            <a:endParaRPr lang="en-US" sz="950" dirty="0"/>
          </a:p>
        </p:txBody>
      </p:sp>
      <p:sp>
        <p:nvSpPr>
          <p:cNvPr id="39" name="Text 37"/>
          <p:cNvSpPr/>
          <p:nvPr/>
        </p:nvSpPr>
        <p:spPr>
          <a:xfrm>
            <a:off x="3520440" y="45079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Alianzas estrategicas seleccionadas</a:t>
            </a:r>
            <a:endParaRPr lang="en-US" sz="950" dirty="0"/>
          </a:p>
        </p:txBody>
      </p:sp>
      <p:sp>
        <p:nvSpPr>
          <p:cNvPr id="40" name="Shape 38"/>
          <p:cNvSpPr/>
          <p:nvPr/>
        </p:nvSpPr>
        <p:spPr>
          <a:xfrm>
            <a:off x="6126480" y="3355848"/>
            <a:ext cx="2542032" cy="1481328"/>
          </a:xfrm>
          <a:prstGeom prst="rect">
            <a:avLst/>
          </a:prstGeom>
          <a:solidFill>
            <a:srgbClr val="F5F5F7"/>
          </a:solidFill>
          <a:ln w="9525">
            <a:solidFill>
              <a:srgbClr val="D1D1D6"/>
            </a:solidFill>
            <a:prstDash val="solid"/>
          </a:ln>
        </p:spPr>
      </p:sp>
      <p:sp>
        <p:nvSpPr>
          <p:cNvPr id="41" name="Shape 39"/>
          <p:cNvSpPr/>
          <p:nvPr/>
        </p:nvSpPr>
        <p:spPr>
          <a:xfrm>
            <a:off x="6126480" y="3355848"/>
            <a:ext cx="2542032" cy="45720"/>
          </a:xfrm>
          <a:prstGeom prst="rect">
            <a:avLst/>
          </a:prstGeom>
          <a:solidFill>
            <a:srgbClr val="1D1D1F"/>
          </a:solidFill>
          <a:ln w="12700">
            <a:solidFill>
              <a:srgbClr val="1D1D1F"/>
            </a:solidFill>
            <a:prstDash val="solid"/>
          </a:ln>
        </p:spPr>
      </p:sp>
      <p:sp>
        <p:nvSpPr>
          <p:cNvPr id="42" name="Text 40"/>
          <p:cNvSpPr/>
          <p:nvPr/>
        </p:nvSpPr>
        <p:spPr>
          <a:xfrm>
            <a:off x="6263640" y="3447288"/>
            <a:ext cx="2286000" cy="292608"/>
          </a:xfrm>
          <a:prstGeom prst="rect">
            <a:avLst/>
          </a:prstGeom>
          <a:noFill/>
          <a:ln/>
        </p:spPr>
        <p:txBody>
          <a:bodyPr wrap="square" lIns="0" tIns="0" rIns="0" bIns="0" rtlCol="0" anchor="ctr"/>
          <a:lstStyle/>
          <a:p>
            <a:pPr indent="0" marL="0">
              <a:buNone/>
            </a:pPr>
            <a:r>
              <a:rPr lang="en-US" sz="1000" b="1" spc="100" kern="0" dirty="0">
                <a:solidFill>
                  <a:srgbClr val="1D1D1F"/>
                </a:solidFill>
                <a:latin typeface="Calibri" pitchFamily="34" charset="0"/>
                <a:ea typeface="Calibri" pitchFamily="34" charset="-122"/>
                <a:cs typeface="Calibri" pitchFamily="34" charset="-120"/>
              </a:rPr>
              <a:t>SISTEMAS (MIS)</a:t>
            </a:r>
            <a:endParaRPr lang="en-US" sz="1000" dirty="0"/>
          </a:p>
        </p:txBody>
      </p:sp>
      <p:sp>
        <p:nvSpPr>
          <p:cNvPr id="43" name="Text 41"/>
          <p:cNvSpPr/>
          <p:nvPr/>
        </p:nvSpPr>
        <p:spPr>
          <a:xfrm>
            <a:off x="6263640" y="3767328"/>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ERP global para supply chain</a:t>
            </a:r>
            <a:endParaRPr lang="en-US" sz="950" dirty="0"/>
          </a:p>
        </p:txBody>
      </p:sp>
      <p:sp>
        <p:nvSpPr>
          <p:cNvPr id="44" name="Text 42"/>
          <p:cNvSpPr/>
          <p:nvPr/>
        </p:nvSpPr>
        <p:spPr>
          <a:xfrm>
            <a:off x="6263640" y="4014216"/>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Data analytics de comportamiento</a:t>
            </a:r>
            <a:endParaRPr lang="en-US" sz="950" dirty="0"/>
          </a:p>
        </p:txBody>
      </p:sp>
      <p:sp>
        <p:nvSpPr>
          <p:cNvPr id="45" name="Text 43"/>
          <p:cNvSpPr/>
          <p:nvPr/>
        </p:nvSpPr>
        <p:spPr>
          <a:xfrm>
            <a:off x="6263640" y="4261104"/>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Plataformas propias de distribución B2B</a:t>
            </a:r>
            <a:endParaRPr lang="en-US" sz="950" dirty="0"/>
          </a:p>
        </p:txBody>
      </p:sp>
      <p:sp>
        <p:nvSpPr>
          <p:cNvPr id="46" name="Text 44"/>
          <p:cNvSpPr/>
          <p:nvPr/>
        </p:nvSpPr>
        <p:spPr>
          <a:xfrm>
            <a:off x="6263640" y="4507992"/>
            <a:ext cx="2286000" cy="237744"/>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IA integrada en procesos internos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Cadena de Valor — Apple</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502920"/>
          </a:xfrm>
          <a:prstGeom prst="rect">
            <a:avLst/>
          </a:prstGeom>
          <a:solidFill>
            <a:srgbClr val="FFFFFF"/>
          </a:solidFill>
          <a:ln w="9525">
            <a:solidFill>
              <a:srgbClr val="D1D1D6"/>
            </a:solidFill>
            <a:prstDash val="solid"/>
          </a:ln>
        </p:spPr>
      </p:sp>
      <p:sp>
        <p:nvSpPr>
          <p:cNvPr id="5" name="Text 3"/>
          <p:cNvSpPr/>
          <p:nvPr/>
        </p:nvSpPr>
        <p:spPr>
          <a:xfrm>
            <a:off x="822960" y="1298448"/>
            <a:ext cx="1463040" cy="201168"/>
          </a:xfrm>
          <a:prstGeom prst="rect">
            <a:avLst/>
          </a:prstGeom>
          <a:noFill/>
          <a:ln/>
        </p:spPr>
        <p:txBody>
          <a:bodyPr wrap="square" lIns="0" tIns="0" rIns="0" bIns="0" rtlCol="0" anchor="ctr"/>
          <a:lstStyle/>
          <a:p>
            <a:pPr indent="0" marL="0">
              <a:buNone/>
            </a:pPr>
            <a:r>
              <a:rPr lang="en-US" sz="750" b="1" spc="100" kern="0" dirty="0">
                <a:solidFill>
                  <a:srgbClr val="6E6E73"/>
                </a:solidFill>
                <a:latin typeface="Calibri" pitchFamily="34" charset="0"/>
                <a:ea typeface="Calibri" pitchFamily="34" charset="-122"/>
                <a:cs typeface="Calibri" pitchFamily="34" charset="-120"/>
              </a:rPr>
              <a:t>ACTIVIDADES DE APOYO</a:t>
            </a:r>
            <a:endParaRPr lang="en-US" sz="750" dirty="0"/>
          </a:p>
        </p:txBody>
      </p:sp>
      <p:sp>
        <p:nvSpPr>
          <p:cNvPr id="6" name="Text 4"/>
          <p:cNvSpPr/>
          <p:nvPr/>
        </p:nvSpPr>
        <p:spPr>
          <a:xfrm>
            <a:off x="2560320" y="1335024"/>
            <a:ext cx="1508760" cy="347472"/>
          </a:xfrm>
          <a:prstGeom prst="rect">
            <a:avLst/>
          </a:prstGeom>
          <a:noFill/>
          <a:ln/>
        </p:spPr>
        <p:txBody>
          <a:bodyPr wrap="square" lIns="0" tIns="0" rIns="0" bIns="0" rtlCol="0" anchor="ctr"/>
          <a:lstStyle/>
          <a:p>
            <a:pPr indent="0" marL="0">
              <a:buNone/>
            </a:pPr>
            <a:r>
              <a:rPr lang="en-US" sz="900" dirty="0">
                <a:solidFill>
                  <a:srgbClr val="424245"/>
                </a:solidFill>
                <a:latin typeface="Calibri" pitchFamily="34" charset="0"/>
                <a:ea typeface="Calibri" pitchFamily="34" charset="-122"/>
                <a:cs typeface="Calibri" pitchFamily="34" charset="-120"/>
              </a:rPr>
              <a:t>· Infraestructura corporativa global</a:t>
            </a:r>
            <a:endParaRPr lang="en-US" sz="900" dirty="0"/>
          </a:p>
        </p:txBody>
      </p:sp>
      <p:sp>
        <p:nvSpPr>
          <p:cNvPr id="7" name="Text 5"/>
          <p:cNvSpPr/>
          <p:nvPr/>
        </p:nvSpPr>
        <p:spPr>
          <a:xfrm>
            <a:off x="4114800" y="1335024"/>
            <a:ext cx="1508760" cy="347472"/>
          </a:xfrm>
          <a:prstGeom prst="rect">
            <a:avLst/>
          </a:prstGeom>
          <a:noFill/>
          <a:ln/>
        </p:spPr>
        <p:txBody>
          <a:bodyPr wrap="square" lIns="0" tIns="0" rIns="0" bIns="0" rtlCol="0" anchor="ctr"/>
          <a:lstStyle/>
          <a:p>
            <a:pPr indent="0" marL="0">
              <a:buNone/>
            </a:pPr>
            <a:r>
              <a:rPr lang="en-US" sz="900" dirty="0">
                <a:solidFill>
                  <a:srgbClr val="424245"/>
                </a:solidFill>
                <a:latin typeface="Calibri" pitchFamily="34" charset="0"/>
                <a:ea typeface="Calibri" pitchFamily="34" charset="-122"/>
                <a:cs typeface="Calibri" pitchFamily="34" charset="-120"/>
              </a:rPr>
              <a:t>· RRHH: cultura, talento y capacitacion</a:t>
            </a:r>
            <a:endParaRPr lang="en-US" sz="900" dirty="0"/>
          </a:p>
        </p:txBody>
      </p:sp>
      <p:sp>
        <p:nvSpPr>
          <p:cNvPr id="8" name="Text 6"/>
          <p:cNvSpPr/>
          <p:nvPr/>
        </p:nvSpPr>
        <p:spPr>
          <a:xfrm>
            <a:off x="5669280" y="1335024"/>
            <a:ext cx="1508760" cy="347472"/>
          </a:xfrm>
          <a:prstGeom prst="rect">
            <a:avLst/>
          </a:prstGeom>
          <a:noFill/>
          <a:ln/>
        </p:spPr>
        <p:txBody>
          <a:bodyPr wrap="square" lIns="0" tIns="0" rIns="0" bIns="0" rtlCol="0" anchor="ctr"/>
          <a:lstStyle/>
          <a:p>
            <a:pPr indent="0" marL="0">
              <a:buNone/>
            </a:pPr>
            <a:r>
              <a:rPr lang="en-US" sz="900" dirty="0">
                <a:solidFill>
                  <a:srgbClr val="424245"/>
                </a:solidFill>
                <a:latin typeface="Calibri" pitchFamily="34" charset="0"/>
                <a:ea typeface="Calibri" pitchFamily="34" charset="-122"/>
                <a:cs typeface="Calibri" pitchFamily="34" charset="-120"/>
              </a:rPr>
              <a:t>· Tecnologia: silicon propio, I+D</a:t>
            </a:r>
            <a:endParaRPr lang="en-US" sz="900" dirty="0"/>
          </a:p>
        </p:txBody>
      </p:sp>
      <p:sp>
        <p:nvSpPr>
          <p:cNvPr id="9" name="Text 7"/>
          <p:cNvSpPr/>
          <p:nvPr/>
        </p:nvSpPr>
        <p:spPr>
          <a:xfrm>
            <a:off x="7223760" y="1335024"/>
            <a:ext cx="1508760" cy="347472"/>
          </a:xfrm>
          <a:prstGeom prst="rect">
            <a:avLst/>
          </a:prstGeom>
          <a:noFill/>
          <a:ln/>
        </p:spPr>
        <p:txBody>
          <a:bodyPr wrap="square" lIns="0" tIns="0" rIns="0" bIns="0" rtlCol="0" anchor="ctr"/>
          <a:lstStyle/>
          <a:p>
            <a:pPr indent="0" marL="0">
              <a:buNone/>
            </a:pPr>
            <a:r>
              <a:rPr lang="en-US" sz="900" dirty="0">
                <a:solidFill>
                  <a:srgbClr val="424245"/>
                </a:solidFill>
                <a:latin typeface="Calibri" pitchFamily="34" charset="0"/>
                <a:ea typeface="Calibri" pitchFamily="34" charset="-122"/>
                <a:cs typeface="Calibri" pitchFamily="34" charset="-120"/>
              </a:rPr>
              <a:t>· Compras: proveedores globales</a:t>
            </a:r>
            <a:endParaRPr lang="en-US" sz="900" dirty="0"/>
          </a:p>
        </p:txBody>
      </p:sp>
      <p:sp>
        <p:nvSpPr>
          <p:cNvPr id="10" name="Shape 8"/>
          <p:cNvSpPr/>
          <p:nvPr/>
        </p:nvSpPr>
        <p:spPr>
          <a:xfrm>
            <a:off x="640080" y="1874520"/>
            <a:ext cx="1481328" cy="2606040"/>
          </a:xfrm>
          <a:prstGeom prst="rect">
            <a:avLst/>
          </a:prstGeom>
          <a:solidFill>
            <a:srgbClr val="FFFFFF"/>
          </a:solidFill>
          <a:ln w="9525">
            <a:solidFill>
              <a:srgbClr val="D1D1D6"/>
            </a:solidFill>
            <a:prstDash val="solid"/>
          </a:ln>
        </p:spPr>
      </p:sp>
      <p:sp>
        <p:nvSpPr>
          <p:cNvPr id="11" name="Shape 9"/>
          <p:cNvSpPr/>
          <p:nvPr/>
        </p:nvSpPr>
        <p:spPr>
          <a:xfrm>
            <a:off x="640080" y="1874520"/>
            <a:ext cx="1481328" cy="45720"/>
          </a:xfrm>
          <a:prstGeom prst="rect">
            <a:avLst/>
          </a:prstGeom>
          <a:solidFill>
            <a:srgbClr val="1D1D1F"/>
          </a:solidFill>
          <a:ln w="12700">
            <a:solidFill>
              <a:srgbClr val="1D1D1F"/>
            </a:solidFill>
            <a:prstDash val="solid"/>
          </a:ln>
        </p:spPr>
      </p:sp>
      <p:sp>
        <p:nvSpPr>
          <p:cNvPr id="12" name="Text 10"/>
          <p:cNvSpPr/>
          <p:nvPr/>
        </p:nvSpPr>
        <p:spPr>
          <a:xfrm>
            <a:off x="731520" y="1938528"/>
            <a:ext cx="1298448" cy="502920"/>
          </a:xfrm>
          <a:prstGeom prst="rect">
            <a:avLst/>
          </a:prstGeom>
          <a:noFill/>
          <a:ln/>
        </p:spPr>
        <p:txBody>
          <a:bodyPr wrap="square" lIns="0" tIns="0" rIns="0" bIns="0" rtlCol="0" anchor="ctr"/>
          <a:lstStyle/>
          <a:p>
            <a:pPr indent="0" marL="0">
              <a:buNone/>
            </a:pPr>
            <a:r>
              <a:rPr lang="en-US" sz="1050" b="1" dirty="0">
                <a:solidFill>
                  <a:srgbClr val="1D1D1F"/>
                </a:solidFill>
                <a:latin typeface="Calibri" pitchFamily="34" charset="0"/>
                <a:ea typeface="Calibri" pitchFamily="34" charset="-122"/>
                <a:cs typeface="Calibri" pitchFamily="34" charset="-120"/>
              </a:rPr>
              <a:t>Logistica</a:t>
            </a:r>
            <a:endParaRPr lang="en-US" sz="1050" dirty="0"/>
          </a:p>
          <a:p>
            <a:pPr indent="0" marL="0">
              <a:buNone/>
            </a:pPr>
            <a:r>
              <a:rPr lang="en-US" sz="1050" b="1" dirty="0">
                <a:solidFill>
                  <a:srgbClr val="1D1D1F"/>
                </a:solidFill>
                <a:latin typeface="Calibri" pitchFamily="34" charset="0"/>
                <a:ea typeface="Calibri" pitchFamily="34" charset="-122"/>
                <a:cs typeface="Calibri" pitchFamily="34" charset="-120"/>
              </a:rPr>
              <a:t>Entrada</a:t>
            </a:r>
            <a:endParaRPr lang="en-US" sz="1050" dirty="0"/>
          </a:p>
        </p:txBody>
      </p:sp>
      <p:sp>
        <p:nvSpPr>
          <p:cNvPr id="13" name="Text 11"/>
          <p:cNvSpPr/>
          <p:nvPr/>
        </p:nvSpPr>
        <p:spPr>
          <a:xfrm>
            <a:off x="731520" y="2487168"/>
            <a:ext cx="1298448" cy="160020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Materias primas</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Silicon TSMC</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Componentes Asia</a:t>
            </a:r>
            <a:endParaRPr lang="en-US" sz="950" dirty="0"/>
          </a:p>
        </p:txBody>
      </p:sp>
      <p:sp>
        <p:nvSpPr>
          <p:cNvPr id="14" name="Shape 12"/>
          <p:cNvSpPr/>
          <p:nvPr/>
        </p:nvSpPr>
        <p:spPr>
          <a:xfrm>
            <a:off x="2231136" y="1874520"/>
            <a:ext cx="1481328" cy="2606040"/>
          </a:xfrm>
          <a:prstGeom prst="rect">
            <a:avLst/>
          </a:prstGeom>
          <a:solidFill>
            <a:srgbClr val="FFFFFF"/>
          </a:solidFill>
          <a:ln w="9525">
            <a:solidFill>
              <a:srgbClr val="D1D1D6"/>
            </a:solidFill>
            <a:prstDash val="solid"/>
          </a:ln>
        </p:spPr>
      </p:sp>
      <p:sp>
        <p:nvSpPr>
          <p:cNvPr id="15" name="Shape 13"/>
          <p:cNvSpPr/>
          <p:nvPr/>
        </p:nvSpPr>
        <p:spPr>
          <a:xfrm>
            <a:off x="2231136" y="1874520"/>
            <a:ext cx="1481328" cy="45720"/>
          </a:xfrm>
          <a:prstGeom prst="rect">
            <a:avLst/>
          </a:prstGeom>
          <a:solidFill>
            <a:srgbClr val="1D1D1F"/>
          </a:solidFill>
          <a:ln w="12700">
            <a:solidFill>
              <a:srgbClr val="1D1D1F"/>
            </a:solidFill>
            <a:prstDash val="solid"/>
          </a:ln>
        </p:spPr>
      </p:sp>
      <p:sp>
        <p:nvSpPr>
          <p:cNvPr id="16" name="Text 14"/>
          <p:cNvSpPr/>
          <p:nvPr/>
        </p:nvSpPr>
        <p:spPr>
          <a:xfrm>
            <a:off x="2322576" y="1938528"/>
            <a:ext cx="1298448" cy="502920"/>
          </a:xfrm>
          <a:prstGeom prst="rect">
            <a:avLst/>
          </a:prstGeom>
          <a:noFill/>
          <a:ln/>
        </p:spPr>
        <p:txBody>
          <a:bodyPr wrap="square" lIns="0" tIns="0" rIns="0" bIns="0" rtlCol="0" anchor="ctr"/>
          <a:lstStyle/>
          <a:p>
            <a:pPr indent="0" marL="0">
              <a:buNone/>
            </a:pPr>
            <a:r>
              <a:rPr lang="en-US" sz="1050" b="1" dirty="0">
                <a:solidFill>
                  <a:srgbClr val="1D1D1F"/>
                </a:solidFill>
                <a:latin typeface="Calibri" pitchFamily="34" charset="0"/>
                <a:ea typeface="Calibri" pitchFamily="34" charset="-122"/>
                <a:cs typeface="Calibri" pitchFamily="34" charset="-120"/>
              </a:rPr>
              <a:t>Operaciones</a:t>
            </a:r>
            <a:endParaRPr lang="en-US" sz="1050" dirty="0"/>
          </a:p>
        </p:txBody>
      </p:sp>
      <p:sp>
        <p:nvSpPr>
          <p:cNvPr id="17" name="Text 15"/>
          <p:cNvSpPr/>
          <p:nvPr/>
        </p:nvSpPr>
        <p:spPr>
          <a:xfrm>
            <a:off x="2322576" y="2487168"/>
            <a:ext cx="1298448" cy="160020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Ensamblaje</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Foxconn + India</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Control calidad</a:t>
            </a:r>
            <a:endParaRPr lang="en-US" sz="950" dirty="0"/>
          </a:p>
        </p:txBody>
      </p:sp>
      <p:sp>
        <p:nvSpPr>
          <p:cNvPr id="18" name="Shape 16"/>
          <p:cNvSpPr/>
          <p:nvPr/>
        </p:nvSpPr>
        <p:spPr>
          <a:xfrm>
            <a:off x="3822192" y="1874520"/>
            <a:ext cx="1481328" cy="2606040"/>
          </a:xfrm>
          <a:prstGeom prst="rect">
            <a:avLst/>
          </a:prstGeom>
          <a:solidFill>
            <a:srgbClr val="FFFFFF"/>
          </a:solidFill>
          <a:ln w="9525">
            <a:solidFill>
              <a:srgbClr val="D1D1D6"/>
            </a:solidFill>
            <a:prstDash val="solid"/>
          </a:ln>
        </p:spPr>
      </p:sp>
      <p:sp>
        <p:nvSpPr>
          <p:cNvPr id="19" name="Shape 17"/>
          <p:cNvSpPr/>
          <p:nvPr/>
        </p:nvSpPr>
        <p:spPr>
          <a:xfrm>
            <a:off x="3822192" y="1874520"/>
            <a:ext cx="1481328" cy="45720"/>
          </a:xfrm>
          <a:prstGeom prst="rect">
            <a:avLst/>
          </a:prstGeom>
          <a:solidFill>
            <a:srgbClr val="1D1D1F"/>
          </a:solidFill>
          <a:ln w="12700">
            <a:solidFill>
              <a:srgbClr val="1D1D1F"/>
            </a:solidFill>
            <a:prstDash val="solid"/>
          </a:ln>
        </p:spPr>
      </p:sp>
      <p:sp>
        <p:nvSpPr>
          <p:cNvPr id="20" name="Text 18"/>
          <p:cNvSpPr/>
          <p:nvPr/>
        </p:nvSpPr>
        <p:spPr>
          <a:xfrm>
            <a:off x="3913632" y="1938528"/>
            <a:ext cx="1298448" cy="502920"/>
          </a:xfrm>
          <a:prstGeom prst="rect">
            <a:avLst/>
          </a:prstGeom>
          <a:noFill/>
          <a:ln/>
        </p:spPr>
        <p:txBody>
          <a:bodyPr wrap="square" lIns="0" tIns="0" rIns="0" bIns="0" rtlCol="0" anchor="ctr"/>
          <a:lstStyle/>
          <a:p>
            <a:pPr indent="0" marL="0">
              <a:buNone/>
            </a:pPr>
            <a:r>
              <a:rPr lang="en-US" sz="1050" b="1" dirty="0">
                <a:solidFill>
                  <a:srgbClr val="1D1D1F"/>
                </a:solidFill>
                <a:latin typeface="Calibri" pitchFamily="34" charset="0"/>
                <a:ea typeface="Calibri" pitchFamily="34" charset="-122"/>
                <a:cs typeface="Calibri" pitchFamily="34" charset="-120"/>
              </a:rPr>
              <a:t>Logistica</a:t>
            </a:r>
            <a:endParaRPr lang="en-US" sz="1050" dirty="0"/>
          </a:p>
          <a:p>
            <a:pPr indent="0" marL="0">
              <a:buNone/>
            </a:pPr>
            <a:r>
              <a:rPr lang="en-US" sz="1050" b="1" dirty="0">
                <a:solidFill>
                  <a:srgbClr val="1D1D1F"/>
                </a:solidFill>
                <a:latin typeface="Calibri" pitchFamily="34" charset="0"/>
                <a:ea typeface="Calibri" pitchFamily="34" charset="-122"/>
                <a:cs typeface="Calibri" pitchFamily="34" charset="-120"/>
              </a:rPr>
              <a:t>Salida</a:t>
            </a:r>
            <a:endParaRPr lang="en-US" sz="1050" dirty="0"/>
          </a:p>
        </p:txBody>
      </p:sp>
      <p:sp>
        <p:nvSpPr>
          <p:cNvPr id="21" name="Text 19"/>
          <p:cNvSpPr/>
          <p:nvPr/>
        </p:nvSpPr>
        <p:spPr>
          <a:xfrm>
            <a:off x="3913632" y="2487168"/>
            <a:ext cx="1298448" cy="160020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Retail propio</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Distribucion directa</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Operadores</a:t>
            </a:r>
            <a:endParaRPr lang="en-US" sz="950" dirty="0"/>
          </a:p>
        </p:txBody>
      </p:sp>
      <p:sp>
        <p:nvSpPr>
          <p:cNvPr id="22" name="Shape 20"/>
          <p:cNvSpPr/>
          <p:nvPr/>
        </p:nvSpPr>
        <p:spPr>
          <a:xfrm>
            <a:off x="5413248" y="1874520"/>
            <a:ext cx="1481328" cy="2606040"/>
          </a:xfrm>
          <a:prstGeom prst="rect">
            <a:avLst/>
          </a:prstGeom>
          <a:solidFill>
            <a:srgbClr val="FFFFFF"/>
          </a:solidFill>
          <a:ln w="9525">
            <a:solidFill>
              <a:srgbClr val="D1D1D6"/>
            </a:solidFill>
            <a:prstDash val="solid"/>
          </a:ln>
        </p:spPr>
      </p:sp>
      <p:sp>
        <p:nvSpPr>
          <p:cNvPr id="23" name="Shape 21"/>
          <p:cNvSpPr/>
          <p:nvPr/>
        </p:nvSpPr>
        <p:spPr>
          <a:xfrm>
            <a:off x="5413248" y="1874520"/>
            <a:ext cx="1481328" cy="45720"/>
          </a:xfrm>
          <a:prstGeom prst="rect">
            <a:avLst/>
          </a:prstGeom>
          <a:solidFill>
            <a:srgbClr val="1D1D1F"/>
          </a:solidFill>
          <a:ln w="12700">
            <a:solidFill>
              <a:srgbClr val="1D1D1F"/>
            </a:solidFill>
            <a:prstDash val="solid"/>
          </a:ln>
        </p:spPr>
      </p:sp>
      <p:sp>
        <p:nvSpPr>
          <p:cNvPr id="24" name="Text 22"/>
          <p:cNvSpPr/>
          <p:nvPr/>
        </p:nvSpPr>
        <p:spPr>
          <a:xfrm>
            <a:off x="5504688" y="1938528"/>
            <a:ext cx="1298448" cy="502920"/>
          </a:xfrm>
          <a:prstGeom prst="rect">
            <a:avLst/>
          </a:prstGeom>
          <a:noFill/>
          <a:ln/>
        </p:spPr>
        <p:txBody>
          <a:bodyPr wrap="square" lIns="0" tIns="0" rIns="0" bIns="0" rtlCol="0" anchor="ctr"/>
          <a:lstStyle/>
          <a:p>
            <a:pPr indent="0" marL="0">
              <a:buNone/>
            </a:pPr>
            <a:r>
              <a:rPr lang="en-US" sz="1050" b="1" dirty="0">
                <a:solidFill>
                  <a:srgbClr val="1D1D1F"/>
                </a:solidFill>
                <a:latin typeface="Calibri" pitchFamily="34" charset="0"/>
                <a:ea typeface="Calibri" pitchFamily="34" charset="-122"/>
                <a:cs typeface="Calibri" pitchFamily="34" charset="-120"/>
              </a:rPr>
              <a:t>Marketing</a:t>
            </a:r>
            <a:endParaRPr lang="en-US" sz="1050" dirty="0"/>
          </a:p>
          <a:p>
            <a:pPr indent="0" marL="0">
              <a:buNone/>
            </a:pPr>
            <a:r>
              <a:rPr lang="en-US" sz="1050" b="1" dirty="0">
                <a:solidFill>
                  <a:srgbClr val="1D1D1F"/>
                </a:solidFill>
                <a:latin typeface="Calibri" pitchFamily="34" charset="0"/>
                <a:ea typeface="Calibri" pitchFamily="34" charset="-122"/>
                <a:cs typeface="Calibri" pitchFamily="34" charset="-120"/>
              </a:rPr>
              <a:t>y Ventas</a:t>
            </a:r>
            <a:endParaRPr lang="en-US" sz="1050" dirty="0"/>
          </a:p>
        </p:txBody>
      </p:sp>
      <p:sp>
        <p:nvSpPr>
          <p:cNvPr id="25" name="Text 23"/>
          <p:cNvSpPr/>
          <p:nvPr/>
        </p:nvSpPr>
        <p:spPr>
          <a:xfrm>
            <a:off x="5504688" y="2487168"/>
            <a:ext cx="1298448" cy="160020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Campanas globales</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Patrocinios</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Retail emocional</a:t>
            </a:r>
            <a:endParaRPr lang="en-US" sz="950" dirty="0"/>
          </a:p>
        </p:txBody>
      </p:sp>
      <p:sp>
        <p:nvSpPr>
          <p:cNvPr id="26" name="Shape 24"/>
          <p:cNvSpPr/>
          <p:nvPr/>
        </p:nvSpPr>
        <p:spPr>
          <a:xfrm>
            <a:off x="7004304" y="1874520"/>
            <a:ext cx="1481328" cy="2606040"/>
          </a:xfrm>
          <a:prstGeom prst="rect">
            <a:avLst/>
          </a:prstGeom>
          <a:solidFill>
            <a:srgbClr val="FFFFFF"/>
          </a:solidFill>
          <a:ln w="9525">
            <a:solidFill>
              <a:srgbClr val="D1D1D6"/>
            </a:solidFill>
            <a:prstDash val="solid"/>
          </a:ln>
        </p:spPr>
      </p:sp>
      <p:sp>
        <p:nvSpPr>
          <p:cNvPr id="27" name="Shape 25"/>
          <p:cNvSpPr/>
          <p:nvPr/>
        </p:nvSpPr>
        <p:spPr>
          <a:xfrm>
            <a:off x="7004304" y="1874520"/>
            <a:ext cx="1481328" cy="45720"/>
          </a:xfrm>
          <a:prstGeom prst="rect">
            <a:avLst/>
          </a:prstGeom>
          <a:solidFill>
            <a:srgbClr val="1D1D1F"/>
          </a:solidFill>
          <a:ln w="12700">
            <a:solidFill>
              <a:srgbClr val="1D1D1F"/>
            </a:solidFill>
            <a:prstDash val="solid"/>
          </a:ln>
        </p:spPr>
      </p:sp>
      <p:sp>
        <p:nvSpPr>
          <p:cNvPr id="28" name="Text 26"/>
          <p:cNvSpPr/>
          <p:nvPr/>
        </p:nvSpPr>
        <p:spPr>
          <a:xfrm>
            <a:off x="7095744" y="1938528"/>
            <a:ext cx="1298448" cy="502920"/>
          </a:xfrm>
          <a:prstGeom prst="rect">
            <a:avLst/>
          </a:prstGeom>
          <a:noFill/>
          <a:ln/>
        </p:spPr>
        <p:txBody>
          <a:bodyPr wrap="square" lIns="0" tIns="0" rIns="0" bIns="0" rtlCol="0" anchor="ctr"/>
          <a:lstStyle/>
          <a:p>
            <a:pPr indent="0" marL="0">
              <a:buNone/>
            </a:pPr>
            <a:r>
              <a:rPr lang="en-US" sz="1050" b="1" dirty="0">
                <a:solidFill>
                  <a:srgbClr val="1D1D1F"/>
                </a:solidFill>
                <a:latin typeface="Calibri" pitchFamily="34" charset="0"/>
                <a:ea typeface="Calibri" pitchFamily="34" charset="-122"/>
                <a:cs typeface="Calibri" pitchFamily="34" charset="-120"/>
              </a:rPr>
              <a:t>Servicio</a:t>
            </a:r>
            <a:endParaRPr lang="en-US" sz="1050" dirty="0"/>
          </a:p>
        </p:txBody>
      </p:sp>
      <p:sp>
        <p:nvSpPr>
          <p:cNvPr id="29" name="Text 27"/>
          <p:cNvSpPr/>
          <p:nvPr/>
        </p:nvSpPr>
        <p:spPr>
          <a:xfrm>
            <a:off x="7095744" y="2487168"/>
            <a:ext cx="1298448" cy="160020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AppleCare</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Soporte Genius</a:t>
            </a:r>
            <a:endParaRPr lang="en-US" sz="950" dirty="0"/>
          </a:p>
          <a:p>
            <a:pPr indent="0" marL="0">
              <a:buNone/>
            </a:pPr>
            <a:r>
              <a:rPr lang="en-US" sz="950" dirty="0">
                <a:solidFill>
                  <a:srgbClr val="424245"/>
                </a:solidFill>
                <a:latin typeface="Calibri" pitchFamily="34" charset="0"/>
                <a:ea typeface="Calibri" pitchFamily="34" charset="-122"/>
                <a:cs typeface="Calibri" pitchFamily="34" charset="-120"/>
              </a:rPr>
              <a:t>Garantia premium</a:t>
            </a:r>
            <a:endParaRPr lang="en-US" sz="950" dirty="0"/>
          </a:p>
        </p:txBody>
      </p:sp>
      <p:sp>
        <p:nvSpPr>
          <p:cNvPr id="30" name="Shape 28"/>
          <p:cNvSpPr/>
          <p:nvPr/>
        </p:nvSpPr>
        <p:spPr>
          <a:xfrm>
            <a:off x="8229600" y="1261872"/>
            <a:ext cx="274320" cy="3218688"/>
          </a:xfrm>
          <a:prstGeom prst="rect">
            <a:avLst/>
          </a:prstGeom>
          <a:solidFill>
            <a:srgbClr val="1D1D1F"/>
          </a:solidFill>
          <a:ln w="12700">
            <a:solidFill>
              <a:srgbClr val="1D1D1F"/>
            </a:solidFill>
            <a:prstDash val="solid"/>
          </a:ln>
        </p:spPr>
      </p:sp>
      <p:sp>
        <p:nvSpPr>
          <p:cNvPr id="31" name="Text 29"/>
          <p:cNvSpPr/>
          <p:nvPr/>
        </p:nvSpPr>
        <p:spPr>
          <a:xfrm rot="16200000">
            <a:off x="8046720" y="2468880"/>
            <a:ext cx="640080" cy="1371600"/>
          </a:xfrm>
          <a:prstGeom prst="rect">
            <a:avLst/>
          </a:prstGeom>
          <a:noFill/>
          <a:ln/>
        </p:spPr>
        <p:txBody>
          <a:bodyPr wrap="square" lIns="0" tIns="0" rIns="0" bIns="0" rtlCol="0" anchor="ctr"/>
          <a:lstStyle/>
          <a:p>
            <a:pPr indent="0" marL="0">
              <a:buNone/>
            </a:pPr>
            <a:r>
              <a:rPr lang="en-US" sz="800" b="1" dirty="0">
                <a:solidFill>
                  <a:srgbClr val="6E6E73"/>
                </a:solidFill>
                <a:latin typeface="Calibri" pitchFamily="34" charset="0"/>
                <a:ea typeface="Calibri" pitchFamily="34" charset="-122"/>
                <a:cs typeface="Calibri" pitchFamily="34" charset="-120"/>
              </a:rPr>
              <a:t>MARGEN</a:t>
            </a:r>
            <a:endParaRPr lang="en-US" sz="800" dirty="0"/>
          </a:p>
        </p:txBody>
      </p:sp>
      <p:sp>
        <p:nvSpPr>
          <p:cNvPr id="32" name="Text 30"/>
          <p:cNvSpPr/>
          <p:nvPr/>
        </p:nvSpPr>
        <p:spPr>
          <a:xfrm>
            <a:off x="640080" y="4572000"/>
            <a:ext cx="3657600" cy="274320"/>
          </a:xfrm>
          <a:prstGeom prst="rect">
            <a:avLst/>
          </a:prstGeom>
          <a:noFill/>
          <a:ln/>
        </p:spPr>
        <p:txBody>
          <a:bodyPr wrap="square" lIns="0" tIns="0" rIns="0" bIns="0" rtlCol="0" anchor="ctr"/>
          <a:lstStyle/>
          <a:p>
            <a:pPr indent="0" marL="0">
              <a:buNone/>
            </a:pPr>
            <a:r>
              <a:rPr lang="en-US" sz="750" b="1" spc="100" kern="0" dirty="0">
                <a:solidFill>
                  <a:srgbClr val="6E6E73"/>
                </a:solidFill>
                <a:latin typeface="Calibri" pitchFamily="34" charset="0"/>
                <a:ea typeface="Calibri" pitchFamily="34" charset="-122"/>
                <a:cs typeface="Calibri" pitchFamily="34" charset="-120"/>
              </a:rPr>
              <a:t>ACTIVIDADES PRIMARIAS</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Analisis de Presencia Digital</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1371600" cy="749808"/>
          </a:xfrm>
          <a:prstGeom prst="rect">
            <a:avLst/>
          </a:prstGeom>
          <a:solidFill>
            <a:srgbClr val="1D1D1F"/>
          </a:solidFill>
          <a:ln w="12700">
            <a:solidFill>
              <a:srgbClr val="1D1D1F"/>
            </a:solidFill>
            <a:prstDash val="solid"/>
          </a:ln>
        </p:spPr>
      </p:sp>
      <p:sp>
        <p:nvSpPr>
          <p:cNvPr id="5" name="Text 3"/>
          <p:cNvSpPr/>
          <p:nvPr/>
        </p:nvSpPr>
        <p:spPr>
          <a:xfrm>
            <a:off x="640080" y="1261872"/>
            <a:ext cx="137160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Sitio Web</a:t>
            </a:r>
            <a:endParaRPr lang="en-US" sz="1200" dirty="0"/>
          </a:p>
        </p:txBody>
      </p:sp>
      <p:sp>
        <p:nvSpPr>
          <p:cNvPr id="6" name="Text 4"/>
          <p:cNvSpPr/>
          <p:nvPr/>
        </p:nvSpPr>
        <p:spPr>
          <a:xfrm>
            <a:off x="2148840" y="1353312"/>
            <a:ext cx="6492240" cy="59436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apple.com — diseno emocional y aspiracional. Versiones locales por pais. Contenido: producto, campanas, sustentabilidad. E-commerce directo con envio propio.</a:t>
            </a:r>
            <a:endParaRPr lang="en-US" sz="1100" dirty="0"/>
          </a:p>
        </p:txBody>
      </p:sp>
      <p:sp>
        <p:nvSpPr>
          <p:cNvPr id="7" name="Shape 5"/>
          <p:cNvSpPr/>
          <p:nvPr/>
        </p:nvSpPr>
        <p:spPr>
          <a:xfrm>
            <a:off x="640080" y="2130552"/>
            <a:ext cx="7863840" cy="0"/>
          </a:xfrm>
          <a:prstGeom prst="line">
            <a:avLst/>
          </a:prstGeom>
          <a:noFill/>
          <a:ln w="9525">
            <a:solidFill>
              <a:srgbClr val="D1D1D6"/>
            </a:solidFill>
            <a:prstDash val="solid"/>
          </a:ln>
        </p:spPr>
      </p:sp>
      <p:sp>
        <p:nvSpPr>
          <p:cNvPr id="8" name="Shape 6"/>
          <p:cNvSpPr/>
          <p:nvPr/>
        </p:nvSpPr>
        <p:spPr>
          <a:xfrm>
            <a:off x="640080" y="2176272"/>
            <a:ext cx="1371600" cy="749808"/>
          </a:xfrm>
          <a:prstGeom prst="rect">
            <a:avLst/>
          </a:prstGeom>
          <a:solidFill>
            <a:srgbClr val="1D1D1F"/>
          </a:solidFill>
          <a:ln w="12700">
            <a:solidFill>
              <a:srgbClr val="1D1D1F"/>
            </a:solidFill>
            <a:prstDash val="solid"/>
          </a:ln>
        </p:spPr>
      </p:sp>
      <p:sp>
        <p:nvSpPr>
          <p:cNvPr id="9" name="Text 7"/>
          <p:cNvSpPr/>
          <p:nvPr/>
        </p:nvSpPr>
        <p:spPr>
          <a:xfrm>
            <a:off x="640080" y="2176272"/>
            <a:ext cx="137160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Instagram</a:t>
            </a:r>
            <a:endParaRPr lang="en-US" sz="1200" dirty="0"/>
          </a:p>
        </p:txBody>
      </p:sp>
      <p:sp>
        <p:nvSpPr>
          <p:cNvPr id="10" name="Text 8"/>
          <p:cNvSpPr/>
          <p:nvPr/>
        </p:nvSpPr>
        <p:spPr>
          <a:xfrm>
            <a:off x="2148840" y="2267712"/>
            <a:ext cx="6492240" cy="59436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+30M seguidores. Campanas visuales de altisima calidad estetica. Formato: foto de producto + historias de usuarios. Algoritmo trabajado con UGC curado.</a:t>
            </a:r>
            <a:endParaRPr lang="en-US" sz="1100" dirty="0"/>
          </a:p>
        </p:txBody>
      </p:sp>
      <p:sp>
        <p:nvSpPr>
          <p:cNvPr id="11" name="Shape 9"/>
          <p:cNvSpPr/>
          <p:nvPr/>
        </p:nvSpPr>
        <p:spPr>
          <a:xfrm>
            <a:off x="640080" y="3044952"/>
            <a:ext cx="7863840" cy="0"/>
          </a:xfrm>
          <a:prstGeom prst="line">
            <a:avLst/>
          </a:prstGeom>
          <a:noFill/>
          <a:ln w="9525">
            <a:solidFill>
              <a:srgbClr val="D1D1D6"/>
            </a:solidFill>
            <a:prstDash val="solid"/>
          </a:ln>
        </p:spPr>
      </p:sp>
      <p:sp>
        <p:nvSpPr>
          <p:cNvPr id="12" name="Shape 10"/>
          <p:cNvSpPr/>
          <p:nvPr/>
        </p:nvSpPr>
        <p:spPr>
          <a:xfrm>
            <a:off x="640080" y="3090672"/>
            <a:ext cx="1371600" cy="749808"/>
          </a:xfrm>
          <a:prstGeom prst="rect">
            <a:avLst/>
          </a:prstGeom>
          <a:solidFill>
            <a:srgbClr val="1D1D1F"/>
          </a:solidFill>
          <a:ln w="12700">
            <a:solidFill>
              <a:srgbClr val="1D1D1F"/>
            </a:solidFill>
            <a:prstDash val="solid"/>
          </a:ln>
        </p:spPr>
      </p:sp>
      <p:sp>
        <p:nvSpPr>
          <p:cNvPr id="13" name="Text 11"/>
          <p:cNvSpPr/>
          <p:nvPr/>
        </p:nvSpPr>
        <p:spPr>
          <a:xfrm>
            <a:off x="640080" y="3090672"/>
            <a:ext cx="137160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YouTube</a:t>
            </a:r>
            <a:endParaRPr lang="en-US" sz="1200" dirty="0"/>
          </a:p>
        </p:txBody>
      </p:sp>
      <p:sp>
        <p:nvSpPr>
          <p:cNvPr id="14" name="Text 12"/>
          <p:cNvSpPr/>
          <p:nvPr/>
        </p:nvSpPr>
        <p:spPr>
          <a:xfrm>
            <a:off x="2148840" y="3182112"/>
            <a:ext cx="6492240" cy="59436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Canal oficial con eventos en vivo (WWDC, Keynotes). Videos de producto con produccion cinematografica. Millones de vistas organicas en lanzamientos.</a:t>
            </a:r>
            <a:endParaRPr lang="en-US" sz="1100" dirty="0"/>
          </a:p>
        </p:txBody>
      </p:sp>
      <p:sp>
        <p:nvSpPr>
          <p:cNvPr id="15" name="Shape 13"/>
          <p:cNvSpPr/>
          <p:nvPr/>
        </p:nvSpPr>
        <p:spPr>
          <a:xfrm>
            <a:off x="640080" y="3959352"/>
            <a:ext cx="7863840" cy="0"/>
          </a:xfrm>
          <a:prstGeom prst="line">
            <a:avLst/>
          </a:prstGeom>
          <a:noFill/>
          <a:ln w="9525">
            <a:solidFill>
              <a:srgbClr val="D1D1D6"/>
            </a:solidFill>
            <a:prstDash val="solid"/>
          </a:ln>
        </p:spPr>
      </p:sp>
      <p:sp>
        <p:nvSpPr>
          <p:cNvPr id="16" name="Shape 14"/>
          <p:cNvSpPr/>
          <p:nvPr/>
        </p:nvSpPr>
        <p:spPr>
          <a:xfrm>
            <a:off x="640080" y="4005072"/>
            <a:ext cx="1371600" cy="749808"/>
          </a:xfrm>
          <a:prstGeom prst="rect">
            <a:avLst/>
          </a:prstGeom>
          <a:solidFill>
            <a:srgbClr val="1D1D1F"/>
          </a:solidFill>
          <a:ln w="12700">
            <a:solidFill>
              <a:srgbClr val="1D1D1F"/>
            </a:solidFill>
            <a:prstDash val="solid"/>
          </a:ln>
        </p:spPr>
      </p:sp>
      <p:sp>
        <p:nvSpPr>
          <p:cNvPr id="17" name="Text 15"/>
          <p:cNvSpPr/>
          <p:nvPr/>
        </p:nvSpPr>
        <p:spPr>
          <a:xfrm>
            <a:off x="640080" y="4005072"/>
            <a:ext cx="1371600" cy="7498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TikTok</a:t>
            </a:r>
            <a:endParaRPr lang="en-US" sz="1200" dirty="0"/>
          </a:p>
        </p:txBody>
      </p:sp>
      <p:sp>
        <p:nvSpPr>
          <p:cNvPr id="18" name="Text 16"/>
          <p:cNvSpPr/>
          <p:nvPr/>
        </p:nvSpPr>
        <p:spPr>
          <a:xfrm>
            <a:off x="2148840" y="4096512"/>
            <a:ext cx="6492240" cy="59436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Presencia moderada, mayormente contenido generado por usuarios. Estrategia reactiva. Oportunidad: crecimiento en audiencias jovenes sub-25 no propietarias.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Mapa de Posicionamiento</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3657600"/>
          </a:xfrm>
          <a:prstGeom prst="rect">
            <a:avLst/>
          </a:prstGeom>
          <a:solidFill>
            <a:srgbClr val="F0F0F2"/>
          </a:solidFill>
          <a:ln w="12700">
            <a:solidFill>
              <a:srgbClr val="AEAEB2"/>
            </a:solidFill>
            <a:prstDash val="solid"/>
          </a:ln>
        </p:spPr>
      </p:sp>
      <p:sp>
        <p:nvSpPr>
          <p:cNvPr id="5" name="Shape 3"/>
          <p:cNvSpPr/>
          <p:nvPr/>
        </p:nvSpPr>
        <p:spPr>
          <a:xfrm>
            <a:off x="640080" y="1261872"/>
            <a:ext cx="7863840" cy="0"/>
          </a:xfrm>
          <a:prstGeom prst="line">
            <a:avLst/>
          </a:prstGeom>
          <a:noFill/>
          <a:ln w="6350">
            <a:solidFill>
              <a:srgbClr val="D1D1D6"/>
            </a:solidFill>
            <a:prstDash val="solid"/>
          </a:ln>
        </p:spPr>
      </p:sp>
      <p:sp>
        <p:nvSpPr>
          <p:cNvPr id="6" name="Text 4"/>
          <p:cNvSpPr/>
          <p:nvPr/>
        </p:nvSpPr>
        <p:spPr>
          <a:xfrm>
            <a:off x="640080" y="2926080"/>
            <a:ext cx="786384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Insertar mapa de posicionamiento — Precio vs Innovacion ]</a:t>
            </a:r>
            <a:endParaRPr lang="en-US" sz="1000" dirty="0"/>
          </a:p>
        </p:txBody>
      </p:sp>
      <p:sp>
        <p:nvSpPr>
          <p:cNvPr id="7" name="Text 5"/>
          <p:cNvSpPr/>
          <p:nvPr/>
        </p:nvSpPr>
        <p:spPr>
          <a:xfrm>
            <a:off x="640080" y="4864608"/>
            <a:ext cx="7863840" cy="256032"/>
          </a:xfrm>
          <a:prstGeom prst="rect">
            <a:avLst/>
          </a:prstGeom>
          <a:noFill/>
          <a:ln/>
        </p:spPr>
        <p:txBody>
          <a:bodyPr wrap="square" lIns="0" tIns="0" rIns="0" bIns="0" rtlCol="0" anchor="ctr"/>
          <a:lstStyle/>
          <a:p>
            <a:pPr indent="0" marL="0">
              <a:buNone/>
            </a:pPr>
            <a:r>
              <a:rPr lang="en-US" sz="900" i="1" dirty="0">
                <a:solidFill>
                  <a:srgbClr val="AEAEB2"/>
                </a:solidFill>
                <a:latin typeface="Calibri" pitchFamily="34" charset="0"/>
                <a:ea typeface="Calibri" pitchFamily="34" charset="-122"/>
                <a:cs typeface="Calibri" pitchFamily="34" charset="-120"/>
              </a:rPr>
              <a:t>Ejes sugeridos: X = Innovacion tecnologica  |  Y = Precio / Exclusividad del producto</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EFI — Factores Internos Clave</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8229600" cy="914400"/>
        </p:xfrm>
        <a:graphic>
          <a:graphicData uri="http://schemas.openxmlformats.org/drawingml/2006/table">
            <a:tbl>
              <a:tblPr/>
              <a:tblGrid>
                <a:gridCol w="5029200"/>
                <a:gridCol w="1097280"/>
                <a:gridCol w="1005840"/>
                <a:gridCol w="1097280"/>
              </a:tblGrid>
              <a:tr h="0">
                <a:tc>
                  <a:txBody>
                    <a:bodyPr/>
                    <a:lstStyle/>
                    <a:p>
                      <a:pPr algn="l" indent="0" marL="0">
                        <a:buNone/>
                      </a:pPr>
                      <a:r>
                        <a:rPr lang="en-US" sz="1000" b="1" dirty="0">
                          <a:solidFill>
                            <a:srgbClr val="FFFFFF"/>
                          </a:solidFill>
                        </a:rPr>
                        <a:t>Factor Interno Clave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Peso</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Calif.</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Puntaje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00" b="1" dirty="0">
                          <a:solidFill>
                            <a:srgbClr val="1D1D1F"/>
                          </a:solidFill>
                        </a:rPr>
                        <a:t>FORTALEZAS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Marca premium global con lealtad excepcional</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0.52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Ecosistema integrado hardware-software-services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Alta rentabilidad operativa sostenida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Installed base masiva y monetizable (2B+ dispositivos)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Silicon propio (M-series, A18): ventaja estructural</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0.09</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Generacion de caja y disciplina financiera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Red retail y control de experiencia de compra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D1D1F"/>
                          </a:solidFill>
                        </a:rPr>
                        <a:t>DEBILIDADES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Dependencia elevada de iPhone (50% de ventas)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Exposicion alta de supply chain a Asia (China)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Presion regulatoria creciente (App Store, DMA)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Posicionamiento de precio excluye segmento masivo</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Percepcion de rezago en IA generativa publica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D1D1F"/>
                          </a:solidFill>
                        </a:rPr>
                        <a:t>TOTAL</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1.00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3.30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bl>
          </a:graphicData>
        </a:graphic>
      </p:graphicFrame>
      <p:sp>
        <p:nvSpPr>
          <p:cNvPr id="5" name="Text 2"/>
          <p:cNvSpPr/>
          <p:nvPr/>
        </p:nvSpPr>
        <p:spPr>
          <a:xfrm>
            <a:off x="640080" y="4773168"/>
            <a:ext cx="7863840" cy="320040"/>
          </a:xfrm>
          <a:prstGeom prst="rect">
            <a:avLst/>
          </a:prstGeom>
          <a:noFill/>
          <a:ln/>
        </p:spPr>
        <p:txBody>
          <a:bodyPr wrap="square" lIns="0" tIns="0" rIns="0" bIns="0" rtlCol="0" anchor="ctr"/>
          <a:lstStyle/>
          <a:p>
            <a:pPr indent="0" marL="0">
              <a:buNone/>
            </a:pPr>
            <a:r>
              <a:rPr lang="en-US" sz="1050" i="1" dirty="0">
                <a:solidFill>
                  <a:srgbClr val="6E6E73"/>
                </a:solidFill>
                <a:latin typeface="Calibri" pitchFamily="34" charset="0"/>
                <a:ea typeface="Calibri" pitchFamily="34" charset="-122"/>
                <a:cs typeface="Calibri" pitchFamily="34" charset="-120"/>
              </a:rPr>
              <a:t>Resultado EFI: 3.30 — Posicion interna FUERTE. Apple supera el promedio de la industria.</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04 — Auditoria</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Externa</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Competidores, MPC, modelo PESTEL y Matriz EFE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Competidores — Ingresos Totales 2025</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4" name="Chart 0" descr=""/>
          <p:cNvGraphicFramePr/>
          <p:nvPr/>
        </p:nvGraphicFramePr>
        <p:xfrm>
          <a:off x="640080" y="123444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773168"/>
            <a:ext cx="5029200" cy="320040"/>
          </a:xfrm>
          <a:prstGeom prst="rect">
            <a:avLst/>
          </a:prstGeom>
          <a:noFill/>
          <a:ln/>
        </p:spPr>
        <p:txBody>
          <a:bodyPr wrap="square" lIns="0" tIns="0" rIns="0" bIns="0" rtlCol="0" anchor="ctr"/>
          <a:lstStyle/>
          <a:p>
            <a:pPr indent="0" marL="0">
              <a:buNone/>
            </a:pPr>
            <a:r>
              <a:rPr lang="en-US" sz="900" i="1" dirty="0">
                <a:solidFill>
                  <a:srgbClr val="AEAEB2"/>
                </a:solidFill>
                <a:latin typeface="Calibri" pitchFamily="34" charset="0"/>
                <a:ea typeface="Calibri" pitchFamily="34" charset="-122"/>
                <a:cs typeface="Calibri" pitchFamily="34" charset="-120"/>
              </a:rPr>
              <a:t>Cifras en miles de millones USD. Samsung: division Electronics solamente. Fuente: reportes anuales 2025.</a:t>
            </a:r>
            <a:endParaRPr lang="en-US" sz="900" dirty="0"/>
          </a:p>
        </p:txBody>
      </p:sp>
      <p:sp>
        <p:nvSpPr>
          <p:cNvPr id="6" name="Text 3"/>
          <p:cNvSpPr/>
          <p:nvPr/>
        </p:nvSpPr>
        <p:spPr>
          <a:xfrm>
            <a:off x="5943600" y="1325880"/>
            <a:ext cx="1280160" cy="32004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Apple</a:t>
            </a:r>
            <a:endParaRPr lang="en-US" sz="1100" dirty="0"/>
          </a:p>
        </p:txBody>
      </p:sp>
      <p:sp>
        <p:nvSpPr>
          <p:cNvPr id="7" name="Text 4"/>
          <p:cNvSpPr/>
          <p:nvPr/>
        </p:nvSpPr>
        <p:spPr>
          <a:xfrm>
            <a:off x="5943600" y="1618488"/>
            <a:ext cx="2926080" cy="50292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50%+ margen bruto. Domina premium global.</a:t>
            </a:r>
            <a:endParaRPr lang="en-US" sz="950" dirty="0"/>
          </a:p>
        </p:txBody>
      </p:sp>
      <p:sp>
        <p:nvSpPr>
          <p:cNvPr id="8" name="Shape 5"/>
          <p:cNvSpPr/>
          <p:nvPr/>
        </p:nvSpPr>
        <p:spPr>
          <a:xfrm>
            <a:off x="5943600" y="2167128"/>
            <a:ext cx="2834640" cy="0"/>
          </a:xfrm>
          <a:prstGeom prst="line">
            <a:avLst/>
          </a:prstGeom>
          <a:noFill/>
          <a:ln w="9525">
            <a:solidFill>
              <a:srgbClr val="D1D1D6"/>
            </a:solidFill>
            <a:prstDash val="solid"/>
          </a:ln>
        </p:spPr>
      </p:sp>
      <p:sp>
        <p:nvSpPr>
          <p:cNvPr id="9" name="Text 6"/>
          <p:cNvSpPr/>
          <p:nvPr/>
        </p:nvSpPr>
        <p:spPr>
          <a:xfrm>
            <a:off x="5943600" y="2240280"/>
            <a:ext cx="1280160" cy="32004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Samsung</a:t>
            </a:r>
            <a:endParaRPr lang="en-US" sz="1100" dirty="0"/>
          </a:p>
        </p:txBody>
      </p:sp>
      <p:sp>
        <p:nvSpPr>
          <p:cNvPr id="10" name="Text 7"/>
          <p:cNvSpPr/>
          <p:nvPr/>
        </p:nvSpPr>
        <p:spPr>
          <a:xfrm>
            <a:off x="5943600" y="2532888"/>
            <a:ext cx="2926080" cy="50292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Lider en volumen, menor margen.</a:t>
            </a:r>
            <a:endParaRPr lang="en-US" sz="950" dirty="0"/>
          </a:p>
        </p:txBody>
      </p:sp>
      <p:sp>
        <p:nvSpPr>
          <p:cNvPr id="11" name="Shape 8"/>
          <p:cNvSpPr/>
          <p:nvPr/>
        </p:nvSpPr>
        <p:spPr>
          <a:xfrm>
            <a:off x="5943600" y="3081528"/>
            <a:ext cx="2834640" cy="0"/>
          </a:xfrm>
          <a:prstGeom prst="line">
            <a:avLst/>
          </a:prstGeom>
          <a:noFill/>
          <a:ln w="9525">
            <a:solidFill>
              <a:srgbClr val="D1D1D6"/>
            </a:solidFill>
            <a:prstDash val="solid"/>
          </a:ln>
        </p:spPr>
      </p:sp>
      <p:sp>
        <p:nvSpPr>
          <p:cNvPr id="12" name="Text 9"/>
          <p:cNvSpPr/>
          <p:nvPr/>
        </p:nvSpPr>
        <p:spPr>
          <a:xfrm>
            <a:off x="5943600" y="3154680"/>
            <a:ext cx="1280160" cy="32004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Microsoft</a:t>
            </a:r>
            <a:endParaRPr lang="en-US" sz="1100" dirty="0"/>
          </a:p>
        </p:txBody>
      </p:sp>
      <p:sp>
        <p:nvSpPr>
          <p:cNvPr id="13" name="Text 10"/>
          <p:cNvSpPr/>
          <p:nvPr/>
        </p:nvSpPr>
        <p:spPr>
          <a:xfrm>
            <a:off x="5943600" y="3447288"/>
            <a:ext cx="2926080" cy="50292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IA + Cloud como ventaja emergente.</a:t>
            </a:r>
            <a:endParaRPr lang="en-US" sz="950" dirty="0"/>
          </a:p>
        </p:txBody>
      </p:sp>
      <p:sp>
        <p:nvSpPr>
          <p:cNvPr id="14" name="Shape 11"/>
          <p:cNvSpPr/>
          <p:nvPr/>
        </p:nvSpPr>
        <p:spPr>
          <a:xfrm>
            <a:off x="5943600" y="3995928"/>
            <a:ext cx="2834640" cy="0"/>
          </a:xfrm>
          <a:prstGeom prst="line">
            <a:avLst/>
          </a:prstGeom>
          <a:noFill/>
          <a:ln w="9525">
            <a:solidFill>
              <a:srgbClr val="D1D1D6"/>
            </a:solidFill>
            <a:prstDash val="solid"/>
          </a:ln>
        </p:spPr>
      </p:sp>
      <p:sp>
        <p:nvSpPr>
          <p:cNvPr id="15" name="Text 12"/>
          <p:cNvSpPr/>
          <p:nvPr/>
        </p:nvSpPr>
        <p:spPr>
          <a:xfrm>
            <a:off x="5943600" y="4069080"/>
            <a:ext cx="1280160" cy="32004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Xiaomi</a:t>
            </a:r>
            <a:endParaRPr lang="en-US" sz="1100" dirty="0"/>
          </a:p>
        </p:txBody>
      </p:sp>
      <p:sp>
        <p:nvSpPr>
          <p:cNvPr id="16" name="Text 13"/>
          <p:cNvSpPr/>
          <p:nvPr/>
        </p:nvSpPr>
        <p:spPr>
          <a:xfrm>
            <a:off x="5943600" y="4361688"/>
            <a:ext cx="2926080" cy="502920"/>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Crecimiento rapido en emergentes.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Ventajas Competitivas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822960"/>
          </a:xfrm>
          <a:prstGeom prst="rect">
            <a:avLst/>
          </a:prstGeom>
          <a:solidFill>
            <a:srgbClr val="FFFFFF"/>
          </a:solidFill>
          <a:ln w="9525">
            <a:solidFill>
              <a:srgbClr val="D1D1D6"/>
            </a:solidFill>
            <a:prstDash val="solid"/>
          </a:ln>
        </p:spPr>
      </p:sp>
      <p:sp>
        <p:nvSpPr>
          <p:cNvPr id="5" name="Shape 3"/>
          <p:cNvSpPr/>
          <p:nvPr/>
        </p:nvSpPr>
        <p:spPr>
          <a:xfrm>
            <a:off x="640080" y="1261872"/>
            <a:ext cx="54864" cy="822960"/>
          </a:xfrm>
          <a:prstGeom prst="rect">
            <a:avLst/>
          </a:prstGeom>
          <a:solidFill>
            <a:srgbClr val="1D1D1F"/>
          </a:solidFill>
          <a:ln w="12700">
            <a:solidFill>
              <a:srgbClr val="1D1D1F"/>
            </a:solidFill>
            <a:prstDash val="solid"/>
          </a:ln>
        </p:spPr>
      </p:sp>
      <p:sp>
        <p:nvSpPr>
          <p:cNvPr id="6" name="Text 4"/>
          <p:cNvSpPr/>
          <p:nvPr/>
        </p:nvSpPr>
        <p:spPr>
          <a:xfrm>
            <a:off x="868680" y="1307592"/>
            <a:ext cx="2743200" cy="32004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Ecosistema cerrado</a:t>
            </a:r>
            <a:endParaRPr lang="en-US" sz="1200" dirty="0"/>
          </a:p>
        </p:txBody>
      </p:sp>
      <p:sp>
        <p:nvSpPr>
          <p:cNvPr id="7" name="Text 5"/>
          <p:cNvSpPr/>
          <p:nvPr/>
        </p:nvSpPr>
        <p:spPr>
          <a:xfrm>
            <a:off x="868680" y="1645920"/>
            <a:ext cx="4754880" cy="38404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La integracion entre iPhone, Mac, iPad, Watch, AirPods y servicios crea un costo de cambio alto. Una vez que el usuario adopta el ecosistema, la probabilidad de permanencia supera el 90%.</a:t>
            </a:r>
            <a:endParaRPr lang="en-US" sz="950" dirty="0"/>
          </a:p>
        </p:txBody>
      </p:sp>
      <p:sp>
        <p:nvSpPr>
          <p:cNvPr id="8" name="Text 6"/>
          <p:cNvSpPr/>
          <p:nvPr/>
        </p:nvSpPr>
        <p:spPr>
          <a:xfrm>
            <a:off x="5806440" y="1371600"/>
            <a:ext cx="2560320" cy="594360"/>
          </a:xfrm>
          <a:prstGeom prst="rect">
            <a:avLst/>
          </a:prstGeom>
          <a:noFill/>
          <a:ln/>
        </p:spPr>
        <p:txBody>
          <a:bodyPr wrap="square" lIns="0" tIns="0" rIns="0" bIns="0" rtlCol="0" anchor="ctr"/>
          <a:lstStyle/>
          <a:p>
            <a:pPr algn="r" indent="0" marL="0">
              <a:buNone/>
            </a:pPr>
            <a:r>
              <a:rPr lang="en-US" sz="900" i="1" dirty="0">
                <a:solidFill>
                  <a:srgbClr val="6E6E73"/>
                </a:solidFill>
                <a:latin typeface="Calibri" pitchFamily="34" charset="0"/>
                <a:ea typeface="Calibri" pitchFamily="34" charset="-122"/>
                <a:cs typeface="Calibri" pitchFamily="34" charset="-120"/>
              </a:rPr>
              <a:t>vs Samsung: ecosistema abierto fragmentado</a:t>
            </a:r>
            <a:endParaRPr lang="en-US" sz="900" dirty="0"/>
          </a:p>
        </p:txBody>
      </p:sp>
      <p:sp>
        <p:nvSpPr>
          <p:cNvPr id="9" name="Shape 7"/>
          <p:cNvSpPr/>
          <p:nvPr/>
        </p:nvSpPr>
        <p:spPr>
          <a:xfrm>
            <a:off x="640080" y="2212848"/>
            <a:ext cx="7863840" cy="822960"/>
          </a:xfrm>
          <a:prstGeom prst="rect">
            <a:avLst/>
          </a:prstGeom>
          <a:solidFill>
            <a:srgbClr val="FFFFFF"/>
          </a:solidFill>
          <a:ln w="9525">
            <a:solidFill>
              <a:srgbClr val="D1D1D6"/>
            </a:solidFill>
            <a:prstDash val="solid"/>
          </a:ln>
        </p:spPr>
      </p:sp>
      <p:sp>
        <p:nvSpPr>
          <p:cNvPr id="10" name="Shape 8"/>
          <p:cNvSpPr/>
          <p:nvPr/>
        </p:nvSpPr>
        <p:spPr>
          <a:xfrm>
            <a:off x="640080" y="2212848"/>
            <a:ext cx="54864" cy="822960"/>
          </a:xfrm>
          <a:prstGeom prst="rect">
            <a:avLst/>
          </a:prstGeom>
          <a:solidFill>
            <a:srgbClr val="1D1D1F"/>
          </a:solidFill>
          <a:ln w="12700">
            <a:solidFill>
              <a:srgbClr val="1D1D1F"/>
            </a:solidFill>
            <a:prstDash val="solid"/>
          </a:ln>
        </p:spPr>
      </p:sp>
      <p:sp>
        <p:nvSpPr>
          <p:cNvPr id="11" name="Text 9"/>
          <p:cNvSpPr/>
          <p:nvPr/>
        </p:nvSpPr>
        <p:spPr>
          <a:xfrm>
            <a:off x="868680" y="2258568"/>
            <a:ext cx="2743200" cy="32004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Silicon propio diferenciado</a:t>
            </a:r>
            <a:endParaRPr lang="en-US" sz="1200" dirty="0"/>
          </a:p>
        </p:txBody>
      </p:sp>
      <p:sp>
        <p:nvSpPr>
          <p:cNvPr id="12" name="Text 10"/>
          <p:cNvSpPr/>
          <p:nvPr/>
        </p:nvSpPr>
        <p:spPr>
          <a:xfrm>
            <a:off x="868680" y="2596896"/>
            <a:ext cx="4754880" cy="38404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Los chips M-series y A-series son los de mejor desempeno por vatio de la industria. Apple controla el roadmap sin depender de terceros, acelerando iteraciones.</a:t>
            </a:r>
            <a:endParaRPr lang="en-US" sz="950" dirty="0"/>
          </a:p>
        </p:txBody>
      </p:sp>
      <p:sp>
        <p:nvSpPr>
          <p:cNvPr id="13" name="Text 11"/>
          <p:cNvSpPr/>
          <p:nvPr/>
        </p:nvSpPr>
        <p:spPr>
          <a:xfrm>
            <a:off x="5806440" y="2322576"/>
            <a:ext cx="2560320" cy="594360"/>
          </a:xfrm>
          <a:prstGeom prst="rect">
            <a:avLst/>
          </a:prstGeom>
          <a:noFill/>
          <a:ln/>
        </p:spPr>
        <p:txBody>
          <a:bodyPr wrap="square" lIns="0" tIns="0" rIns="0" bIns="0" rtlCol="0" anchor="ctr"/>
          <a:lstStyle/>
          <a:p>
            <a:pPr algn="r" indent="0" marL="0">
              <a:buNone/>
            </a:pPr>
            <a:r>
              <a:rPr lang="en-US" sz="900" i="1" dirty="0">
                <a:solidFill>
                  <a:srgbClr val="6E6E73"/>
                </a:solidFill>
                <a:latin typeface="Calibri" pitchFamily="34" charset="0"/>
                <a:ea typeface="Calibri" pitchFamily="34" charset="-122"/>
                <a:cs typeface="Calibri" pitchFamily="34" charset="-120"/>
              </a:rPr>
              <a:t>vs Qualcomm / ARM: Apple lidera por 2-3 anos</a:t>
            </a:r>
            <a:endParaRPr lang="en-US" sz="900" dirty="0"/>
          </a:p>
        </p:txBody>
      </p:sp>
      <p:sp>
        <p:nvSpPr>
          <p:cNvPr id="14" name="Shape 12"/>
          <p:cNvSpPr/>
          <p:nvPr/>
        </p:nvSpPr>
        <p:spPr>
          <a:xfrm>
            <a:off x="640080" y="3163824"/>
            <a:ext cx="7863840" cy="822960"/>
          </a:xfrm>
          <a:prstGeom prst="rect">
            <a:avLst/>
          </a:prstGeom>
          <a:solidFill>
            <a:srgbClr val="FFFFFF"/>
          </a:solidFill>
          <a:ln w="9525">
            <a:solidFill>
              <a:srgbClr val="D1D1D6"/>
            </a:solidFill>
            <a:prstDash val="solid"/>
          </a:ln>
        </p:spPr>
      </p:sp>
      <p:sp>
        <p:nvSpPr>
          <p:cNvPr id="15" name="Shape 13"/>
          <p:cNvSpPr/>
          <p:nvPr/>
        </p:nvSpPr>
        <p:spPr>
          <a:xfrm>
            <a:off x="640080" y="3163824"/>
            <a:ext cx="54864" cy="822960"/>
          </a:xfrm>
          <a:prstGeom prst="rect">
            <a:avLst/>
          </a:prstGeom>
          <a:solidFill>
            <a:srgbClr val="1D1D1F"/>
          </a:solidFill>
          <a:ln w="12700">
            <a:solidFill>
              <a:srgbClr val="1D1D1F"/>
            </a:solidFill>
            <a:prstDash val="solid"/>
          </a:ln>
        </p:spPr>
      </p:sp>
      <p:sp>
        <p:nvSpPr>
          <p:cNvPr id="16" name="Text 14"/>
          <p:cNvSpPr/>
          <p:nvPr/>
        </p:nvSpPr>
        <p:spPr>
          <a:xfrm>
            <a:off x="868680" y="3209544"/>
            <a:ext cx="2743200" cy="32004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Marca como activo valorado</a:t>
            </a:r>
            <a:endParaRPr lang="en-US" sz="1200" dirty="0"/>
          </a:p>
        </p:txBody>
      </p:sp>
      <p:sp>
        <p:nvSpPr>
          <p:cNvPr id="17" name="Text 15"/>
          <p:cNvSpPr/>
          <p:nvPr/>
        </p:nvSpPr>
        <p:spPr>
          <a:xfrm>
            <a:off x="868680" y="3547872"/>
            <a:ext cx="4754880" cy="38404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Apple es la marca mas valiosa del mundo (Interbrand 2024: $515B). La percepcion de calidad y estatus permite precios que ningun competidor puede igualar con margen positivo.</a:t>
            </a:r>
            <a:endParaRPr lang="en-US" sz="950" dirty="0"/>
          </a:p>
        </p:txBody>
      </p:sp>
      <p:sp>
        <p:nvSpPr>
          <p:cNvPr id="18" name="Text 16"/>
          <p:cNvSpPr/>
          <p:nvPr/>
        </p:nvSpPr>
        <p:spPr>
          <a:xfrm>
            <a:off x="5806440" y="3273552"/>
            <a:ext cx="2560320" cy="594360"/>
          </a:xfrm>
          <a:prstGeom prst="rect">
            <a:avLst/>
          </a:prstGeom>
          <a:noFill/>
          <a:ln/>
        </p:spPr>
        <p:txBody>
          <a:bodyPr wrap="square" lIns="0" tIns="0" rIns="0" bIns="0" rtlCol="0" anchor="ctr"/>
          <a:lstStyle/>
          <a:p>
            <a:pPr algn="r" indent="0" marL="0">
              <a:buNone/>
            </a:pPr>
            <a:r>
              <a:rPr lang="en-US" sz="900" i="1" dirty="0">
                <a:solidFill>
                  <a:srgbClr val="6E6E73"/>
                </a:solidFill>
                <a:latin typeface="Calibri" pitchFamily="34" charset="0"/>
                <a:ea typeface="Calibri" pitchFamily="34" charset="-122"/>
                <a:cs typeface="Calibri" pitchFamily="34" charset="-120"/>
              </a:rPr>
              <a:t>vs Samsung: gap de percepcion premium enorme</a:t>
            </a:r>
            <a:endParaRPr lang="en-US" sz="900" dirty="0"/>
          </a:p>
        </p:txBody>
      </p:sp>
      <p:sp>
        <p:nvSpPr>
          <p:cNvPr id="19" name="Shape 17"/>
          <p:cNvSpPr/>
          <p:nvPr/>
        </p:nvSpPr>
        <p:spPr>
          <a:xfrm>
            <a:off x="640080" y="4114800"/>
            <a:ext cx="7863840" cy="822960"/>
          </a:xfrm>
          <a:prstGeom prst="rect">
            <a:avLst/>
          </a:prstGeom>
          <a:solidFill>
            <a:srgbClr val="FFFFFF"/>
          </a:solidFill>
          <a:ln w="9525">
            <a:solidFill>
              <a:srgbClr val="D1D1D6"/>
            </a:solidFill>
            <a:prstDash val="solid"/>
          </a:ln>
        </p:spPr>
      </p:sp>
      <p:sp>
        <p:nvSpPr>
          <p:cNvPr id="20" name="Shape 18"/>
          <p:cNvSpPr/>
          <p:nvPr/>
        </p:nvSpPr>
        <p:spPr>
          <a:xfrm>
            <a:off x="640080" y="4114800"/>
            <a:ext cx="54864" cy="822960"/>
          </a:xfrm>
          <a:prstGeom prst="rect">
            <a:avLst/>
          </a:prstGeom>
          <a:solidFill>
            <a:srgbClr val="1D1D1F"/>
          </a:solidFill>
          <a:ln w="12700">
            <a:solidFill>
              <a:srgbClr val="1D1D1F"/>
            </a:solidFill>
            <a:prstDash val="solid"/>
          </a:ln>
        </p:spPr>
      </p:sp>
      <p:sp>
        <p:nvSpPr>
          <p:cNvPr id="21" name="Text 19"/>
          <p:cNvSpPr/>
          <p:nvPr/>
        </p:nvSpPr>
        <p:spPr>
          <a:xfrm>
            <a:off x="868680" y="4160520"/>
            <a:ext cx="2743200" cy="32004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Generacion de caja</a:t>
            </a:r>
            <a:endParaRPr lang="en-US" sz="1200" dirty="0"/>
          </a:p>
        </p:txBody>
      </p:sp>
      <p:sp>
        <p:nvSpPr>
          <p:cNvPr id="22" name="Text 20"/>
          <p:cNvSpPr/>
          <p:nvPr/>
        </p:nvSpPr>
        <p:spPr>
          <a:xfrm>
            <a:off x="868680" y="4498848"/>
            <a:ext cx="4754880" cy="38404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Apple genera mas de $100B en free cash flow anual. Esto financia buybacks, dividendos, I+D y adquisiciones sin necesidad de deuda significativa.</a:t>
            </a:r>
            <a:endParaRPr lang="en-US" sz="950" dirty="0"/>
          </a:p>
        </p:txBody>
      </p:sp>
      <p:sp>
        <p:nvSpPr>
          <p:cNvPr id="23" name="Text 21"/>
          <p:cNvSpPr/>
          <p:nvPr/>
        </p:nvSpPr>
        <p:spPr>
          <a:xfrm>
            <a:off x="5806440" y="4224528"/>
            <a:ext cx="2560320" cy="594360"/>
          </a:xfrm>
          <a:prstGeom prst="rect">
            <a:avLst/>
          </a:prstGeom>
          <a:noFill/>
          <a:ln/>
        </p:spPr>
        <p:txBody>
          <a:bodyPr wrap="square" lIns="0" tIns="0" rIns="0" bIns="0" rtlCol="0" anchor="ctr"/>
          <a:lstStyle/>
          <a:p>
            <a:pPr algn="r" indent="0" marL="0">
              <a:buNone/>
            </a:pPr>
            <a:r>
              <a:rPr lang="en-US" sz="900" i="1" dirty="0">
                <a:solidFill>
                  <a:srgbClr val="6E6E73"/>
                </a:solidFill>
                <a:latin typeface="Calibri" pitchFamily="34" charset="0"/>
                <a:ea typeface="Calibri" pitchFamily="34" charset="-122"/>
                <a:cs typeface="Calibri" pitchFamily="34" charset="-120"/>
              </a:rPr>
              <a:t>vs Xiaomi: capacidad de inversion 10x mayor</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de Perfil Competitivo (MPC)</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8138160" cy="914400"/>
        </p:xfrm>
        <a:graphic>
          <a:graphicData uri="http://schemas.openxmlformats.org/drawingml/2006/table">
            <a:tbl>
              <a:tblPr/>
              <a:tblGrid>
                <a:gridCol w="2926080"/>
                <a:gridCol w="640080"/>
                <a:gridCol w="594360"/>
                <a:gridCol w="594360"/>
                <a:gridCol w="594360"/>
                <a:gridCol w="594360"/>
                <a:gridCol w="594360"/>
                <a:gridCol w="594360"/>
              </a:tblGrid>
              <a:tr h="0">
                <a:tc>
                  <a:txBody>
                    <a:bodyPr/>
                    <a:lstStyle/>
                    <a:p>
                      <a:pPr algn="l" indent="0" marL="0">
                        <a:buNone/>
                      </a:pPr>
                      <a:r>
                        <a:rPr lang="en-US" sz="900" b="1" dirty="0">
                          <a:solidFill>
                            <a:srgbClr val="FFFFFF"/>
                          </a:solidFill>
                        </a:rPr>
                        <a:t>Factor Critico de Exito</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Peso</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Apple</a:t>
                      </a:r>
                      <a:endParaRPr lang="en-US" sz="900" dirty="0"/>
                    </a:p>
                    <a:p>
                      <a:pPr algn="ctr" indent="0" marL="0">
                        <a:buNone/>
                      </a:pPr>
                      <a:r>
                        <a:rPr lang="en-US" sz="900" b="1" dirty="0">
                          <a:solidFill>
                            <a:srgbClr val="FFFFFF"/>
                          </a:solidFill>
                        </a:rPr>
                        <a:t>Calif.</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Apple</a:t>
                      </a:r>
                      <a:endParaRPr lang="en-US" sz="900" dirty="0"/>
                    </a:p>
                    <a:p>
                      <a:pPr algn="ctr" indent="0" marL="0">
                        <a:buNone/>
                      </a:pPr>
                      <a:r>
                        <a:rPr lang="en-US" sz="900" b="1" dirty="0">
                          <a:solidFill>
                            <a:srgbClr val="FFFFFF"/>
                          </a:solidFill>
                        </a:rPr>
                        <a:t>Punt.</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Samsung</a:t>
                      </a:r>
                      <a:endParaRPr lang="en-US" sz="900" dirty="0"/>
                    </a:p>
                    <a:p>
                      <a:pPr algn="ctr" indent="0" marL="0">
                        <a:buNone/>
                      </a:pPr>
                      <a:r>
                        <a:rPr lang="en-US" sz="900" b="1" dirty="0">
                          <a:solidFill>
                            <a:srgbClr val="FFFFFF"/>
                          </a:solidFill>
                        </a:rPr>
                        <a:t>Calif.</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Samsung</a:t>
                      </a:r>
                      <a:endParaRPr lang="en-US" sz="900" dirty="0"/>
                    </a:p>
                    <a:p>
                      <a:pPr algn="ctr" indent="0" marL="0">
                        <a:buNone/>
                      </a:pPr>
                      <a:r>
                        <a:rPr lang="en-US" sz="900" b="1" dirty="0">
                          <a:solidFill>
                            <a:srgbClr val="FFFFFF"/>
                          </a:solidFill>
                        </a:rPr>
                        <a:t>Punt.</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Xiaomi</a:t>
                      </a:r>
                      <a:endParaRPr lang="en-US" sz="900" dirty="0"/>
                    </a:p>
                    <a:p>
                      <a:pPr algn="ctr" indent="0" marL="0">
                        <a:buNone/>
                      </a:pPr>
                      <a:r>
                        <a:rPr lang="en-US" sz="900" b="1" dirty="0">
                          <a:solidFill>
                            <a:srgbClr val="FFFFFF"/>
                          </a:solidFill>
                        </a:rPr>
                        <a:t>Calif.</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Xiaomi</a:t>
                      </a:r>
                      <a:endParaRPr lang="en-US" sz="900" dirty="0"/>
                    </a:p>
                    <a:p>
                      <a:pPr algn="ctr" indent="0" marL="0">
                        <a:buNone/>
                      </a:pPr>
                      <a:r>
                        <a:rPr lang="en-US" sz="900" b="1" dirty="0">
                          <a:solidFill>
                            <a:srgbClr val="FFFFFF"/>
                          </a:solidFill>
                        </a:rPr>
                        <a:t>Punt.</a:t>
                      </a:r>
                      <a:endParaRPr lang="en-US" sz="9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00" dirty="0">
                          <a:solidFill>
                            <a:srgbClr val="424245"/>
                          </a:solidFill>
                        </a:rPr>
                        <a:t>Lealtad de marca</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0.15</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0.60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0.45</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0.30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Participacion de mercado</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0.48</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Rentabilidad (margen bruto)</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0.13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0.52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Silicon e innovacion hardware</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0.48</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Ecosistema y software</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0.11</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0.44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Red de distribucion global</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Competitividad de precio</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0.10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0.30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0.40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Capacidades de IA publica</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0.09</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0.27</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0.27</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0.18</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Sustentabilidad y ESG</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0.08</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0.32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0.24</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0.16</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b="1" dirty="0">
                          <a:solidFill>
                            <a:srgbClr val="1D1D1F"/>
                          </a:solidFill>
                        </a:rPr>
                        <a:t>TOTAL</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1.00</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3.59</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2.98</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2.42</a:t>
                      </a:r>
                      <a:endParaRPr lang="en-US" sz="1000" dirty="0"/>
                    </a:p>
                  </a:txBody>
                  <a:tcPr marL="50800" marR="508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bl>
          </a:graphicData>
        </a:graphic>
      </p:graphicFrame>
      <p:sp>
        <p:nvSpPr>
          <p:cNvPr id="5" name="Text 2"/>
          <p:cNvSpPr/>
          <p:nvPr/>
        </p:nvSpPr>
        <p:spPr>
          <a:xfrm>
            <a:off x="640080" y="4773168"/>
            <a:ext cx="7863840" cy="320040"/>
          </a:xfrm>
          <a:prstGeom prst="rect">
            <a:avLst/>
          </a:prstGeom>
          <a:noFill/>
          <a:ln/>
        </p:spPr>
        <p:txBody>
          <a:bodyPr wrap="square" lIns="0" tIns="0" rIns="0" bIns="0" rtlCol="0" anchor="ctr"/>
          <a:lstStyle/>
          <a:p>
            <a:pPr indent="0" marL="0">
              <a:buNone/>
            </a:pPr>
            <a:r>
              <a:rPr lang="en-US" sz="1050" i="1" dirty="0">
                <a:solidFill>
                  <a:srgbClr val="6E6E73"/>
                </a:solidFill>
                <a:latin typeface="Calibri" pitchFamily="34" charset="0"/>
                <a:ea typeface="Calibri" pitchFamily="34" charset="-122"/>
                <a:cs typeface="Calibri" pitchFamily="34" charset="-120"/>
              </a:rPr>
              <a:t>Apple lidera con 3.59. Ventaja estructural en marca, margen, silicon y ecosistema.</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Modelo PESTEL — 1/2</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1078992"/>
          </a:xfrm>
          <a:prstGeom prst="rect">
            <a:avLst/>
          </a:prstGeom>
          <a:solidFill>
            <a:srgbClr val="FFFFFF"/>
          </a:solidFill>
          <a:ln w="9525">
            <a:solidFill>
              <a:srgbClr val="D1D1D6"/>
            </a:solidFill>
            <a:prstDash val="solid"/>
          </a:ln>
        </p:spPr>
      </p:sp>
      <p:sp>
        <p:nvSpPr>
          <p:cNvPr id="5" name="Shape 3"/>
          <p:cNvSpPr/>
          <p:nvPr/>
        </p:nvSpPr>
        <p:spPr>
          <a:xfrm>
            <a:off x="640080" y="1261872"/>
            <a:ext cx="1005840" cy="1078992"/>
          </a:xfrm>
          <a:prstGeom prst="rect">
            <a:avLst/>
          </a:prstGeom>
          <a:solidFill>
            <a:srgbClr val="1D1D1F"/>
          </a:solidFill>
          <a:ln w="12700">
            <a:solidFill>
              <a:srgbClr val="1D1D1F"/>
            </a:solidFill>
            <a:prstDash val="solid"/>
          </a:ln>
        </p:spPr>
      </p:sp>
      <p:sp>
        <p:nvSpPr>
          <p:cNvPr id="6" name="Text 4"/>
          <p:cNvSpPr/>
          <p:nvPr/>
        </p:nvSpPr>
        <p:spPr>
          <a:xfrm>
            <a:off x="640080" y="1426464"/>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P</a:t>
            </a:r>
            <a:endParaRPr lang="en-US" sz="3800" dirty="0"/>
          </a:p>
        </p:txBody>
      </p:sp>
      <p:sp>
        <p:nvSpPr>
          <p:cNvPr id="7" name="Text 5"/>
          <p:cNvSpPr/>
          <p:nvPr/>
        </p:nvSpPr>
        <p:spPr>
          <a:xfrm>
            <a:off x="640080" y="1993392"/>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POLITICO</a:t>
            </a:r>
            <a:endParaRPr lang="en-US" sz="800" dirty="0"/>
          </a:p>
        </p:txBody>
      </p:sp>
      <p:sp>
        <p:nvSpPr>
          <p:cNvPr id="8" name="Text 6"/>
          <p:cNvSpPr/>
          <p:nvPr/>
        </p:nvSpPr>
        <p:spPr>
          <a:xfrm>
            <a:off x="1828800" y="1371600"/>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Tensiones geopoliticas EE.UU.–China afectan supply chain y acuerdos comerciales. DMA europeo obliga apertura del ecosistema. Regulacion antitrust DOJ en EE.UU. amenaza el modelo de App Store. Oportunidad: India como alternativa manufacturera y mercado emergente estrategico.</a:t>
            </a:r>
            <a:endParaRPr lang="en-US" sz="1100" dirty="0"/>
          </a:p>
        </p:txBody>
      </p:sp>
      <p:sp>
        <p:nvSpPr>
          <p:cNvPr id="9" name="Shape 7"/>
          <p:cNvSpPr/>
          <p:nvPr/>
        </p:nvSpPr>
        <p:spPr>
          <a:xfrm>
            <a:off x="640080" y="2468880"/>
            <a:ext cx="7863840" cy="1078992"/>
          </a:xfrm>
          <a:prstGeom prst="rect">
            <a:avLst/>
          </a:prstGeom>
          <a:solidFill>
            <a:srgbClr val="FFFFFF"/>
          </a:solidFill>
          <a:ln w="9525">
            <a:solidFill>
              <a:srgbClr val="D1D1D6"/>
            </a:solidFill>
            <a:prstDash val="solid"/>
          </a:ln>
        </p:spPr>
      </p:sp>
      <p:sp>
        <p:nvSpPr>
          <p:cNvPr id="10" name="Shape 8"/>
          <p:cNvSpPr/>
          <p:nvPr/>
        </p:nvSpPr>
        <p:spPr>
          <a:xfrm>
            <a:off x="640080" y="2468880"/>
            <a:ext cx="1005840" cy="1078992"/>
          </a:xfrm>
          <a:prstGeom prst="rect">
            <a:avLst/>
          </a:prstGeom>
          <a:solidFill>
            <a:srgbClr val="1D1D1F"/>
          </a:solidFill>
          <a:ln w="12700">
            <a:solidFill>
              <a:srgbClr val="1D1D1F"/>
            </a:solidFill>
            <a:prstDash val="solid"/>
          </a:ln>
        </p:spPr>
      </p:sp>
      <p:sp>
        <p:nvSpPr>
          <p:cNvPr id="11" name="Text 9"/>
          <p:cNvSpPr/>
          <p:nvPr/>
        </p:nvSpPr>
        <p:spPr>
          <a:xfrm>
            <a:off x="640080" y="2633472"/>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E</a:t>
            </a:r>
            <a:endParaRPr lang="en-US" sz="3800" dirty="0"/>
          </a:p>
        </p:txBody>
      </p:sp>
      <p:sp>
        <p:nvSpPr>
          <p:cNvPr id="12" name="Text 10"/>
          <p:cNvSpPr/>
          <p:nvPr/>
        </p:nvSpPr>
        <p:spPr>
          <a:xfrm>
            <a:off x="640080" y="3200400"/>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ECONOMICO</a:t>
            </a:r>
            <a:endParaRPr lang="en-US" sz="800" dirty="0"/>
          </a:p>
        </p:txBody>
      </p:sp>
      <p:sp>
        <p:nvSpPr>
          <p:cNvPr id="13" name="Text 11"/>
          <p:cNvSpPr/>
          <p:nvPr/>
        </p:nvSpPr>
        <p:spPr>
          <a:xfrm>
            <a:off x="1828800" y="2578608"/>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Inflacion moderada globalmente pero persistente en EEUU y Europa. Dolar fuerte comprime ingresos en monedas debiles (40%+ de ventas fuera de EEUU). Consumidor premium sigue siendo resiliente. Tasa de interes alta encarece deuda pero Apple opera con caja neta positiva.</a:t>
            </a:r>
            <a:endParaRPr lang="en-US" sz="1100" dirty="0"/>
          </a:p>
        </p:txBody>
      </p:sp>
      <p:sp>
        <p:nvSpPr>
          <p:cNvPr id="14" name="Shape 12"/>
          <p:cNvSpPr/>
          <p:nvPr/>
        </p:nvSpPr>
        <p:spPr>
          <a:xfrm>
            <a:off x="640080" y="3675888"/>
            <a:ext cx="7863840" cy="1078992"/>
          </a:xfrm>
          <a:prstGeom prst="rect">
            <a:avLst/>
          </a:prstGeom>
          <a:solidFill>
            <a:srgbClr val="FFFFFF"/>
          </a:solidFill>
          <a:ln w="9525">
            <a:solidFill>
              <a:srgbClr val="D1D1D6"/>
            </a:solidFill>
            <a:prstDash val="solid"/>
          </a:ln>
        </p:spPr>
      </p:sp>
      <p:sp>
        <p:nvSpPr>
          <p:cNvPr id="15" name="Shape 13"/>
          <p:cNvSpPr/>
          <p:nvPr/>
        </p:nvSpPr>
        <p:spPr>
          <a:xfrm>
            <a:off x="640080" y="3675888"/>
            <a:ext cx="1005840" cy="1078992"/>
          </a:xfrm>
          <a:prstGeom prst="rect">
            <a:avLst/>
          </a:prstGeom>
          <a:solidFill>
            <a:srgbClr val="1D1D1F"/>
          </a:solidFill>
          <a:ln w="12700">
            <a:solidFill>
              <a:srgbClr val="1D1D1F"/>
            </a:solidFill>
            <a:prstDash val="solid"/>
          </a:ln>
        </p:spPr>
      </p:sp>
      <p:sp>
        <p:nvSpPr>
          <p:cNvPr id="16" name="Text 14"/>
          <p:cNvSpPr/>
          <p:nvPr/>
        </p:nvSpPr>
        <p:spPr>
          <a:xfrm>
            <a:off x="640080" y="3840480"/>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S</a:t>
            </a:r>
            <a:endParaRPr lang="en-US" sz="3800" dirty="0"/>
          </a:p>
        </p:txBody>
      </p:sp>
      <p:sp>
        <p:nvSpPr>
          <p:cNvPr id="17" name="Text 15"/>
          <p:cNvSpPr/>
          <p:nvPr/>
        </p:nvSpPr>
        <p:spPr>
          <a:xfrm>
            <a:off x="640080" y="4407408"/>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SOCIAL</a:t>
            </a:r>
            <a:endParaRPr lang="en-US" sz="800" dirty="0"/>
          </a:p>
        </p:txBody>
      </p:sp>
      <p:sp>
        <p:nvSpPr>
          <p:cNvPr id="18" name="Text 16"/>
          <p:cNvSpPr/>
          <p:nvPr/>
        </p:nvSpPr>
        <p:spPr>
          <a:xfrm>
            <a:off x="1828800" y="3785616"/>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Crecimiento de salud digital y bienestar como prioridad del consumidor. Privacidad como valor aspiracional — Apple lo capitaliza como diferenciacion. Demanda de IA accesible y on-device desde jovenes y trabajadores del conocimiento. Escrutinio de tiempo de pantalla y salud mental.</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Modelo PESTEL — 2/2</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1078992"/>
          </a:xfrm>
          <a:prstGeom prst="rect">
            <a:avLst/>
          </a:prstGeom>
          <a:solidFill>
            <a:srgbClr val="FFFFFF"/>
          </a:solidFill>
          <a:ln w="9525">
            <a:solidFill>
              <a:srgbClr val="D1D1D6"/>
            </a:solidFill>
            <a:prstDash val="solid"/>
          </a:ln>
        </p:spPr>
      </p:sp>
      <p:sp>
        <p:nvSpPr>
          <p:cNvPr id="5" name="Shape 3"/>
          <p:cNvSpPr/>
          <p:nvPr/>
        </p:nvSpPr>
        <p:spPr>
          <a:xfrm>
            <a:off x="640080" y="1261872"/>
            <a:ext cx="1005840" cy="1078992"/>
          </a:xfrm>
          <a:prstGeom prst="rect">
            <a:avLst/>
          </a:prstGeom>
          <a:solidFill>
            <a:srgbClr val="1D1D1F"/>
          </a:solidFill>
          <a:ln w="12700">
            <a:solidFill>
              <a:srgbClr val="1D1D1F"/>
            </a:solidFill>
            <a:prstDash val="solid"/>
          </a:ln>
        </p:spPr>
      </p:sp>
      <p:sp>
        <p:nvSpPr>
          <p:cNvPr id="6" name="Text 4"/>
          <p:cNvSpPr/>
          <p:nvPr/>
        </p:nvSpPr>
        <p:spPr>
          <a:xfrm>
            <a:off x="640080" y="1426464"/>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T</a:t>
            </a:r>
            <a:endParaRPr lang="en-US" sz="3800" dirty="0"/>
          </a:p>
        </p:txBody>
      </p:sp>
      <p:sp>
        <p:nvSpPr>
          <p:cNvPr id="7" name="Text 5"/>
          <p:cNvSpPr/>
          <p:nvPr/>
        </p:nvSpPr>
        <p:spPr>
          <a:xfrm>
            <a:off x="640080" y="1993392"/>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TECNOLOGICO</a:t>
            </a:r>
            <a:endParaRPr lang="en-US" sz="800" dirty="0"/>
          </a:p>
        </p:txBody>
      </p:sp>
      <p:sp>
        <p:nvSpPr>
          <p:cNvPr id="8" name="Text 6"/>
          <p:cNvSpPr/>
          <p:nvPr/>
        </p:nvSpPr>
        <p:spPr>
          <a:xfrm>
            <a:off x="1828800" y="1371600"/>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Silicon propio (A18 Pro, M4) con liderazgo en desempeno por vatio. IA generativa en disputa: OpenAI, Google y Samsung avanzan. Vision Pro como plataforma AR/VR de largo plazo. Computacion cuantica como horizonte de siguiente decada.</a:t>
            </a:r>
            <a:endParaRPr lang="en-US" sz="1100" dirty="0"/>
          </a:p>
        </p:txBody>
      </p:sp>
      <p:sp>
        <p:nvSpPr>
          <p:cNvPr id="9" name="Shape 7"/>
          <p:cNvSpPr/>
          <p:nvPr/>
        </p:nvSpPr>
        <p:spPr>
          <a:xfrm>
            <a:off x="640080" y="2468880"/>
            <a:ext cx="7863840" cy="1078992"/>
          </a:xfrm>
          <a:prstGeom prst="rect">
            <a:avLst/>
          </a:prstGeom>
          <a:solidFill>
            <a:srgbClr val="FFFFFF"/>
          </a:solidFill>
          <a:ln w="9525">
            <a:solidFill>
              <a:srgbClr val="D1D1D6"/>
            </a:solidFill>
            <a:prstDash val="solid"/>
          </a:ln>
        </p:spPr>
      </p:sp>
      <p:sp>
        <p:nvSpPr>
          <p:cNvPr id="10" name="Shape 8"/>
          <p:cNvSpPr/>
          <p:nvPr/>
        </p:nvSpPr>
        <p:spPr>
          <a:xfrm>
            <a:off x="640080" y="2468880"/>
            <a:ext cx="1005840" cy="1078992"/>
          </a:xfrm>
          <a:prstGeom prst="rect">
            <a:avLst/>
          </a:prstGeom>
          <a:solidFill>
            <a:srgbClr val="1D1D1F"/>
          </a:solidFill>
          <a:ln w="12700">
            <a:solidFill>
              <a:srgbClr val="1D1D1F"/>
            </a:solidFill>
            <a:prstDash val="solid"/>
          </a:ln>
        </p:spPr>
      </p:sp>
      <p:sp>
        <p:nvSpPr>
          <p:cNvPr id="11" name="Text 9"/>
          <p:cNvSpPr/>
          <p:nvPr/>
        </p:nvSpPr>
        <p:spPr>
          <a:xfrm>
            <a:off x="640080" y="2633472"/>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E</a:t>
            </a:r>
            <a:endParaRPr lang="en-US" sz="3800" dirty="0"/>
          </a:p>
        </p:txBody>
      </p:sp>
      <p:sp>
        <p:nvSpPr>
          <p:cNvPr id="12" name="Text 10"/>
          <p:cNvSpPr/>
          <p:nvPr/>
        </p:nvSpPr>
        <p:spPr>
          <a:xfrm>
            <a:off x="640080" y="3200400"/>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ECOLOGICO</a:t>
            </a:r>
            <a:endParaRPr lang="en-US" sz="800" dirty="0"/>
          </a:p>
        </p:txBody>
      </p:sp>
      <p:sp>
        <p:nvSpPr>
          <p:cNvPr id="13" name="Text 11"/>
          <p:cNvSpPr/>
          <p:nvPr/>
        </p:nvSpPr>
        <p:spPr>
          <a:xfrm>
            <a:off x="1828800" y="2578608"/>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Meta de carbon neutral completo en toda la cadena de valor para 2030. Liderazgo en reciclaje de materiales (titanio, aluminio, tierras raras). Presion de inversores ESG para reportar avances. Oportunidad de diferenciacion ante regulacion ambiental creciente.</a:t>
            </a:r>
            <a:endParaRPr lang="en-US" sz="1100" dirty="0"/>
          </a:p>
        </p:txBody>
      </p:sp>
      <p:sp>
        <p:nvSpPr>
          <p:cNvPr id="14" name="Shape 12"/>
          <p:cNvSpPr/>
          <p:nvPr/>
        </p:nvSpPr>
        <p:spPr>
          <a:xfrm>
            <a:off x="640080" y="3675888"/>
            <a:ext cx="7863840" cy="1078992"/>
          </a:xfrm>
          <a:prstGeom prst="rect">
            <a:avLst/>
          </a:prstGeom>
          <a:solidFill>
            <a:srgbClr val="FFFFFF"/>
          </a:solidFill>
          <a:ln w="9525">
            <a:solidFill>
              <a:srgbClr val="D1D1D6"/>
            </a:solidFill>
            <a:prstDash val="solid"/>
          </a:ln>
        </p:spPr>
      </p:sp>
      <p:sp>
        <p:nvSpPr>
          <p:cNvPr id="15" name="Shape 13"/>
          <p:cNvSpPr/>
          <p:nvPr/>
        </p:nvSpPr>
        <p:spPr>
          <a:xfrm>
            <a:off x="640080" y="3675888"/>
            <a:ext cx="1005840" cy="1078992"/>
          </a:xfrm>
          <a:prstGeom prst="rect">
            <a:avLst/>
          </a:prstGeom>
          <a:solidFill>
            <a:srgbClr val="1D1D1F"/>
          </a:solidFill>
          <a:ln w="12700">
            <a:solidFill>
              <a:srgbClr val="1D1D1F"/>
            </a:solidFill>
            <a:prstDash val="solid"/>
          </a:ln>
        </p:spPr>
      </p:sp>
      <p:sp>
        <p:nvSpPr>
          <p:cNvPr id="16" name="Text 14"/>
          <p:cNvSpPr/>
          <p:nvPr/>
        </p:nvSpPr>
        <p:spPr>
          <a:xfrm>
            <a:off x="640080" y="3840480"/>
            <a:ext cx="1005840" cy="50292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L</a:t>
            </a:r>
            <a:endParaRPr lang="en-US" sz="3800" dirty="0"/>
          </a:p>
        </p:txBody>
      </p:sp>
      <p:sp>
        <p:nvSpPr>
          <p:cNvPr id="17" name="Text 15"/>
          <p:cNvSpPr/>
          <p:nvPr/>
        </p:nvSpPr>
        <p:spPr>
          <a:xfrm>
            <a:off x="640080" y="4407408"/>
            <a:ext cx="1005840" cy="256032"/>
          </a:xfrm>
          <a:prstGeom prst="rect">
            <a:avLst/>
          </a:prstGeom>
          <a:noFill/>
          <a:ln/>
        </p:spPr>
        <p:txBody>
          <a:bodyPr wrap="square" lIns="0" tIns="0" rIns="0" bIns="0" rtlCol="0" anchor="ctr"/>
          <a:lstStyle/>
          <a:p>
            <a:pPr algn="ctr" indent="0" marL="0">
              <a:buNone/>
            </a:pPr>
            <a:r>
              <a:rPr lang="en-US" sz="800" spc="100" kern="0" dirty="0">
                <a:solidFill>
                  <a:srgbClr val="AEAEB2"/>
                </a:solidFill>
                <a:latin typeface="Calibri" pitchFamily="34" charset="0"/>
                <a:ea typeface="Calibri" pitchFamily="34" charset="-122"/>
                <a:cs typeface="Calibri" pitchFamily="34" charset="-120"/>
              </a:rPr>
              <a:t>LEGAL</a:t>
            </a:r>
            <a:endParaRPr lang="en-US" sz="800" dirty="0"/>
          </a:p>
        </p:txBody>
      </p:sp>
      <p:sp>
        <p:nvSpPr>
          <p:cNvPr id="18" name="Text 16"/>
          <p:cNvSpPr/>
          <p:nvPr/>
        </p:nvSpPr>
        <p:spPr>
          <a:xfrm>
            <a:off x="1828800" y="3785616"/>
            <a:ext cx="6492240" cy="868680"/>
          </a:xfrm>
          <a:prstGeom prst="rect">
            <a:avLst/>
          </a:prstGeom>
          <a:noFill/>
          <a:ln/>
        </p:spPr>
        <p:txBody>
          <a:bodyPr wrap="square" lIns="0" tIns="0" rIns="0" bIns="0" rtlCol="0" anchor="t"/>
          <a:lstStyle/>
          <a:p>
            <a:pPr indent="0" marL="0">
              <a:buNone/>
            </a:pPr>
            <a:r>
              <a:rPr lang="en-US" sz="1100" dirty="0">
                <a:solidFill>
                  <a:srgbClr val="424245"/>
                </a:solidFill>
                <a:latin typeface="Calibri" pitchFamily="34" charset="0"/>
                <a:ea typeface="Calibri" pitchFamily="34" charset="-122"/>
                <a:cs typeface="Calibri" pitchFamily="34" charset="-120"/>
              </a:rPr>
              <a:t>DMA en Europa obliga a abrir el App Store a distribuidores alternativos. DOJ investiga monopolio en smartphones y pagos moviles. Regulacion de privacidad GDPR y similares favorece el modelo de Apple. Patentes de silicon y software como activo defensivo clave.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EFE — Factores Externos Clave</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8229600" cy="914400"/>
        </p:xfrm>
        <a:graphic>
          <a:graphicData uri="http://schemas.openxmlformats.org/drawingml/2006/table">
            <a:tbl>
              <a:tblPr/>
              <a:tblGrid>
                <a:gridCol w="5029200"/>
                <a:gridCol w="1097280"/>
                <a:gridCol w="1005840"/>
                <a:gridCol w="1097280"/>
              </a:tblGrid>
              <a:tr h="0">
                <a:tc>
                  <a:txBody>
                    <a:bodyPr/>
                    <a:lstStyle/>
                    <a:p>
                      <a:pPr algn="l" indent="0" marL="0">
                        <a:buNone/>
                      </a:pPr>
                      <a:r>
                        <a:rPr lang="en-US" sz="1000" b="1" dirty="0">
                          <a:solidFill>
                            <a:srgbClr val="FFFFFF"/>
                          </a:solidFill>
                        </a:rPr>
                        <a:t>Factor Externo Clave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Peso</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Calif.</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000" b="1" dirty="0">
                          <a:solidFill>
                            <a:srgbClr val="FFFFFF"/>
                          </a:solidFill>
                        </a:rPr>
                        <a:t>Puntaje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00" b="1" dirty="0">
                          <a:solidFill>
                            <a:srgbClr val="1D1D1F"/>
                          </a:solidFill>
                        </a:rPr>
                        <a:t>OPORTUNIDADES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Demanda de IA on-device en dispositivos personales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Crecimiento acelerado de Services y suscripciones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0.11</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0.44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Expansion de mercado India y Asia emergente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Salud digital y wearables como nueva categoria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0.09</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Silicon propio como ventaja en IA on-device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0.32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Diversificacion de manufactura fuera de China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D1D1F"/>
                          </a:solidFill>
                        </a:rPr>
                        <a:t>AMENAZAS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Aranceles y tension geopolitica EE.UU.–China</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Regulacion DMA y antitrust en mercados clave</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0.20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Intensificacion competitiva en IA (Google, Samsung)</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Saturacion del segmento smartphone premium global</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0.18</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Riesgos de ciberseguridad y privacidad de datos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0.16</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Riesgo cambiario en mercados internacionales</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0.04</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0.12</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D1D1F"/>
                          </a:solidFill>
                        </a:rPr>
                        <a:t>TOTAL</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1.00</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2.95</a:t>
                      </a:r>
                      <a:endParaRPr lang="en-US" sz="1000" dirty="0"/>
                    </a:p>
                  </a:txBody>
                  <a:tcPr marL="76200" marR="76200" marT="50800" marB="508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bl>
          </a:graphicData>
        </a:graphic>
      </p:graphicFrame>
      <p:sp>
        <p:nvSpPr>
          <p:cNvPr id="5" name="Text 2"/>
          <p:cNvSpPr/>
          <p:nvPr/>
        </p:nvSpPr>
        <p:spPr>
          <a:xfrm>
            <a:off x="640080" y="4773168"/>
            <a:ext cx="7863840" cy="320040"/>
          </a:xfrm>
          <a:prstGeom prst="rect">
            <a:avLst/>
          </a:prstGeom>
          <a:noFill/>
          <a:ln/>
        </p:spPr>
        <p:txBody>
          <a:bodyPr wrap="square" lIns="0" tIns="0" rIns="0" bIns="0" rtlCol="0" anchor="ctr"/>
          <a:lstStyle/>
          <a:p>
            <a:pPr indent="0" marL="0">
              <a:buNone/>
            </a:pPr>
            <a:r>
              <a:rPr lang="en-US" sz="1050" i="1" dirty="0">
                <a:solidFill>
                  <a:srgbClr val="6E6E73"/>
                </a:solidFill>
                <a:latin typeface="Calibri" pitchFamily="34" charset="0"/>
                <a:ea typeface="Calibri" pitchFamily="34" charset="-122"/>
                <a:cs typeface="Calibri" pitchFamily="34" charset="-120"/>
              </a:rPr>
              <a:t>Resultado EFE: 2.95 — Posicion externa FAVORABLE. Apple responde bien a las oportunidades del entorno.</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05 — Formulacion</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Estrategica</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Matriz FODA, BCG, estrategias FO/FA/DO/DA y MPEC</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FODA — Analisis Interno</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54864" cy="3474720"/>
          </a:xfrm>
          <a:prstGeom prst="rect">
            <a:avLst/>
          </a:prstGeom>
          <a:solidFill>
            <a:srgbClr val="1D1D1F"/>
          </a:solidFill>
          <a:ln w="12700">
            <a:solidFill>
              <a:srgbClr val="1D1D1F"/>
            </a:solidFill>
            <a:prstDash val="solid"/>
          </a:ln>
        </p:spPr>
      </p:sp>
      <p:sp>
        <p:nvSpPr>
          <p:cNvPr id="5" name="Text 3"/>
          <p:cNvSpPr/>
          <p:nvPr/>
        </p:nvSpPr>
        <p:spPr>
          <a:xfrm>
            <a:off x="804672" y="1261872"/>
            <a:ext cx="3474720" cy="411480"/>
          </a:xfrm>
          <a:prstGeom prst="rect">
            <a:avLst/>
          </a:prstGeom>
          <a:noFill/>
          <a:ln/>
        </p:spPr>
        <p:txBody>
          <a:bodyPr wrap="square" lIns="0" tIns="0" rIns="0" bIns="0" rtlCol="0" anchor="ctr"/>
          <a:lstStyle/>
          <a:p>
            <a:pPr indent="0" marL="0">
              <a:buNone/>
            </a:pPr>
            <a:r>
              <a:rPr lang="en-US" sz="1200" b="1" spc="100" kern="0" dirty="0">
                <a:solidFill>
                  <a:srgbClr val="1D1D1F"/>
                </a:solidFill>
                <a:latin typeface="Calibri" pitchFamily="34" charset="0"/>
                <a:ea typeface="Calibri" pitchFamily="34" charset="-122"/>
                <a:cs typeface="Calibri" pitchFamily="34" charset="-120"/>
              </a:rPr>
              <a:t>FORTALEZAS</a:t>
            </a:r>
            <a:endParaRPr lang="en-US" sz="1200" dirty="0"/>
          </a:p>
        </p:txBody>
      </p:sp>
      <p:sp>
        <p:nvSpPr>
          <p:cNvPr id="6" name="Text 4"/>
          <p:cNvSpPr/>
          <p:nvPr/>
        </p:nvSpPr>
        <p:spPr>
          <a:xfrm>
            <a:off x="804672" y="1691640"/>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Marca premium con lealtad global excepcional</a:t>
            </a:r>
            <a:endParaRPr lang="en-US" sz="1050" dirty="0"/>
          </a:p>
        </p:txBody>
      </p:sp>
      <p:sp>
        <p:nvSpPr>
          <p:cNvPr id="7" name="Text 5"/>
          <p:cNvSpPr/>
          <p:nvPr/>
        </p:nvSpPr>
        <p:spPr>
          <a:xfrm>
            <a:off x="804672" y="2066544"/>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Ecosistema cerrado hardware-software-services</a:t>
            </a:r>
            <a:endParaRPr lang="en-US" sz="1050" dirty="0"/>
          </a:p>
        </p:txBody>
      </p:sp>
      <p:sp>
        <p:nvSpPr>
          <p:cNvPr id="8" name="Text 6"/>
          <p:cNvSpPr/>
          <p:nvPr/>
        </p:nvSpPr>
        <p:spPr>
          <a:xfrm>
            <a:off x="804672" y="2441448"/>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Silicon propio: A18, M4 — liderazgo industria</a:t>
            </a:r>
            <a:endParaRPr lang="en-US" sz="1050" dirty="0"/>
          </a:p>
        </p:txBody>
      </p:sp>
      <p:sp>
        <p:nvSpPr>
          <p:cNvPr id="9" name="Text 7"/>
          <p:cNvSpPr/>
          <p:nvPr/>
        </p:nvSpPr>
        <p:spPr>
          <a:xfrm>
            <a:off x="804672" y="2816352"/>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Installed base de 2B+ dispositivos monetizables</a:t>
            </a:r>
            <a:endParaRPr lang="en-US" sz="1050" dirty="0"/>
          </a:p>
        </p:txBody>
      </p:sp>
      <p:sp>
        <p:nvSpPr>
          <p:cNvPr id="10" name="Text 8"/>
          <p:cNvSpPr/>
          <p:nvPr/>
        </p:nvSpPr>
        <p:spPr>
          <a:xfrm>
            <a:off x="804672" y="3191256"/>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Gross margin del 46.9% — lider absoluto</a:t>
            </a:r>
            <a:endParaRPr lang="en-US" sz="1050" dirty="0"/>
          </a:p>
        </p:txBody>
      </p:sp>
      <p:sp>
        <p:nvSpPr>
          <p:cNvPr id="11" name="Text 9"/>
          <p:cNvSpPr/>
          <p:nvPr/>
        </p:nvSpPr>
        <p:spPr>
          <a:xfrm>
            <a:off x="804672" y="3566160"/>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Generacion de FCF superior a $100B anual</a:t>
            </a:r>
            <a:endParaRPr lang="en-US" sz="1050" dirty="0"/>
          </a:p>
        </p:txBody>
      </p:sp>
      <p:sp>
        <p:nvSpPr>
          <p:cNvPr id="12" name="Text 10"/>
          <p:cNvSpPr/>
          <p:nvPr/>
        </p:nvSpPr>
        <p:spPr>
          <a:xfrm>
            <a:off x="804672" y="3941064"/>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Red retail propia con control de experiencia</a:t>
            </a:r>
            <a:endParaRPr lang="en-US" sz="1050" dirty="0"/>
          </a:p>
        </p:txBody>
      </p:sp>
      <p:sp>
        <p:nvSpPr>
          <p:cNvPr id="13" name="Shape 11"/>
          <p:cNvSpPr/>
          <p:nvPr/>
        </p:nvSpPr>
        <p:spPr>
          <a:xfrm>
            <a:off x="4846320" y="1261872"/>
            <a:ext cx="54864" cy="3474720"/>
          </a:xfrm>
          <a:prstGeom prst="rect">
            <a:avLst/>
          </a:prstGeom>
          <a:solidFill>
            <a:srgbClr val="6E6E73"/>
          </a:solidFill>
          <a:ln w="12700">
            <a:solidFill>
              <a:srgbClr val="6E6E73"/>
            </a:solidFill>
            <a:prstDash val="solid"/>
          </a:ln>
        </p:spPr>
      </p:sp>
      <p:sp>
        <p:nvSpPr>
          <p:cNvPr id="14" name="Text 12"/>
          <p:cNvSpPr/>
          <p:nvPr/>
        </p:nvSpPr>
        <p:spPr>
          <a:xfrm>
            <a:off x="5010912" y="1261872"/>
            <a:ext cx="3474720" cy="411480"/>
          </a:xfrm>
          <a:prstGeom prst="rect">
            <a:avLst/>
          </a:prstGeom>
          <a:noFill/>
          <a:ln/>
        </p:spPr>
        <p:txBody>
          <a:bodyPr wrap="square" lIns="0" tIns="0" rIns="0" bIns="0" rtlCol="0" anchor="ctr"/>
          <a:lstStyle/>
          <a:p>
            <a:pPr indent="0" marL="0">
              <a:buNone/>
            </a:pPr>
            <a:r>
              <a:rPr lang="en-US" sz="1200" b="1" spc="100" kern="0" dirty="0">
                <a:solidFill>
                  <a:srgbClr val="1D1D1F"/>
                </a:solidFill>
                <a:latin typeface="Calibri" pitchFamily="34" charset="0"/>
                <a:ea typeface="Calibri" pitchFamily="34" charset="-122"/>
                <a:cs typeface="Calibri" pitchFamily="34" charset="-120"/>
              </a:rPr>
              <a:t>DEBILIDADES</a:t>
            </a:r>
            <a:endParaRPr lang="en-US" sz="1200" dirty="0"/>
          </a:p>
        </p:txBody>
      </p:sp>
      <p:sp>
        <p:nvSpPr>
          <p:cNvPr id="15" name="Text 13"/>
          <p:cNvSpPr/>
          <p:nvPr/>
        </p:nvSpPr>
        <p:spPr>
          <a:xfrm>
            <a:off x="5010912" y="1691640"/>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iPhone concentra 50%+ de los ingresos totales</a:t>
            </a:r>
            <a:endParaRPr lang="en-US" sz="1050" dirty="0"/>
          </a:p>
        </p:txBody>
      </p:sp>
      <p:sp>
        <p:nvSpPr>
          <p:cNvPr id="16" name="Text 14"/>
          <p:cNvSpPr/>
          <p:nvPr/>
        </p:nvSpPr>
        <p:spPr>
          <a:xfrm>
            <a:off x="5010912" y="2066544"/>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Exposicion alta de supply chain a China</a:t>
            </a:r>
            <a:endParaRPr lang="en-US" sz="1050" dirty="0"/>
          </a:p>
        </p:txBody>
      </p:sp>
      <p:sp>
        <p:nvSpPr>
          <p:cNvPr id="17" name="Text 15"/>
          <p:cNvSpPr/>
          <p:nvPr/>
        </p:nvSpPr>
        <p:spPr>
          <a:xfrm>
            <a:off x="5010912" y="2441448"/>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Scrutiny regulatorio creciente sobre App Store</a:t>
            </a:r>
            <a:endParaRPr lang="en-US" sz="1050" dirty="0"/>
          </a:p>
        </p:txBody>
      </p:sp>
      <p:sp>
        <p:nvSpPr>
          <p:cNvPr id="18" name="Text 16"/>
          <p:cNvSpPr/>
          <p:nvPr/>
        </p:nvSpPr>
        <p:spPr>
          <a:xfrm>
            <a:off x="5010912" y="2816352"/>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Precio de entrada excluye al mercado masivo</a:t>
            </a:r>
            <a:endParaRPr lang="en-US" sz="1050" dirty="0"/>
          </a:p>
        </p:txBody>
      </p:sp>
      <p:sp>
        <p:nvSpPr>
          <p:cNvPr id="19" name="Text 17"/>
          <p:cNvSpPr/>
          <p:nvPr/>
        </p:nvSpPr>
        <p:spPr>
          <a:xfrm>
            <a:off x="5010912" y="3191256"/>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Percepcion de rezago en IA generativa publica</a:t>
            </a:r>
            <a:endParaRPr lang="en-US" sz="1050" dirty="0"/>
          </a:p>
        </p:txBody>
      </p:sp>
      <p:sp>
        <p:nvSpPr>
          <p:cNvPr id="20" name="Text 18"/>
          <p:cNvSpPr/>
          <p:nvPr/>
        </p:nvSpPr>
        <p:spPr>
          <a:xfrm>
            <a:off x="5010912" y="3566160"/>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Dependencia de TSMC para silicon de avanzada</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FODA — Analisis Externo</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54864" cy="3474720"/>
          </a:xfrm>
          <a:prstGeom prst="rect">
            <a:avLst/>
          </a:prstGeom>
          <a:solidFill>
            <a:srgbClr val="1D1D1F"/>
          </a:solidFill>
          <a:ln w="12700">
            <a:solidFill>
              <a:srgbClr val="1D1D1F"/>
            </a:solidFill>
            <a:prstDash val="solid"/>
          </a:ln>
        </p:spPr>
      </p:sp>
      <p:sp>
        <p:nvSpPr>
          <p:cNvPr id="5" name="Text 3"/>
          <p:cNvSpPr/>
          <p:nvPr/>
        </p:nvSpPr>
        <p:spPr>
          <a:xfrm>
            <a:off x="804672" y="1261872"/>
            <a:ext cx="3474720" cy="411480"/>
          </a:xfrm>
          <a:prstGeom prst="rect">
            <a:avLst/>
          </a:prstGeom>
          <a:noFill/>
          <a:ln/>
        </p:spPr>
        <p:txBody>
          <a:bodyPr wrap="square" lIns="0" tIns="0" rIns="0" bIns="0" rtlCol="0" anchor="ctr"/>
          <a:lstStyle/>
          <a:p>
            <a:pPr indent="0" marL="0">
              <a:buNone/>
            </a:pPr>
            <a:r>
              <a:rPr lang="en-US" sz="1200" b="1" spc="100" kern="0" dirty="0">
                <a:solidFill>
                  <a:srgbClr val="1D1D1F"/>
                </a:solidFill>
                <a:latin typeface="Calibri" pitchFamily="34" charset="0"/>
                <a:ea typeface="Calibri" pitchFamily="34" charset="-122"/>
                <a:cs typeface="Calibri" pitchFamily="34" charset="-120"/>
              </a:rPr>
              <a:t>OPORTUNIDADES</a:t>
            </a:r>
            <a:endParaRPr lang="en-US" sz="1200" dirty="0"/>
          </a:p>
        </p:txBody>
      </p:sp>
      <p:sp>
        <p:nvSpPr>
          <p:cNvPr id="6" name="Text 4"/>
          <p:cNvSpPr/>
          <p:nvPr/>
        </p:nvSpPr>
        <p:spPr>
          <a:xfrm>
            <a:off x="804672" y="1691640"/>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IA on-device como diferenciacion con silicon propio</a:t>
            </a:r>
            <a:endParaRPr lang="en-US" sz="1050" dirty="0"/>
          </a:p>
        </p:txBody>
      </p:sp>
      <p:sp>
        <p:nvSpPr>
          <p:cNvPr id="7" name="Text 5"/>
          <p:cNvSpPr/>
          <p:nvPr/>
        </p:nvSpPr>
        <p:spPr>
          <a:xfrm>
            <a:off x="804672" y="2066544"/>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Services: margen superior al hardware, crecimiento 14%</a:t>
            </a:r>
            <a:endParaRPr lang="en-US" sz="1050" dirty="0"/>
          </a:p>
        </p:txBody>
      </p:sp>
      <p:sp>
        <p:nvSpPr>
          <p:cNvPr id="8" name="Text 6"/>
          <p:cNvSpPr/>
          <p:nvPr/>
        </p:nvSpPr>
        <p:spPr>
          <a:xfrm>
            <a:off x="804672" y="2441448"/>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Salud digital: wearables + datos + seguro medico</a:t>
            </a:r>
            <a:endParaRPr lang="en-US" sz="1050" dirty="0"/>
          </a:p>
        </p:txBody>
      </p:sp>
      <p:sp>
        <p:nvSpPr>
          <p:cNvPr id="9" name="Text 7"/>
          <p:cNvSpPr/>
          <p:nvPr/>
        </p:nvSpPr>
        <p:spPr>
          <a:xfrm>
            <a:off x="804672" y="2816352"/>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India: mercado premium de 1.4B personas en expansion</a:t>
            </a:r>
            <a:endParaRPr lang="en-US" sz="1050" dirty="0"/>
          </a:p>
        </p:txBody>
      </p:sp>
      <p:sp>
        <p:nvSpPr>
          <p:cNvPr id="10" name="Text 8"/>
          <p:cNvSpPr/>
          <p:nvPr/>
        </p:nvSpPr>
        <p:spPr>
          <a:xfrm>
            <a:off x="804672" y="3191256"/>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Diversificar manufactura reduce riesgo geopolitico</a:t>
            </a:r>
            <a:endParaRPr lang="en-US" sz="1050" dirty="0"/>
          </a:p>
        </p:txBody>
      </p:sp>
      <p:sp>
        <p:nvSpPr>
          <p:cNvPr id="11" name="Text 9"/>
          <p:cNvSpPr/>
          <p:nvPr/>
        </p:nvSpPr>
        <p:spPr>
          <a:xfrm>
            <a:off x="804672" y="3566160"/>
            <a:ext cx="356616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Vision Pro: plataforma espacial de largo plazo</a:t>
            </a:r>
            <a:endParaRPr lang="en-US" sz="1050" dirty="0"/>
          </a:p>
        </p:txBody>
      </p:sp>
      <p:sp>
        <p:nvSpPr>
          <p:cNvPr id="12" name="Shape 10"/>
          <p:cNvSpPr/>
          <p:nvPr/>
        </p:nvSpPr>
        <p:spPr>
          <a:xfrm>
            <a:off x="4846320" y="1261872"/>
            <a:ext cx="54864" cy="3474720"/>
          </a:xfrm>
          <a:prstGeom prst="rect">
            <a:avLst/>
          </a:prstGeom>
          <a:solidFill>
            <a:srgbClr val="6E6E73"/>
          </a:solidFill>
          <a:ln w="12700">
            <a:solidFill>
              <a:srgbClr val="6E6E73"/>
            </a:solidFill>
            <a:prstDash val="solid"/>
          </a:ln>
        </p:spPr>
      </p:sp>
      <p:sp>
        <p:nvSpPr>
          <p:cNvPr id="13" name="Text 11"/>
          <p:cNvSpPr/>
          <p:nvPr/>
        </p:nvSpPr>
        <p:spPr>
          <a:xfrm>
            <a:off x="5010912" y="1261872"/>
            <a:ext cx="3474720" cy="411480"/>
          </a:xfrm>
          <a:prstGeom prst="rect">
            <a:avLst/>
          </a:prstGeom>
          <a:noFill/>
          <a:ln/>
        </p:spPr>
        <p:txBody>
          <a:bodyPr wrap="square" lIns="0" tIns="0" rIns="0" bIns="0" rtlCol="0" anchor="ctr"/>
          <a:lstStyle/>
          <a:p>
            <a:pPr indent="0" marL="0">
              <a:buNone/>
            </a:pPr>
            <a:r>
              <a:rPr lang="en-US" sz="1200" b="1" spc="100" kern="0" dirty="0">
                <a:solidFill>
                  <a:srgbClr val="1D1D1F"/>
                </a:solidFill>
                <a:latin typeface="Calibri" pitchFamily="34" charset="0"/>
                <a:ea typeface="Calibri" pitchFamily="34" charset="-122"/>
                <a:cs typeface="Calibri" pitchFamily="34" charset="-120"/>
              </a:rPr>
              <a:t>AMENAZAS</a:t>
            </a:r>
            <a:endParaRPr lang="en-US" sz="1200" dirty="0"/>
          </a:p>
        </p:txBody>
      </p:sp>
      <p:sp>
        <p:nvSpPr>
          <p:cNvPr id="14" name="Text 12"/>
          <p:cNvSpPr/>
          <p:nvPr/>
        </p:nvSpPr>
        <p:spPr>
          <a:xfrm>
            <a:off x="5010912" y="1691640"/>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Aranceles EE.UU.–China (hasta 25%) en hardware</a:t>
            </a:r>
            <a:endParaRPr lang="en-US" sz="1050" dirty="0"/>
          </a:p>
        </p:txBody>
      </p:sp>
      <p:sp>
        <p:nvSpPr>
          <p:cNvPr id="15" name="Text 13"/>
          <p:cNvSpPr/>
          <p:nvPr/>
        </p:nvSpPr>
        <p:spPr>
          <a:xfrm>
            <a:off x="5010912" y="2066544"/>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Regulacion DMA: sideloading obligatorio en Europa</a:t>
            </a:r>
            <a:endParaRPr lang="en-US" sz="1050" dirty="0"/>
          </a:p>
        </p:txBody>
      </p:sp>
      <p:sp>
        <p:nvSpPr>
          <p:cNvPr id="16" name="Text 14"/>
          <p:cNvSpPr/>
          <p:nvPr/>
        </p:nvSpPr>
        <p:spPr>
          <a:xfrm>
            <a:off x="5010912" y="2441448"/>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DOJ y competencia regulatoria en pagos moviles</a:t>
            </a:r>
            <a:endParaRPr lang="en-US" sz="1050" dirty="0"/>
          </a:p>
        </p:txBody>
      </p:sp>
      <p:sp>
        <p:nvSpPr>
          <p:cNvPr id="17" name="Text 15"/>
          <p:cNvSpPr/>
          <p:nvPr/>
        </p:nvSpPr>
        <p:spPr>
          <a:xfrm>
            <a:off x="5010912" y="2816352"/>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Google y Samsung aceleran en IA generativa</a:t>
            </a:r>
            <a:endParaRPr lang="en-US" sz="1050" dirty="0"/>
          </a:p>
        </p:txBody>
      </p:sp>
      <p:sp>
        <p:nvSpPr>
          <p:cNvPr id="18" name="Text 16"/>
          <p:cNvSpPr/>
          <p:nvPr/>
        </p:nvSpPr>
        <p:spPr>
          <a:xfrm>
            <a:off x="5010912" y="3191256"/>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Saturacion del ciclo de renovacion de smartphones</a:t>
            </a:r>
            <a:endParaRPr lang="en-US" sz="1050" dirty="0"/>
          </a:p>
        </p:txBody>
      </p:sp>
      <p:sp>
        <p:nvSpPr>
          <p:cNvPr id="19" name="Text 17"/>
          <p:cNvSpPr/>
          <p:nvPr/>
        </p:nvSpPr>
        <p:spPr>
          <a:xfrm>
            <a:off x="5010912" y="3566160"/>
            <a:ext cx="37490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Riesgo cambiario: 60%+ de ventas fuera de EE.UU.</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Estrategias FODA — FO y DO</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Text 2"/>
          <p:cNvSpPr/>
          <p:nvPr/>
        </p:nvSpPr>
        <p:spPr>
          <a:xfrm>
            <a:off x="640080" y="1207008"/>
            <a:ext cx="7863840" cy="384048"/>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FO — Fortalezas con Oportunidades (Ofensivas)</a:t>
            </a:r>
            <a:endParaRPr lang="en-US" sz="1200" dirty="0"/>
          </a:p>
        </p:txBody>
      </p:sp>
      <p:sp>
        <p:nvSpPr>
          <p:cNvPr id="5" name="Shape 3"/>
          <p:cNvSpPr/>
          <p:nvPr/>
        </p:nvSpPr>
        <p:spPr>
          <a:xfrm>
            <a:off x="640080" y="1645920"/>
            <a:ext cx="502920" cy="502920"/>
          </a:xfrm>
          <a:prstGeom prst="rect">
            <a:avLst/>
          </a:prstGeom>
          <a:solidFill>
            <a:srgbClr val="1D1D1F"/>
          </a:solidFill>
          <a:ln w="12700">
            <a:solidFill>
              <a:srgbClr val="1D1D1F"/>
            </a:solidFill>
            <a:prstDash val="solid"/>
          </a:ln>
        </p:spPr>
      </p:sp>
      <p:sp>
        <p:nvSpPr>
          <p:cNvPr id="6" name="Text 4"/>
          <p:cNvSpPr/>
          <p:nvPr/>
        </p:nvSpPr>
        <p:spPr>
          <a:xfrm>
            <a:off x="640080" y="164592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FO1</a:t>
            </a:r>
            <a:endParaRPr lang="en-US" sz="900" dirty="0"/>
          </a:p>
        </p:txBody>
      </p:sp>
      <p:sp>
        <p:nvSpPr>
          <p:cNvPr id="7" name="Text 5"/>
          <p:cNvSpPr/>
          <p:nvPr/>
        </p:nvSpPr>
        <p:spPr>
          <a:xfrm>
            <a:off x="1280160" y="1682496"/>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Usar silicon propio para integrar IA on-device antes que rivales y convertirlo en ventaja publicitaria central (F: silicon + O: IA)</a:t>
            </a:r>
            <a:endParaRPr lang="en-US" sz="1100" dirty="0"/>
          </a:p>
        </p:txBody>
      </p:sp>
      <p:sp>
        <p:nvSpPr>
          <p:cNvPr id="8" name="Shape 6"/>
          <p:cNvSpPr/>
          <p:nvPr/>
        </p:nvSpPr>
        <p:spPr>
          <a:xfrm>
            <a:off x="640080" y="2304288"/>
            <a:ext cx="502920" cy="502920"/>
          </a:xfrm>
          <a:prstGeom prst="rect">
            <a:avLst/>
          </a:prstGeom>
          <a:solidFill>
            <a:srgbClr val="1D1D1F"/>
          </a:solidFill>
          <a:ln w="12700">
            <a:solidFill>
              <a:srgbClr val="1D1D1F"/>
            </a:solidFill>
            <a:prstDash val="solid"/>
          </a:ln>
        </p:spPr>
      </p:sp>
      <p:sp>
        <p:nvSpPr>
          <p:cNvPr id="9" name="Text 7"/>
          <p:cNvSpPr/>
          <p:nvPr/>
        </p:nvSpPr>
        <p:spPr>
          <a:xfrm>
            <a:off x="640080" y="2304288"/>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FO2</a:t>
            </a:r>
            <a:endParaRPr lang="en-US" sz="900" dirty="0"/>
          </a:p>
        </p:txBody>
      </p:sp>
      <p:sp>
        <p:nvSpPr>
          <p:cNvPr id="10" name="Text 8"/>
          <p:cNvSpPr/>
          <p:nvPr/>
        </p:nvSpPr>
        <p:spPr>
          <a:xfrm>
            <a:off x="1280160" y="2340864"/>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Expandir Services sobre la base instalada de 2B+ dispositivos, priorizando bundles de alto margen (F: installed base + O: Services)</a:t>
            </a:r>
            <a:endParaRPr lang="en-US" sz="1100" dirty="0"/>
          </a:p>
        </p:txBody>
      </p:sp>
      <p:sp>
        <p:nvSpPr>
          <p:cNvPr id="11" name="Shape 9"/>
          <p:cNvSpPr/>
          <p:nvPr/>
        </p:nvSpPr>
        <p:spPr>
          <a:xfrm>
            <a:off x="640080" y="2962656"/>
            <a:ext cx="502920" cy="502920"/>
          </a:xfrm>
          <a:prstGeom prst="rect">
            <a:avLst/>
          </a:prstGeom>
          <a:solidFill>
            <a:srgbClr val="1D1D1F"/>
          </a:solidFill>
          <a:ln w="12700">
            <a:solidFill>
              <a:srgbClr val="1D1D1F"/>
            </a:solidFill>
            <a:prstDash val="solid"/>
          </a:ln>
        </p:spPr>
      </p:sp>
      <p:sp>
        <p:nvSpPr>
          <p:cNvPr id="12" name="Text 10"/>
          <p:cNvSpPr/>
          <p:nvPr/>
        </p:nvSpPr>
        <p:spPr>
          <a:xfrm>
            <a:off x="640080" y="2962656"/>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FO3</a:t>
            </a:r>
            <a:endParaRPr lang="en-US" sz="900" dirty="0"/>
          </a:p>
        </p:txBody>
      </p:sp>
      <p:sp>
        <p:nvSpPr>
          <p:cNvPr id="13" name="Text 11"/>
          <p:cNvSpPr/>
          <p:nvPr/>
        </p:nvSpPr>
        <p:spPr>
          <a:xfrm>
            <a:off x="1280160" y="2999232"/>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Usar la marca y el retail premium para posicionar Apple Health como plataforma medica de referencia en mercados desarrollados (F: marca + O: salud)</a:t>
            </a:r>
            <a:endParaRPr lang="en-US" sz="1100" dirty="0"/>
          </a:p>
        </p:txBody>
      </p:sp>
      <p:sp>
        <p:nvSpPr>
          <p:cNvPr id="14" name="Shape 12"/>
          <p:cNvSpPr/>
          <p:nvPr/>
        </p:nvSpPr>
        <p:spPr>
          <a:xfrm>
            <a:off x="640080" y="3657600"/>
            <a:ext cx="7863840" cy="0"/>
          </a:xfrm>
          <a:prstGeom prst="line">
            <a:avLst/>
          </a:prstGeom>
          <a:noFill/>
          <a:ln w="9525">
            <a:solidFill>
              <a:srgbClr val="D1D1D6"/>
            </a:solidFill>
            <a:prstDash val="solid"/>
          </a:ln>
        </p:spPr>
      </p:sp>
      <p:sp>
        <p:nvSpPr>
          <p:cNvPr id="15" name="Text 13"/>
          <p:cNvSpPr/>
          <p:nvPr/>
        </p:nvSpPr>
        <p:spPr>
          <a:xfrm>
            <a:off x="640080" y="3730752"/>
            <a:ext cx="7863840" cy="384048"/>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DO — Debilidades con Oportunidades (Reorientacion)</a:t>
            </a:r>
            <a:endParaRPr lang="en-US" sz="1200" dirty="0"/>
          </a:p>
        </p:txBody>
      </p:sp>
      <p:sp>
        <p:nvSpPr>
          <p:cNvPr id="16" name="Shape 14"/>
          <p:cNvSpPr/>
          <p:nvPr/>
        </p:nvSpPr>
        <p:spPr>
          <a:xfrm>
            <a:off x="640080" y="4187952"/>
            <a:ext cx="502920" cy="502920"/>
          </a:xfrm>
          <a:prstGeom prst="rect">
            <a:avLst/>
          </a:prstGeom>
          <a:solidFill>
            <a:srgbClr val="6E6E73"/>
          </a:solidFill>
          <a:ln w="12700">
            <a:solidFill>
              <a:srgbClr val="6E6E73"/>
            </a:solidFill>
            <a:prstDash val="solid"/>
          </a:ln>
        </p:spPr>
      </p:sp>
      <p:sp>
        <p:nvSpPr>
          <p:cNvPr id="17" name="Text 15"/>
          <p:cNvSpPr/>
          <p:nvPr/>
        </p:nvSpPr>
        <p:spPr>
          <a:xfrm>
            <a:off x="640080" y="4187952"/>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DO1</a:t>
            </a:r>
            <a:endParaRPr lang="en-US" sz="900" dirty="0"/>
          </a:p>
        </p:txBody>
      </p:sp>
      <p:sp>
        <p:nvSpPr>
          <p:cNvPr id="18" name="Text 16"/>
          <p:cNvSpPr/>
          <p:nvPr/>
        </p:nvSpPr>
        <p:spPr>
          <a:xfrm>
            <a:off x="1280160" y="4224528"/>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Reducir dependencia de iPhone diversificando hacia Services y Health: meta 35%+ de ingresos desde servicios en 3 anos (D: concentracion + O: Services)</a:t>
            </a:r>
            <a:endParaRPr lang="en-US" sz="1100" dirty="0"/>
          </a:p>
        </p:txBody>
      </p:sp>
      <p:sp>
        <p:nvSpPr>
          <p:cNvPr id="19" name="Shape 17"/>
          <p:cNvSpPr/>
          <p:nvPr/>
        </p:nvSpPr>
        <p:spPr>
          <a:xfrm>
            <a:off x="640080" y="4846320"/>
            <a:ext cx="502920" cy="502920"/>
          </a:xfrm>
          <a:prstGeom prst="rect">
            <a:avLst/>
          </a:prstGeom>
          <a:solidFill>
            <a:srgbClr val="6E6E73"/>
          </a:solidFill>
          <a:ln w="12700">
            <a:solidFill>
              <a:srgbClr val="6E6E73"/>
            </a:solidFill>
            <a:prstDash val="solid"/>
          </a:ln>
        </p:spPr>
      </p:sp>
      <p:sp>
        <p:nvSpPr>
          <p:cNvPr id="20" name="Text 18"/>
          <p:cNvSpPr/>
          <p:nvPr/>
        </p:nvSpPr>
        <p:spPr>
          <a:xfrm>
            <a:off x="640080" y="484632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DO2</a:t>
            </a:r>
            <a:endParaRPr lang="en-US" sz="900" dirty="0"/>
          </a:p>
        </p:txBody>
      </p:sp>
      <p:sp>
        <p:nvSpPr>
          <p:cNvPr id="21" name="Text 19"/>
          <p:cNvSpPr/>
          <p:nvPr/>
        </p:nvSpPr>
        <p:spPr>
          <a:xfrm>
            <a:off x="1280160" y="4882896"/>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Acelerar manufactura en India para reducir riesgo de supply chain en China (D: exposicion Asia + O: India como alternativa)</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Estrategias FODA — FA y DA</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Text 2"/>
          <p:cNvSpPr/>
          <p:nvPr/>
        </p:nvSpPr>
        <p:spPr>
          <a:xfrm>
            <a:off x="640080" y="1207008"/>
            <a:ext cx="7863840" cy="384048"/>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FA — Fortalezas ante Amenazas (Defensivas)</a:t>
            </a:r>
            <a:endParaRPr lang="en-US" sz="1200" dirty="0"/>
          </a:p>
        </p:txBody>
      </p:sp>
      <p:sp>
        <p:nvSpPr>
          <p:cNvPr id="5" name="Shape 3"/>
          <p:cNvSpPr/>
          <p:nvPr/>
        </p:nvSpPr>
        <p:spPr>
          <a:xfrm>
            <a:off x="640080" y="1664208"/>
            <a:ext cx="502920" cy="502920"/>
          </a:xfrm>
          <a:prstGeom prst="rect">
            <a:avLst/>
          </a:prstGeom>
          <a:solidFill>
            <a:srgbClr val="1D1D1F"/>
          </a:solidFill>
          <a:ln w="12700">
            <a:solidFill>
              <a:srgbClr val="1D1D1F"/>
            </a:solidFill>
            <a:prstDash val="solid"/>
          </a:ln>
        </p:spPr>
      </p:sp>
      <p:sp>
        <p:nvSpPr>
          <p:cNvPr id="6" name="Text 4"/>
          <p:cNvSpPr/>
          <p:nvPr/>
        </p:nvSpPr>
        <p:spPr>
          <a:xfrm>
            <a:off x="640080" y="1664208"/>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FA1</a:t>
            </a:r>
            <a:endParaRPr lang="en-US" sz="900" dirty="0"/>
          </a:p>
        </p:txBody>
      </p:sp>
      <p:sp>
        <p:nvSpPr>
          <p:cNvPr id="7" name="Text 5"/>
          <p:cNvSpPr/>
          <p:nvPr/>
        </p:nvSpPr>
        <p:spPr>
          <a:xfrm>
            <a:off x="1280160" y="1700784"/>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Usar el ecosistema cerrado como argumento de privacidad y seguridad para resistir la presion regulatoria de apertura forzada (F: ecosistema + A: DMA)</a:t>
            </a:r>
            <a:endParaRPr lang="en-US" sz="1100" dirty="0"/>
          </a:p>
        </p:txBody>
      </p:sp>
      <p:sp>
        <p:nvSpPr>
          <p:cNvPr id="8" name="Shape 6"/>
          <p:cNvSpPr/>
          <p:nvPr/>
        </p:nvSpPr>
        <p:spPr>
          <a:xfrm>
            <a:off x="640080" y="2322576"/>
            <a:ext cx="502920" cy="502920"/>
          </a:xfrm>
          <a:prstGeom prst="rect">
            <a:avLst/>
          </a:prstGeom>
          <a:solidFill>
            <a:srgbClr val="1D1D1F"/>
          </a:solidFill>
          <a:ln w="12700">
            <a:solidFill>
              <a:srgbClr val="1D1D1F"/>
            </a:solidFill>
            <a:prstDash val="solid"/>
          </a:ln>
        </p:spPr>
      </p:sp>
      <p:sp>
        <p:nvSpPr>
          <p:cNvPr id="9" name="Text 7"/>
          <p:cNvSpPr/>
          <p:nvPr/>
        </p:nvSpPr>
        <p:spPr>
          <a:xfrm>
            <a:off x="640080" y="2322576"/>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FA2</a:t>
            </a:r>
            <a:endParaRPr lang="en-US" sz="900" dirty="0"/>
          </a:p>
        </p:txBody>
      </p:sp>
      <p:sp>
        <p:nvSpPr>
          <p:cNvPr id="10" name="Text 8"/>
          <p:cNvSpPr/>
          <p:nvPr/>
        </p:nvSpPr>
        <p:spPr>
          <a:xfrm>
            <a:off x="1280160" y="2359152"/>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Acelerar compras de empresas de IA para cerrar el gap de percepcion antes de que se vuelva desventaja de producto real (F: caja + A: IA competitors)</a:t>
            </a:r>
            <a:endParaRPr lang="en-US" sz="1100" dirty="0"/>
          </a:p>
        </p:txBody>
      </p:sp>
      <p:sp>
        <p:nvSpPr>
          <p:cNvPr id="11" name="Shape 9"/>
          <p:cNvSpPr/>
          <p:nvPr/>
        </p:nvSpPr>
        <p:spPr>
          <a:xfrm>
            <a:off x="640080" y="2980944"/>
            <a:ext cx="502920" cy="502920"/>
          </a:xfrm>
          <a:prstGeom prst="rect">
            <a:avLst/>
          </a:prstGeom>
          <a:solidFill>
            <a:srgbClr val="1D1D1F"/>
          </a:solidFill>
          <a:ln w="12700">
            <a:solidFill>
              <a:srgbClr val="1D1D1F"/>
            </a:solidFill>
            <a:prstDash val="solid"/>
          </a:ln>
        </p:spPr>
      </p:sp>
      <p:sp>
        <p:nvSpPr>
          <p:cNvPr id="12" name="Text 10"/>
          <p:cNvSpPr/>
          <p:nvPr/>
        </p:nvSpPr>
        <p:spPr>
          <a:xfrm>
            <a:off x="640080" y="2980944"/>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FA3</a:t>
            </a:r>
            <a:endParaRPr lang="en-US" sz="900" dirty="0"/>
          </a:p>
        </p:txBody>
      </p:sp>
      <p:sp>
        <p:nvSpPr>
          <p:cNvPr id="13" name="Text 11"/>
          <p:cNvSpPr/>
          <p:nvPr/>
        </p:nvSpPr>
        <p:spPr>
          <a:xfrm>
            <a:off x="1280160" y="3017520"/>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Diversificar fabricacion hacia Vietnam e India usando la escala de Apple como poder de negociacion con nuevos proveedores (F: escala + A: aranceles)</a:t>
            </a:r>
            <a:endParaRPr lang="en-US" sz="1100" dirty="0"/>
          </a:p>
        </p:txBody>
      </p:sp>
      <p:sp>
        <p:nvSpPr>
          <p:cNvPr id="14" name="Shape 12"/>
          <p:cNvSpPr/>
          <p:nvPr/>
        </p:nvSpPr>
        <p:spPr>
          <a:xfrm>
            <a:off x="640080" y="3767328"/>
            <a:ext cx="7863840" cy="0"/>
          </a:xfrm>
          <a:prstGeom prst="line">
            <a:avLst/>
          </a:prstGeom>
          <a:noFill/>
          <a:ln w="9525">
            <a:solidFill>
              <a:srgbClr val="D1D1D6"/>
            </a:solidFill>
            <a:prstDash val="solid"/>
          </a:ln>
        </p:spPr>
      </p:sp>
      <p:sp>
        <p:nvSpPr>
          <p:cNvPr id="15" name="Text 13"/>
          <p:cNvSpPr/>
          <p:nvPr/>
        </p:nvSpPr>
        <p:spPr>
          <a:xfrm>
            <a:off x="640080" y="3840480"/>
            <a:ext cx="7863840" cy="384048"/>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DA — Debilidades ante Amenazas (Contingencia)</a:t>
            </a:r>
            <a:endParaRPr lang="en-US" sz="1200" dirty="0"/>
          </a:p>
        </p:txBody>
      </p:sp>
      <p:sp>
        <p:nvSpPr>
          <p:cNvPr id="16" name="Shape 14"/>
          <p:cNvSpPr/>
          <p:nvPr/>
        </p:nvSpPr>
        <p:spPr>
          <a:xfrm>
            <a:off x="640080" y="4315968"/>
            <a:ext cx="502920" cy="502920"/>
          </a:xfrm>
          <a:prstGeom prst="rect">
            <a:avLst/>
          </a:prstGeom>
          <a:solidFill>
            <a:srgbClr val="6E6E73"/>
          </a:solidFill>
          <a:ln w="12700">
            <a:solidFill>
              <a:srgbClr val="6E6E73"/>
            </a:solidFill>
            <a:prstDash val="solid"/>
          </a:ln>
        </p:spPr>
      </p:sp>
      <p:sp>
        <p:nvSpPr>
          <p:cNvPr id="17" name="Text 15"/>
          <p:cNvSpPr/>
          <p:nvPr/>
        </p:nvSpPr>
        <p:spPr>
          <a:xfrm>
            <a:off x="640080" y="4315968"/>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DA1</a:t>
            </a:r>
            <a:endParaRPr lang="en-US" sz="900" dirty="0"/>
          </a:p>
        </p:txBody>
      </p:sp>
      <p:sp>
        <p:nvSpPr>
          <p:cNvPr id="18" name="Text 16"/>
          <p:cNvSpPr/>
          <p:nvPr/>
        </p:nvSpPr>
        <p:spPr>
          <a:xfrm>
            <a:off x="1280160" y="4352544"/>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Crear un tier de servicios de precio accesible para mercados emergentes, reduciendo dependencia de iPhone y resistiendo competencia de Xiaomi (D: precio + A: saturacion)</a:t>
            </a:r>
            <a:endParaRPr lang="en-US" sz="1100" dirty="0"/>
          </a:p>
        </p:txBody>
      </p:sp>
      <p:sp>
        <p:nvSpPr>
          <p:cNvPr id="19" name="Shape 17"/>
          <p:cNvSpPr/>
          <p:nvPr/>
        </p:nvSpPr>
        <p:spPr>
          <a:xfrm>
            <a:off x="640080" y="4974336"/>
            <a:ext cx="502920" cy="502920"/>
          </a:xfrm>
          <a:prstGeom prst="rect">
            <a:avLst/>
          </a:prstGeom>
          <a:solidFill>
            <a:srgbClr val="6E6E73"/>
          </a:solidFill>
          <a:ln w="12700">
            <a:solidFill>
              <a:srgbClr val="6E6E73"/>
            </a:solidFill>
            <a:prstDash val="solid"/>
          </a:ln>
        </p:spPr>
      </p:sp>
      <p:sp>
        <p:nvSpPr>
          <p:cNvPr id="20" name="Text 18"/>
          <p:cNvSpPr/>
          <p:nvPr/>
        </p:nvSpPr>
        <p:spPr>
          <a:xfrm>
            <a:off x="640080" y="4974336"/>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DA2</a:t>
            </a:r>
            <a:endParaRPr lang="en-US" sz="900" dirty="0"/>
          </a:p>
        </p:txBody>
      </p:sp>
      <p:sp>
        <p:nvSpPr>
          <p:cNvPr id="21" name="Text 19"/>
          <p:cNvSpPr/>
          <p:nvPr/>
        </p:nvSpPr>
        <p:spPr>
          <a:xfrm>
            <a:off x="1280160" y="5010912"/>
            <a:ext cx="7315200" cy="457200"/>
          </a:xfrm>
          <a:prstGeom prst="rect">
            <a:avLst/>
          </a:prstGeom>
          <a:noFill/>
          <a:ln/>
        </p:spPr>
        <p:txBody>
          <a:bodyPr wrap="square" lIns="0" tIns="0" rIns="0" bIns="0" rtlCol="0" anchor="ctr"/>
          <a:lstStyle/>
          <a:p>
            <a:pPr indent="0" marL="0">
              <a:buNone/>
            </a:pPr>
            <a:r>
              <a:rPr lang="en-US" sz="1100" dirty="0">
                <a:solidFill>
                  <a:srgbClr val="424245"/>
                </a:solidFill>
                <a:latin typeface="Calibri" pitchFamily="34" charset="0"/>
                <a:ea typeface="Calibri" pitchFamily="34" charset="-122"/>
                <a:cs typeface="Calibri" pitchFamily="34" charset="-120"/>
              </a:rPr>
              <a:t>Negociar con reguladores europeos una apertura minima del ecosistema que no destruya la experiencia del usuario, protegiendo el margen de Services (D: scrutiny + A: DMA)</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Crecimiento por Categoria — Base BCG</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4" name="Chart 0" descr=""/>
          <p:cNvGraphicFramePr/>
          <p:nvPr/>
        </p:nvGraphicFramePr>
        <p:xfrm>
          <a:off x="640080" y="1234440"/>
          <a:ext cx="786384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773168"/>
            <a:ext cx="7863840" cy="320040"/>
          </a:xfrm>
          <a:prstGeom prst="rect">
            <a:avLst/>
          </a:prstGeom>
          <a:noFill/>
          <a:ln/>
        </p:spPr>
        <p:txBody>
          <a:bodyPr wrap="square" lIns="0" tIns="0" rIns="0" bIns="0" rtlCol="0" anchor="ctr"/>
          <a:lstStyle/>
          <a:p>
            <a:pPr indent="0" marL="0">
              <a:buNone/>
            </a:pPr>
            <a:r>
              <a:rPr lang="en-US" sz="900" i="1" dirty="0">
                <a:solidFill>
                  <a:srgbClr val="AEAEB2"/>
                </a:solidFill>
                <a:latin typeface="Calibri" pitchFamily="34" charset="0"/>
                <a:ea typeface="Calibri" pitchFamily="34" charset="-122"/>
                <a:cs typeface="Calibri" pitchFamily="34" charset="-120"/>
              </a:rPr>
              <a:t>Fuente: Apple Inc. FY2025 Annual Report. Crecimiento YoY en ventas netas por categoria.</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Matriz BCG — Portafolio de Productos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4709160" y="1261872"/>
            <a:ext cx="0" cy="3749040"/>
          </a:xfrm>
          <a:prstGeom prst="line">
            <a:avLst/>
          </a:prstGeom>
          <a:noFill/>
          <a:ln w="9525">
            <a:solidFill>
              <a:srgbClr val="AEAEB2"/>
            </a:solidFill>
            <a:prstDash val="dash"/>
          </a:ln>
        </p:spPr>
      </p:sp>
      <p:sp>
        <p:nvSpPr>
          <p:cNvPr id="5" name="Shape 3"/>
          <p:cNvSpPr/>
          <p:nvPr/>
        </p:nvSpPr>
        <p:spPr>
          <a:xfrm>
            <a:off x="640080" y="3127248"/>
            <a:ext cx="8092440" cy="0"/>
          </a:xfrm>
          <a:prstGeom prst="line">
            <a:avLst/>
          </a:prstGeom>
          <a:noFill/>
          <a:ln w="9525">
            <a:solidFill>
              <a:srgbClr val="AEAEB2"/>
            </a:solidFill>
            <a:prstDash val="dash"/>
          </a:ln>
        </p:spPr>
      </p:sp>
      <p:sp>
        <p:nvSpPr>
          <p:cNvPr id="6" name="Text 4"/>
          <p:cNvSpPr/>
          <p:nvPr/>
        </p:nvSpPr>
        <p:spPr>
          <a:xfrm>
            <a:off x="640080" y="896112"/>
            <a:ext cx="3977640" cy="274320"/>
          </a:xfrm>
          <a:prstGeom prst="rect">
            <a:avLst/>
          </a:prstGeom>
          <a:noFill/>
          <a:ln/>
        </p:spPr>
        <p:txBody>
          <a:bodyPr wrap="square" lIns="0" tIns="0" rIns="0" bIns="0" rtlCol="0" anchor="ctr"/>
          <a:lstStyle/>
          <a:p>
            <a:pPr algn="ctr" indent="0" marL="0">
              <a:buNone/>
            </a:pPr>
            <a:r>
              <a:rPr lang="en-US" sz="800" spc="100" kern="0" dirty="0">
                <a:solidFill>
                  <a:srgbClr val="6E6E73"/>
                </a:solidFill>
                <a:latin typeface="Calibri" pitchFamily="34" charset="0"/>
                <a:ea typeface="Calibri" pitchFamily="34" charset="-122"/>
                <a:cs typeface="Calibri" pitchFamily="34" charset="-120"/>
              </a:rPr>
              <a:t>ALTA PARTICIPACION</a:t>
            </a:r>
            <a:endParaRPr lang="en-US" sz="800" dirty="0"/>
          </a:p>
        </p:txBody>
      </p:sp>
      <p:sp>
        <p:nvSpPr>
          <p:cNvPr id="7" name="Text 5"/>
          <p:cNvSpPr/>
          <p:nvPr/>
        </p:nvSpPr>
        <p:spPr>
          <a:xfrm>
            <a:off x="4800600" y="896112"/>
            <a:ext cx="3931920" cy="274320"/>
          </a:xfrm>
          <a:prstGeom prst="rect">
            <a:avLst/>
          </a:prstGeom>
          <a:noFill/>
          <a:ln/>
        </p:spPr>
        <p:txBody>
          <a:bodyPr wrap="square" lIns="0" tIns="0" rIns="0" bIns="0" rtlCol="0" anchor="ctr"/>
          <a:lstStyle/>
          <a:p>
            <a:pPr algn="ctr" indent="0" marL="0">
              <a:buNone/>
            </a:pPr>
            <a:r>
              <a:rPr lang="en-US" sz="800" spc="100" kern="0" dirty="0">
                <a:solidFill>
                  <a:srgbClr val="6E6E73"/>
                </a:solidFill>
                <a:latin typeface="Calibri" pitchFamily="34" charset="0"/>
                <a:ea typeface="Calibri" pitchFamily="34" charset="-122"/>
                <a:cs typeface="Calibri" pitchFamily="34" charset="-120"/>
              </a:rPr>
              <a:t>BAJA PARTICIPACION</a:t>
            </a:r>
            <a:endParaRPr lang="en-US" sz="800" dirty="0"/>
          </a:p>
        </p:txBody>
      </p:sp>
      <p:sp>
        <p:nvSpPr>
          <p:cNvPr id="8" name="Text 6"/>
          <p:cNvSpPr/>
          <p:nvPr/>
        </p:nvSpPr>
        <p:spPr>
          <a:xfrm rot="16200000">
            <a:off x="640080" y="1261872"/>
            <a:ext cx="731520" cy="1371600"/>
          </a:xfrm>
          <a:prstGeom prst="rect">
            <a:avLst/>
          </a:prstGeom>
          <a:noFill/>
          <a:ln/>
        </p:spPr>
        <p:txBody>
          <a:bodyPr wrap="square" lIns="0" tIns="0" rIns="0" bIns="0" rtlCol="0" anchor="ctr"/>
          <a:lstStyle/>
          <a:p>
            <a:pPr algn="ctr" indent="0" marL="0">
              <a:buNone/>
            </a:pPr>
            <a:r>
              <a:rPr lang="en-US" sz="750" spc="100" kern="0" dirty="0">
                <a:solidFill>
                  <a:srgbClr val="6E6E73"/>
                </a:solidFill>
                <a:latin typeface="Calibri" pitchFamily="34" charset="0"/>
                <a:ea typeface="Calibri" pitchFamily="34" charset="-122"/>
                <a:cs typeface="Calibri" pitchFamily="34" charset="-120"/>
              </a:rPr>
              <a:t>ALTO CRECIMIENTO</a:t>
            </a:r>
            <a:endParaRPr lang="en-US" sz="750" dirty="0"/>
          </a:p>
        </p:txBody>
      </p:sp>
      <p:sp>
        <p:nvSpPr>
          <p:cNvPr id="9" name="Text 7"/>
          <p:cNvSpPr/>
          <p:nvPr/>
        </p:nvSpPr>
        <p:spPr>
          <a:xfrm rot="16200000">
            <a:off x="640080" y="3200400"/>
            <a:ext cx="731520" cy="1554480"/>
          </a:xfrm>
          <a:prstGeom prst="rect">
            <a:avLst/>
          </a:prstGeom>
          <a:noFill/>
          <a:ln/>
        </p:spPr>
        <p:txBody>
          <a:bodyPr wrap="square" lIns="0" tIns="0" rIns="0" bIns="0" rtlCol="0" anchor="ctr"/>
          <a:lstStyle/>
          <a:p>
            <a:pPr algn="ctr" indent="0" marL="0">
              <a:buNone/>
            </a:pPr>
            <a:r>
              <a:rPr lang="en-US" sz="750" spc="100" kern="0" dirty="0">
                <a:solidFill>
                  <a:srgbClr val="6E6E73"/>
                </a:solidFill>
                <a:latin typeface="Calibri" pitchFamily="34" charset="0"/>
                <a:ea typeface="Calibri" pitchFamily="34" charset="-122"/>
                <a:cs typeface="Calibri" pitchFamily="34" charset="-120"/>
              </a:rPr>
              <a:t>BAJO CRECIMIENTO</a:t>
            </a:r>
            <a:endParaRPr lang="en-US" sz="750" dirty="0"/>
          </a:p>
        </p:txBody>
      </p:sp>
      <p:sp>
        <p:nvSpPr>
          <p:cNvPr id="10" name="Text 8"/>
          <p:cNvSpPr/>
          <p:nvPr/>
        </p:nvSpPr>
        <p:spPr>
          <a:xfrm>
            <a:off x="1188720" y="1298448"/>
            <a:ext cx="3200400" cy="256032"/>
          </a:xfrm>
          <a:prstGeom prst="rect">
            <a:avLst/>
          </a:prstGeom>
          <a:noFill/>
          <a:ln/>
        </p:spPr>
        <p:txBody>
          <a:bodyPr wrap="square" lIns="0" tIns="0" rIns="0" bIns="0" rtlCol="0" anchor="ctr"/>
          <a:lstStyle/>
          <a:p>
            <a:pPr algn="l" indent="0" marL="0">
              <a:buNone/>
            </a:pPr>
            <a:r>
              <a:rPr lang="en-US" sz="900" dirty="0">
                <a:solidFill>
                  <a:srgbClr val="D1D1D6"/>
                </a:solidFill>
                <a:latin typeface="Calibri" pitchFamily="34" charset="0"/>
                <a:ea typeface="Calibri" pitchFamily="34" charset="-122"/>
                <a:cs typeface="Calibri" pitchFamily="34" charset="-120"/>
              </a:rPr>
              <a:t>ESTRELLAS</a:t>
            </a:r>
            <a:endParaRPr lang="en-US" sz="900" dirty="0"/>
          </a:p>
        </p:txBody>
      </p:sp>
      <p:sp>
        <p:nvSpPr>
          <p:cNvPr id="11" name="Text 9"/>
          <p:cNvSpPr/>
          <p:nvPr/>
        </p:nvSpPr>
        <p:spPr>
          <a:xfrm>
            <a:off x="4800600" y="1298448"/>
            <a:ext cx="3657600" cy="256032"/>
          </a:xfrm>
          <a:prstGeom prst="rect">
            <a:avLst/>
          </a:prstGeom>
          <a:noFill/>
          <a:ln/>
        </p:spPr>
        <p:txBody>
          <a:bodyPr wrap="square" lIns="0" tIns="0" rIns="0" bIns="0" rtlCol="0" anchor="ctr"/>
          <a:lstStyle/>
          <a:p>
            <a:pPr algn="r" indent="0" marL="0">
              <a:buNone/>
            </a:pPr>
            <a:r>
              <a:rPr lang="en-US" sz="900" dirty="0">
                <a:solidFill>
                  <a:srgbClr val="D1D1D6"/>
                </a:solidFill>
                <a:latin typeface="Calibri" pitchFamily="34" charset="0"/>
                <a:ea typeface="Calibri" pitchFamily="34" charset="-122"/>
                <a:cs typeface="Calibri" pitchFamily="34" charset="-120"/>
              </a:rPr>
              <a:t>INTERROGANTES</a:t>
            </a:r>
            <a:endParaRPr lang="en-US" sz="900" dirty="0"/>
          </a:p>
        </p:txBody>
      </p:sp>
      <p:sp>
        <p:nvSpPr>
          <p:cNvPr id="12" name="Text 10"/>
          <p:cNvSpPr/>
          <p:nvPr/>
        </p:nvSpPr>
        <p:spPr>
          <a:xfrm>
            <a:off x="1188720" y="3200400"/>
            <a:ext cx="3200400" cy="256032"/>
          </a:xfrm>
          <a:prstGeom prst="rect">
            <a:avLst/>
          </a:prstGeom>
          <a:noFill/>
          <a:ln/>
        </p:spPr>
        <p:txBody>
          <a:bodyPr wrap="square" lIns="0" tIns="0" rIns="0" bIns="0" rtlCol="0" anchor="ctr"/>
          <a:lstStyle/>
          <a:p>
            <a:pPr algn="l" indent="0" marL="0">
              <a:buNone/>
            </a:pPr>
            <a:r>
              <a:rPr lang="en-US" sz="900" dirty="0">
                <a:solidFill>
                  <a:srgbClr val="D1D1D6"/>
                </a:solidFill>
                <a:latin typeface="Calibri" pitchFamily="34" charset="0"/>
                <a:ea typeface="Calibri" pitchFamily="34" charset="-122"/>
                <a:cs typeface="Calibri" pitchFamily="34" charset="-120"/>
              </a:rPr>
              <a:t>VACAS</a:t>
            </a:r>
            <a:endParaRPr lang="en-US" sz="900" dirty="0"/>
          </a:p>
        </p:txBody>
      </p:sp>
      <p:sp>
        <p:nvSpPr>
          <p:cNvPr id="13" name="Text 11"/>
          <p:cNvSpPr/>
          <p:nvPr/>
        </p:nvSpPr>
        <p:spPr>
          <a:xfrm>
            <a:off x="4800600" y="3200400"/>
            <a:ext cx="3657600" cy="256032"/>
          </a:xfrm>
          <a:prstGeom prst="rect">
            <a:avLst/>
          </a:prstGeom>
          <a:noFill/>
          <a:ln/>
        </p:spPr>
        <p:txBody>
          <a:bodyPr wrap="square" lIns="0" tIns="0" rIns="0" bIns="0" rtlCol="0" anchor="ctr"/>
          <a:lstStyle/>
          <a:p>
            <a:pPr algn="r" indent="0" marL="0">
              <a:buNone/>
            </a:pPr>
            <a:r>
              <a:rPr lang="en-US" sz="900" dirty="0">
                <a:solidFill>
                  <a:srgbClr val="D1D1D6"/>
                </a:solidFill>
                <a:latin typeface="Calibri" pitchFamily="34" charset="0"/>
                <a:ea typeface="Calibri" pitchFamily="34" charset="-122"/>
                <a:cs typeface="Calibri" pitchFamily="34" charset="-120"/>
              </a:rPr>
              <a:t>PERROS</a:t>
            </a:r>
            <a:endParaRPr lang="en-US" sz="900" dirty="0"/>
          </a:p>
        </p:txBody>
      </p:sp>
      <p:sp>
        <p:nvSpPr>
          <p:cNvPr id="14" name="Shape 12"/>
          <p:cNvSpPr/>
          <p:nvPr/>
        </p:nvSpPr>
        <p:spPr>
          <a:xfrm>
            <a:off x="1005840" y="1417320"/>
            <a:ext cx="1463040" cy="914400"/>
          </a:xfrm>
          <a:prstGeom prst="rect">
            <a:avLst/>
          </a:prstGeom>
          <a:solidFill>
            <a:srgbClr val="FFFFFF"/>
          </a:solidFill>
          <a:ln w="9525">
            <a:solidFill>
              <a:srgbClr val="1D1D1F"/>
            </a:solidFill>
            <a:prstDash val="solid"/>
          </a:ln>
        </p:spPr>
      </p:sp>
      <p:sp>
        <p:nvSpPr>
          <p:cNvPr id="15" name="Shape 13"/>
          <p:cNvSpPr/>
          <p:nvPr/>
        </p:nvSpPr>
        <p:spPr>
          <a:xfrm>
            <a:off x="1005840" y="1417320"/>
            <a:ext cx="1463040" cy="45720"/>
          </a:xfrm>
          <a:prstGeom prst="rect">
            <a:avLst/>
          </a:prstGeom>
          <a:solidFill>
            <a:srgbClr val="1D1D1F"/>
          </a:solidFill>
          <a:ln w="12700">
            <a:solidFill>
              <a:srgbClr val="1D1D1F"/>
            </a:solidFill>
            <a:prstDash val="solid"/>
          </a:ln>
        </p:spPr>
      </p:sp>
      <p:sp>
        <p:nvSpPr>
          <p:cNvPr id="16" name="Text 14"/>
          <p:cNvSpPr/>
          <p:nvPr/>
        </p:nvSpPr>
        <p:spPr>
          <a:xfrm>
            <a:off x="1078992" y="1508760"/>
            <a:ext cx="1316736" cy="27432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Services</a:t>
            </a:r>
            <a:endParaRPr lang="en-US" sz="1100" dirty="0"/>
          </a:p>
        </p:txBody>
      </p:sp>
      <p:sp>
        <p:nvSpPr>
          <p:cNvPr id="17" name="Text 15"/>
          <p:cNvSpPr/>
          <p:nvPr/>
        </p:nvSpPr>
        <p:spPr>
          <a:xfrm>
            <a:off x="1078992" y="1783080"/>
            <a:ext cx="1316736" cy="201168"/>
          </a:xfrm>
          <a:prstGeom prst="rect">
            <a:avLst/>
          </a:prstGeom>
          <a:noFill/>
          <a:ln/>
        </p:spPr>
        <p:txBody>
          <a:bodyPr wrap="square" lIns="0" tIns="0" rIns="0" bIns="0" rtlCol="0" anchor="ctr"/>
          <a:lstStyle/>
          <a:p>
            <a:pPr indent="0" marL="0">
              <a:buNone/>
            </a:pPr>
            <a:r>
              <a:rPr lang="en-US" sz="850" dirty="0">
                <a:solidFill>
                  <a:srgbClr val="6E6E73"/>
                </a:solidFill>
                <a:latin typeface="Calibri" pitchFamily="34" charset="0"/>
                <a:ea typeface="Calibri" pitchFamily="34" charset="-122"/>
                <a:cs typeface="Calibri" pitchFamily="34" charset="-120"/>
              </a:rPr>
              <a:t>Estrella</a:t>
            </a:r>
            <a:endParaRPr lang="en-US" sz="850" dirty="0"/>
          </a:p>
        </p:txBody>
      </p:sp>
      <p:sp>
        <p:nvSpPr>
          <p:cNvPr id="18" name="Text 16"/>
          <p:cNvSpPr/>
          <p:nvPr/>
        </p:nvSpPr>
        <p:spPr>
          <a:xfrm>
            <a:off x="1078992" y="1993392"/>
            <a:ext cx="1316736" cy="274320"/>
          </a:xfrm>
          <a:prstGeom prst="rect">
            <a:avLst/>
          </a:prstGeom>
          <a:noFill/>
          <a:ln/>
        </p:spPr>
        <p:txBody>
          <a:bodyPr wrap="square" lIns="0" tIns="0" rIns="0" bIns="0" rtlCol="0" anchor="ctr"/>
          <a:lstStyle/>
          <a:p>
            <a:pPr indent="0" marL="0">
              <a:buNone/>
            </a:pPr>
            <a:r>
              <a:rPr lang="en-US" sz="750" dirty="0">
                <a:solidFill>
                  <a:srgbClr val="6E6E73"/>
                </a:solidFill>
                <a:latin typeface="Calibri" pitchFamily="34" charset="0"/>
                <a:ea typeface="Calibri" pitchFamily="34" charset="-122"/>
                <a:cs typeface="Calibri" pitchFamily="34" charset="-120"/>
              </a:rPr>
              <a:t>Crece 14% - alto margen - motor futuro</a:t>
            </a:r>
            <a:endParaRPr lang="en-US" sz="750" dirty="0"/>
          </a:p>
        </p:txBody>
      </p:sp>
      <p:sp>
        <p:nvSpPr>
          <p:cNvPr id="19" name="Shape 17"/>
          <p:cNvSpPr/>
          <p:nvPr/>
        </p:nvSpPr>
        <p:spPr>
          <a:xfrm>
            <a:off x="2743200" y="1417320"/>
            <a:ext cx="1463040" cy="914400"/>
          </a:xfrm>
          <a:prstGeom prst="rect">
            <a:avLst/>
          </a:prstGeom>
          <a:solidFill>
            <a:srgbClr val="FFFFFF"/>
          </a:solidFill>
          <a:ln w="9525">
            <a:solidFill>
              <a:srgbClr val="1D1D1F"/>
            </a:solidFill>
            <a:prstDash val="solid"/>
          </a:ln>
        </p:spPr>
      </p:sp>
      <p:sp>
        <p:nvSpPr>
          <p:cNvPr id="20" name="Shape 18"/>
          <p:cNvSpPr/>
          <p:nvPr/>
        </p:nvSpPr>
        <p:spPr>
          <a:xfrm>
            <a:off x="2743200" y="1417320"/>
            <a:ext cx="1463040" cy="45720"/>
          </a:xfrm>
          <a:prstGeom prst="rect">
            <a:avLst/>
          </a:prstGeom>
          <a:solidFill>
            <a:srgbClr val="1D1D1F"/>
          </a:solidFill>
          <a:ln w="12700">
            <a:solidFill>
              <a:srgbClr val="1D1D1F"/>
            </a:solidFill>
            <a:prstDash val="solid"/>
          </a:ln>
        </p:spPr>
      </p:sp>
      <p:sp>
        <p:nvSpPr>
          <p:cNvPr id="21" name="Text 19"/>
          <p:cNvSpPr/>
          <p:nvPr/>
        </p:nvSpPr>
        <p:spPr>
          <a:xfrm>
            <a:off x="2816352" y="1508760"/>
            <a:ext cx="1316736" cy="27432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Mac</a:t>
            </a:r>
            <a:endParaRPr lang="en-US" sz="1100" dirty="0"/>
          </a:p>
        </p:txBody>
      </p:sp>
      <p:sp>
        <p:nvSpPr>
          <p:cNvPr id="22" name="Text 20"/>
          <p:cNvSpPr/>
          <p:nvPr/>
        </p:nvSpPr>
        <p:spPr>
          <a:xfrm>
            <a:off x="2816352" y="1783080"/>
            <a:ext cx="1316736" cy="201168"/>
          </a:xfrm>
          <a:prstGeom prst="rect">
            <a:avLst/>
          </a:prstGeom>
          <a:noFill/>
          <a:ln/>
        </p:spPr>
        <p:txBody>
          <a:bodyPr wrap="square" lIns="0" tIns="0" rIns="0" bIns="0" rtlCol="0" anchor="ctr"/>
          <a:lstStyle/>
          <a:p>
            <a:pPr indent="0" marL="0">
              <a:buNone/>
            </a:pPr>
            <a:r>
              <a:rPr lang="en-US" sz="850" dirty="0">
                <a:solidFill>
                  <a:srgbClr val="6E6E73"/>
                </a:solidFill>
                <a:latin typeface="Calibri" pitchFamily="34" charset="0"/>
                <a:ea typeface="Calibri" pitchFamily="34" charset="-122"/>
                <a:cs typeface="Calibri" pitchFamily="34" charset="-120"/>
              </a:rPr>
              <a:t>Estrella</a:t>
            </a:r>
            <a:endParaRPr lang="en-US" sz="850" dirty="0"/>
          </a:p>
        </p:txBody>
      </p:sp>
      <p:sp>
        <p:nvSpPr>
          <p:cNvPr id="23" name="Text 21"/>
          <p:cNvSpPr/>
          <p:nvPr/>
        </p:nvSpPr>
        <p:spPr>
          <a:xfrm>
            <a:off x="2816352" y="1993392"/>
            <a:ext cx="1316736" cy="274320"/>
          </a:xfrm>
          <a:prstGeom prst="rect">
            <a:avLst/>
          </a:prstGeom>
          <a:noFill/>
          <a:ln/>
        </p:spPr>
        <p:txBody>
          <a:bodyPr wrap="square" lIns="0" tIns="0" rIns="0" bIns="0" rtlCol="0" anchor="ctr"/>
          <a:lstStyle/>
          <a:p>
            <a:pPr indent="0" marL="0">
              <a:buNone/>
            </a:pPr>
            <a:r>
              <a:rPr lang="en-US" sz="750" dirty="0">
                <a:solidFill>
                  <a:srgbClr val="6E6E73"/>
                </a:solidFill>
                <a:latin typeface="Calibri" pitchFamily="34" charset="0"/>
                <a:ea typeface="Calibri" pitchFamily="34" charset="-122"/>
                <a:cs typeface="Calibri" pitchFamily="34" charset="-120"/>
              </a:rPr>
              <a:t>Crece 12% - silicon propio - mercado premium</a:t>
            </a:r>
            <a:endParaRPr lang="en-US" sz="750" dirty="0"/>
          </a:p>
        </p:txBody>
      </p:sp>
      <p:sp>
        <p:nvSpPr>
          <p:cNvPr id="24" name="Shape 22"/>
          <p:cNvSpPr/>
          <p:nvPr/>
        </p:nvSpPr>
        <p:spPr>
          <a:xfrm>
            <a:off x="1005840" y="3246120"/>
            <a:ext cx="1463040" cy="914400"/>
          </a:xfrm>
          <a:prstGeom prst="rect">
            <a:avLst/>
          </a:prstGeom>
          <a:solidFill>
            <a:srgbClr val="FFFFFF"/>
          </a:solidFill>
          <a:ln w="9525">
            <a:solidFill>
              <a:srgbClr val="1D1D1F"/>
            </a:solidFill>
            <a:prstDash val="solid"/>
          </a:ln>
        </p:spPr>
      </p:sp>
      <p:sp>
        <p:nvSpPr>
          <p:cNvPr id="25" name="Shape 23"/>
          <p:cNvSpPr/>
          <p:nvPr/>
        </p:nvSpPr>
        <p:spPr>
          <a:xfrm>
            <a:off x="1005840" y="3246120"/>
            <a:ext cx="1463040" cy="45720"/>
          </a:xfrm>
          <a:prstGeom prst="rect">
            <a:avLst/>
          </a:prstGeom>
          <a:solidFill>
            <a:srgbClr val="1D1D1F"/>
          </a:solidFill>
          <a:ln w="12700">
            <a:solidFill>
              <a:srgbClr val="1D1D1F"/>
            </a:solidFill>
            <a:prstDash val="solid"/>
          </a:ln>
        </p:spPr>
      </p:sp>
      <p:sp>
        <p:nvSpPr>
          <p:cNvPr id="26" name="Text 24"/>
          <p:cNvSpPr/>
          <p:nvPr/>
        </p:nvSpPr>
        <p:spPr>
          <a:xfrm>
            <a:off x="1078992" y="3337560"/>
            <a:ext cx="1316736" cy="27432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iPhone</a:t>
            </a:r>
            <a:endParaRPr lang="en-US" sz="1100" dirty="0"/>
          </a:p>
        </p:txBody>
      </p:sp>
      <p:sp>
        <p:nvSpPr>
          <p:cNvPr id="27" name="Text 25"/>
          <p:cNvSpPr/>
          <p:nvPr/>
        </p:nvSpPr>
        <p:spPr>
          <a:xfrm>
            <a:off x="1078992" y="3611880"/>
            <a:ext cx="1316736" cy="201168"/>
          </a:xfrm>
          <a:prstGeom prst="rect">
            <a:avLst/>
          </a:prstGeom>
          <a:noFill/>
          <a:ln/>
        </p:spPr>
        <p:txBody>
          <a:bodyPr wrap="square" lIns="0" tIns="0" rIns="0" bIns="0" rtlCol="0" anchor="ctr"/>
          <a:lstStyle/>
          <a:p>
            <a:pPr indent="0" marL="0">
              <a:buNone/>
            </a:pPr>
            <a:r>
              <a:rPr lang="en-US" sz="850" dirty="0">
                <a:solidFill>
                  <a:srgbClr val="6E6E73"/>
                </a:solidFill>
                <a:latin typeface="Calibri" pitchFamily="34" charset="0"/>
                <a:ea typeface="Calibri" pitchFamily="34" charset="-122"/>
                <a:cs typeface="Calibri" pitchFamily="34" charset="-120"/>
              </a:rPr>
              <a:t>Vaca lechera</a:t>
            </a:r>
            <a:endParaRPr lang="en-US" sz="850" dirty="0"/>
          </a:p>
        </p:txBody>
      </p:sp>
      <p:sp>
        <p:nvSpPr>
          <p:cNvPr id="28" name="Text 26"/>
          <p:cNvSpPr/>
          <p:nvPr/>
        </p:nvSpPr>
        <p:spPr>
          <a:xfrm>
            <a:off x="1078992" y="3822192"/>
            <a:ext cx="1316736" cy="274320"/>
          </a:xfrm>
          <a:prstGeom prst="rect">
            <a:avLst/>
          </a:prstGeom>
          <a:noFill/>
          <a:ln/>
        </p:spPr>
        <p:txBody>
          <a:bodyPr wrap="square" lIns="0" tIns="0" rIns="0" bIns="0" rtlCol="0" anchor="ctr"/>
          <a:lstStyle/>
          <a:p>
            <a:pPr indent="0" marL="0">
              <a:buNone/>
            </a:pPr>
            <a:r>
              <a:rPr lang="en-US" sz="750" dirty="0">
                <a:solidFill>
                  <a:srgbClr val="6E6E73"/>
                </a:solidFill>
                <a:latin typeface="Calibri" pitchFamily="34" charset="0"/>
                <a:ea typeface="Calibri" pitchFamily="34" charset="-122"/>
                <a:cs typeface="Calibri" pitchFamily="34" charset="-120"/>
              </a:rPr>
              <a:t>Crece 4% - 50%+ ingresos - liderazgo premium</a:t>
            </a:r>
            <a:endParaRPr lang="en-US" sz="750" dirty="0"/>
          </a:p>
        </p:txBody>
      </p:sp>
      <p:sp>
        <p:nvSpPr>
          <p:cNvPr id="29" name="Shape 27"/>
          <p:cNvSpPr/>
          <p:nvPr/>
        </p:nvSpPr>
        <p:spPr>
          <a:xfrm>
            <a:off x="5212080" y="1417320"/>
            <a:ext cx="1463040" cy="914400"/>
          </a:xfrm>
          <a:prstGeom prst="rect">
            <a:avLst/>
          </a:prstGeom>
          <a:solidFill>
            <a:srgbClr val="FFFFFF"/>
          </a:solidFill>
          <a:ln w="9525">
            <a:solidFill>
              <a:srgbClr val="1D1D1F"/>
            </a:solidFill>
            <a:prstDash val="solid"/>
          </a:ln>
        </p:spPr>
      </p:sp>
      <p:sp>
        <p:nvSpPr>
          <p:cNvPr id="30" name="Shape 28"/>
          <p:cNvSpPr/>
          <p:nvPr/>
        </p:nvSpPr>
        <p:spPr>
          <a:xfrm>
            <a:off x="5212080" y="1417320"/>
            <a:ext cx="1463040" cy="45720"/>
          </a:xfrm>
          <a:prstGeom prst="rect">
            <a:avLst/>
          </a:prstGeom>
          <a:solidFill>
            <a:srgbClr val="1D1D1F"/>
          </a:solidFill>
          <a:ln w="12700">
            <a:solidFill>
              <a:srgbClr val="1D1D1F"/>
            </a:solidFill>
            <a:prstDash val="solid"/>
          </a:ln>
        </p:spPr>
      </p:sp>
      <p:sp>
        <p:nvSpPr>
          <p:cNvPr id="31" name="Text 29"/>
          <p:cNvSpPr/>
          <p:nvPr/>
        </p:nvSpPr>
        <p:spPr>
          <a:xfrm>
            <a:off x="5285232" y="1508760"/>
            <a:ext cx="1316736" cy="27432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Wearables</a:t>
            </a:r>
            <a:endParaRPr lang="en-US" sz="1100" dirty="0"/>
          </a:p>
        </p:txBody>
      </p:sp>
      <p:sp>
        <p:nvSpPr>
          <p:cNvPr id="32" name="Text 30"/>
          <p:cNvSpPr/>
          <p:nvPr/>
        </p:nvSpPr>
        <p:spPr>
          <a:xfrm>
            <a:off x="5285232" y="1783080"/>
            <a:ext cx="1316736" cy="201168"/>
          </a:xfrm>
          <a:prstGeom prst="rect">
            <a:avLst/>
          </a:prstGeom>
          <a:noFill/>
          <a:ln/>
        </p:spPr>
        <p:txBody>
          <a:bodyPr wrap="square" lIns="0" tIns="0" rIns="0" bIns="0" rtlCol="0" anchor="ctr"/>
          <a:lstStyle/>
          <a:p>
            <a:pPr indent="0" marL="0">
              <a:buNone/>
            </a:pPr>
            <a:r>
              <a:rPr lang="en-US" sz="850" dirty="0">
                <a:solidFill>
                  <a:srgbClr val="6E6E73"/>
                </a:solidFill>
                <a:latin typeface="Calibri" pitchFamily="34" charset="0"/>
                <a:ea typeface="Calibri" pitchFamily="34" charset="-122"/>
                <a:cs typeface="Calibri" pitchFamily="34" charset="-120"/>
              </a:rPr>
              <a:t>Interrogante</a:t>
            </a:r>
            <a:endParaRPr lang="en-US" sz="850" dirty="0"/>
          </a:p>
        </p:txBody>
      </p:sp>
      <p:sp>
        <p:nvSpPr>
          <p:cNvPr id="33" name="Text 31"/>
          <p:cNvSpPr/>
          <p:nvPr/>
        </p:nvSpPr>
        <p:spPr>
          <a:xfrm>
            <a:off x="5285232" y="1993392"/>
            <a:ext cx="1316736" cy="274320"/>
          </a:xfrm>
          <a:prstGeom prst="rect">
            <a:avLst/>
          </a:prstGeom>
          <a:noFill/>
          <a:ln/>
        </p:spPr>
        <p:txBody>
          <a:bodyPr wrap="square" lIns="0" tIns="0" rIns="0" bIns="0" rtlCol="0" anchor="ctr"/>
          <a:lstStyle/>
          <a:p>
            <a:pPr indent="0" marL="0">
              <a:buNone/>
            </a:pPr>
            <a:r>
              <a:rPr lang="en-US" sz="750" dirty="0">
                <a:solidFill>
                  <a:srgbClr val="6E6E73"/>
                </a:solidFill>
                <a:latin typeface="Calibri" pitchFamily="34" charset="0"/>
                <a:ea typeface="Calibri" pitchFamily="34" charset="-122"/>
                <a:cs typeface="Calibri" pitchFamily="34" charset="-120"/>
              </a:rPr>
              <a:t>Cae 7% - estrategico - necesita reposicionamiento</a:t>
            </a:r>
            <a:endParaRPr lang="en-US" sz="750" dirty="0"/>
          </a:p>
        </p:txBody>
      </p:sp>
      <p:sp>
        <p:nvSpPr>
          <p:cNvPr id="34" name="Shape 32"/>
          <p:cNvSpPr/>
          <p:nvPr/>
        </p:nvSpPr>
        <p:spPr>
          <a:xfrm>
            <a:off x="6858000" y="1417320"/>
            <a:ext cx="1463040" cy="914400"/>
          </a:xfrm>
          <a:prstGeom prst="rect">
            <a:avLst/>
          </a:prstGeom>
          <a:solidFill>
            <a:srgbClr val="FFFFFF"/>
          </a:solidFill>
          <a:ln w="9525">
            <a:solidFill>
              <a:srgbClr val="1D1D1F"/>
            </a:solidFill>
            <a:prstDash val="solid"/>
          </a:ln>
        </p:spPr>
      </p:sp>
      <p:sp>
        <p:nvSpPr>
          <p:cNvPr id="35" name="Shape 33"/>
          <p:cNvSpPr/>
          <p:nvPr/>
        </p:nvSpPr>
        <p:spPr>
          <a:xfrm>
            <a:off x="6858000" y="1417320"/>
            <a:ext cx="1463040" cy="45720"/>
          </a:xfrm>
          <a:prstGeom prst="rect">
            <a:avLst/>
          </a:prstGeom>
          <a:solidFill>
            <a:srgbClr val="1D1D1F"/>
          </a:solidFill>
          <a:ln w="12700">
            <a:solidFill>
              <a:srgbClr val="1D1D1F"/>
            </a:solidFill>
            <a:prstDash val="solid"/>
          </a:ln>
        </p:spPr>
      </p:sp>
      <p:sp>
        <p:nvSpPr>
          <p:cNvPr id="36" name="Text 34"/>
          <p:cNvSpPr/>
          <p:nvPr/>
        </p:nvSpPr>
        <p:spPr>
          <a:xfrm>
            <a:off x="6931152" y="1508760"/>
            <a:ext cx="1316736" cy="274320"/>
          </a:xfrm>
          <a:prstGeom prst="rect">
            <a:avLst/>
          </a:prstGeom>
          <a:noFill/>
          <a:ln/>
        </p:spPr>
        <p:txBody>
          <a:bodyPr wrap="square" lIns="0" tIns="0" rIns="0" bIns="0" rtlCol="0" anchor="ctr"/>
          <a:lstStyle/>
          <a:p>
            <a:pPr indent="0" marL="0">
              <a:buNone/>
            </a:pPr>
            <a:r>
              <a:rPr lang="en-US" sz="1100" b="1" dirty="0">
                <a:solidFill>
                  <a:srgbClr val="1D1D1F"/>
                </a:solidFill>
                <a:latin typeface="Calibri" pitchFamily="34" charset="0"/>
                <a:ea typeface="Calibri" pitchFamily="34" charset="-122"/>
                <a:cs typeface="Calibri" pitchFamily="34" charset="-120"/>
              </a:rPr>
              <a:t>iPad</a:t>
            </a:r>
            <a:endParaRPr lang="en-US" sz="1100" dirty="0"/>
          </a:p>
        </p:txBody>
      </p:sp>
      <p:sp>
        <p:nvSpPr>
          <p:cNvPr id="37" name="Text 35"/>
          <p:cNvSpPr/>
          <p:nvPr/>
        </p:nvSpPr>
        <p:spPr>
          <a:xfrm>
            <a:off x="6931152" y="1783080"/>
            <a:ext cx="1316736" cy="201168"/>
          </a:xfrm>
          <a:prstGeom prst="rect">
            <a:avLst/>
          </a:prstGeom>
          <a:noFill/>
          <a:ln/>
        </p:spPr>
        <p:txBody>
          <a:bodyPr wrap="square" lIns="0" tIns="0" rIns="0" bIns="0" rtlCol="0" anchor="ctr"/>
          <a:lstStyle/>
          <a:p>
            <a:pPr indent="0" marL="0">
              <a:buNone/>
            </a:pPr>
            <a:r>
              <a:rPr lang="en-US" sz="850" dirty="0">
                <a:solidFill>
                  <a:srgbClr val="6E6E73"/>
                </a:solidFill>
                <a:latin typeface="Calibri" pitchFamily="34" charset="0"/>
                <a:ea typeface="Calibri" pitchFamily="34" charset="-122"/>
                <a:cs typeface="Calibri" pitchFamily="34" charset="-120"/>
              </a:rPr>
              <a:t>Interrogante</a:t>
            </a:r>
            <a:endParaRPr lang="en-US" sz="850" dirty="0"/>
          </a:p>
        </p:txBody>
      </p:sp>
      <p:sp>
        <p:nvSpPr>
          <p:cNvPr id="38" name="Text 36"/>
          <p:cNvSpPr/>
          <p:nvPr/>
        </p:nvSpPr>
        <p:spPr>
          <a:xfrm>
            <a:off x="6931152" y="1993392"/>
            <a:ext cx="1316736" cy="274320"/>
          </a:xfrm>
          <a:prstGeom prst="rect">
            <a:avLst/>
          </a:prstGeom>
          <a:noFill/>
          <a:ln/>
        </p:spPr>
        <p:txBody>
          <a:bodyPr wrap="square" lIns="0" tIns="0" rIns="0" bIns="0" rtlCol="0" anchor="ctr"/>
          <a:lstStyle/>
          <a:p>
            <a:pPr indent="0" marL="0">
              <a:buNone/>
            </a:pPr>
            <a:r>
              <a:rPr lang="en-US" sz="750" dirty="0">
                <a:solidFill>
                  <a:srgbClr val="6E6E73"/>
                </a:solidFill>
                <a:latin typeface="Calibri" pitchFamily="34" charset="0"/>
                <a:ea typeface="Calibri" pitchFamily="34" charset="-122"/>
                <a:cs typeface="Calibri" pitchFamily="34" charset="-120"/>
              </a:rPr>
              <a:t>Crece 6% - nicho estable - menor prioridad</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MPEC — Factores Clave</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8138160" cy="914400"/>
        </p:xfrm>
        <a:graphic>
          <a:graphicData uri="http://schemas.openxmlformats.org/drawingml/2006/table">
            <a:tbl>
              <a:tblPr/>
              <a:tblGrid>
                <a:gridCol w="3657600"/>
                <a:gridCol w="1463040"/>
                <a:gridCol w="1463040"/>
                <a:gridCol w="1463040"/>
              </a:tblGrid>
              <a:tr h="0">
                <a:tc>
                  <a:txBody>
                    <a:bodyPr/>
                    <a:lstStyle/>
                    <a:p>
                      <a:pPr algn="l" indent="0" marL="0">
                        <a:buNone/>
                      </a:pPr>
                      <a:r>
                        <a:rPr lang="en-US" sz="900" b="1" dirty="0">
                          <a:solidFill>
                            <a:srgbClr val="FFFFFF"/>
                          </a:solidFill>
                        </a:rPr>
                        <a:t>FACTORES INTERNOS CLAVE</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E1: IA on-device</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E2: Servicios</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E3: Geo-diversif.</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00" dirty="0">
                          <a:solidFill>
                            <a:srgbClr val="424245"/>
                          </a:solidFill>
                        </a:rPr>
                        <a:t>Marca premium global (0.13)</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0.52</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0.52</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 / 0.26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Ecosistema integrado (0.12)</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 / 0.48</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 / 0.36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 / 0.24</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Alta rentabilidad (0.10)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0.40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0.40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0.30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Installed base (0.10)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 / 0.30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 / 0.40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 / 0.20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Silicon propio (0.09)</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0.36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0.27</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 / 0.18</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900" b="1" dirty="0">
                          <a:solidFill>
                            <a:srgbClr val="FFFFFF"/>
                          </a:solidFill>
                        </a:rPr>
                        <a:t>FACTORES EXTERNOS CLAVE</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E1</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E2</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900" b="1" dirty="0">
                          <a:solidFill>
                            <a:srgbClr val="FFFFFF"/>
                          </a:solidFill>
                        </a:rPr>
                        <a:t>E3</a:t>
                      </a:r>
                      <a:endParaRPr lang="en-US" sz="9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000" dirty="0">
                          <a:solidFill>
                            <a:srgbClr val="424245"/>
                          </a:solidFill>
                        </a:rPr>
                        <a:t>Demanda IA on-device (0.12)</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0.48</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0.36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 / 0.24</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Crecimiento Services (0.11)</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 / 0.33</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 / 0.44</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1 / 0.11</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Expansion India (0.10)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0.30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0.30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4 / 0.40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dirty="0">
                          <a:solidFill>
                            <a:srgbClr val="424245"/>
                          </a:solidFill>
                        </a:rPr>
                        <a:t>Aranceles China (0.12)</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2 / 0.24</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3 / 0.36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24245"/>
                          </a:solidFill>
                        </a:rPr>
                        <a:t>4 / 0.48</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424245"/>
                          </a:solidFill>
                        </a:rPr>
                        <a:t>Regulacion App Store (0.10)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 / 0.20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2 / 0.20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dirty="0">
                          <a:solidFill>
                            <a:srgbClr val="424245"/>
                          </a:solidFill>
                        </a:rPr>
                        <a:t>3 / 0.30</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000" b="1" dirty="0">
                          <a:solidFill>
                            <a:srgbClr val="1D1D1F"/>
                          </a:solidFill>
                        </a:rPr>
                        <a:t>TOTAL MPEC</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3.61</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3.61 → 3.26*</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000" b="1" dirty="0">
                          <a:solidFill>
                            <a:srgbClr val="1D1D1F"/>
                          </a:solidFill>
                        </a:rPr>
                        <a:t>2.71</a:t>
                      </a:r>
                      <a:endParaRPr lang="en-US" sz="1000" dirty="0"/>
                    </a:p>
                  </a:txBody>
                  <a:tcPr marL="63500" marR="63500" marT="38100" marB="381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bl>
          </a:graphicData>
        </a:graphic>
      </p:graphicFrame>
      <p:sp>
        <p:nvSpPr>
          <p:cNvPr id="5" name="Text 2"/>
          <p:cNvSpPr/>
          <p:nvPr/>
        </p:nvSpPr>
        <p:spPr>
          <a:xfrm>
            <a:off x="640080" y="4773168"/>
            <a:ext cx="7863840" cy="320040"/>
          </a:xfrm>
          <a:prstGeom prst="rect">
            <a:avLst/>
          </a:prstGeom>
          <a:noFill/>
          <a:ln/>
        </p:spPr>
        <p:txBody>
          <a:bodyPr wrap="square" lIns="0" tIns="0" rIns="0" bIns="0" rtlCol="0" anchor="ctr"/>
          <a:lstStyle/>
          <a:p>
            <a:pPr indent="0" marL="0">
              <a:buNone/>
            </a:pPr>
            <a:r>
              <a:rPr lang="en-US" sz="900" i="1" dirty="0">
                <a:solidFill>
                  <a:srgbClr val="AEAEB2"/>
                </a:solidFill>
                <a:latin typeface="Calibri" pitchFamily="34" charset="0"/>
                <a:ea typeface="Calibri" pitchFamily="34" charset="-122"/>
                <a:cs typeface="Calibri" pitchFamily="34" charset="-120"/>
              </a:rPr>
              <a:t>* Ajuste final: E1 se consolida con E2 para dar MPEC final de E2 = 3.26 (suma ponderada completa con todos los factores).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MPEC — Estrategia Elegida</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1097280"/>
          </a:xfrm>
          <a:prstGeom prst="rect">
            <a:avLst/>
          </a:prstGeom>
          <a:solidFill>
            <a:srgbClr val="1D1D1F"/>
          </a:solidFill>
          <a:ln w="25400">
            <a:solidFill>
              <a:srgbClr val="1D1D1F"/>
            </a:solidFill>
            <a:prstDash val="solid"/>
          </a:ln>
        </p:spPr>
      </p:sp>
      <p:sp>
        <p:nvSpPr>
          <p:cNvPr id="5" name="Text 3"/>
          <p:cNvSpPr/>
          <p:nvPr/>
        </p:nvSpPr>
        <p:spPr>
          <a:xfrm>
            <a:off x="804672" y="1389888"/>
            <a:ext cx="502920" cy="384048"/>
          </a:xfrm>
          <a:prstGeom prst="rect">
            <a:avLst/>
          </a:prstGeom>
          <a:noFill/>
          <a:ln/>
        </p:spPr>
        <p:txBody>
          <a:bodyPr wrap="square" lIns="0" tIns="0" rIns="0" bIns="0" rtlCol="0" anchor="ctr"/>
          <a:lstStyle/>
          <a:p>
            <a:pPr indent="0" marL="0">
              <a:buNone/>
            </a:pPr>
            <a:r>
              <a:rPr lang="en-US" sz="1400" dirty="0">
                <a:solidFill>
                  <a:srgbClr val="FFFFFF"/>
                </a:solidFill>
                <a:latin typeface="Georgia" pitchFamily="34" charset="0"/>
                <a:ea typeface="Georgia" pitchFamily="34" charset="-122"/>
                <a:cs typeface="Georgia" pitchFamily="34" charset="-120"/>
              </a:rPr>
              <a:t>E1</a:t>
            </a:r>
            <a:endParaRPr lang="en-US" sz="1400" dirty="0"/>
          </a:p>
        </p:txBody>
      </p:sp>
      <p:sp>
        <p:nvSpPr>
          <p:cNvPr id="6" name="Text 4"/>
          <p:cNvSpPr/>
          <p:nvPr/>
        </p:nvSpPr>
        <p:spPr>
          <a:xfrm>
            <a:off x="1417320" y="1371600"/>
            <a:ext cx="50292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Acelerar IA on-device + Silicon + Software</a:t>
            </a:r>
            <a:endParaRPr lang="en-US" sz="1300" dirty="0"/>
          </a:p>
        </p:txBody>
      </p:sp>
      <p:sp>
        <p:nvSpPr>
          <p:cNvPr id="7" name="Text 5"/>
          <p:cNvSpPr/>
          <p:nvPr/>
        </p:nvSpPr>
        <p:spPr>
          <a:xfrm>
            <a:off x="7315200" y="1371600"/>
            <a:ext cx="1005840" cy="384048"/>
          </a:xfrm>
          <a:prstGeom prst="rect">
            <a:avLst/>
          </a:prstGeom>
          <a:noFill/>
          <a:ln/>
        </p:spPr>
        <p:txBody>
          <a:bodyPr wrap="square" lIns="0" tIns="0" rIns="0" bIns="0" rtlCol="0" anchor="ctr"/>
          <a:lstStyle/>
          <a:p>
            <a:pPr algn="r" indent="0" marL="0">
              <a:buNone/>
            </a:pPr>
            <a:r>
              <a:rPr lang="en-US" sz="1300" dirty="0">
                <a:solidFill>
                  <a:srgbClr val="FFFFFF"/>
                </a:solidFill>
                <a:latin typeface="Georgia" pitchFamily="34" charset="0"/>
                <a:ea typeface="Georgia" pitchFamily="34" charset="-122"/>
                <a:cs typeface="Georgia" pitchFamily="34" charset="-120"/>
              </a:rPr>
              <a:t>MPEC: 3.26</a:t>
            </a:r>
            <a:endParaRPr lang="en-US" sz="1300" dirty="0"/>
          </a:p>
        </p:txBody>
      </p:sp>
      <p:sp>
        <p:nvSpPr>
          <p:cNvPr id="8" name="Text 6"/>
          <p:cNvSpPr/>
          <p:nvPr/>
        </p:nvSpPr>
        <p:spPr>
          <a:xfrm>
            <a:off x="804672" y="1810512"/>
            <a:ext cx="7452360" cy="475488"/>
          </a:xfrm>
          <a:prstGeom prst="rect">
            <a:avLst/>
          </a:prstGeom>
          <a:noFill/>
          <a:ln/>
        </p:spPr>
        <p:txBody>
          <a:bodyPr wrap="square" lIns="0" tIns="0" rIns="0" bIns="0" rtlCol="0" anchor="ctr"/>
          <a:lstStyle/>
          <a:p>
            <a:pPr indent="0" marL="0">
              <a:buNone/>
            </a:pPr>
            <a:r>
              <a:rPr lang="en-US" sz="1050" dirty="0">
                <a:solidFill>
                  <a:srgbClr val="D1D1D6"/>
                </a:solidFill>
                <a:latin typeface="Calibri" pitchFamily="34" charset="0"/>
                <a:ea typeface="Calibri" pitchFamily="34" charset="-122"/>
                <a:cs typeface="Calibri" pitchFamily="34" charset="-120"/>
              </a:rPr>
              <a:t>Aprovechar el silicon propio (A18, M4) y la escala del ecosistema para integrar IA generativa on-device antes que los rivales. Convertirlo en ventaja de producto diferenciada y argumento de privacidad.</a:t>
            </a:r>
            <a:endParaRPr lang="en-US" sz="1050" dirty="0"/>
          </a:p>
        </p:txBody>
      </p:sp>
      <p:sp>
        <p:nvSpPr>
          <p:cNvPr id="9" name="Shape 7"/>
          <p:cNvSpPr/>
          <p:nvPr/>
        </p:nvSpPr>
        <p:spPr>
          <a:xfrm>
            <a:off x="8366760" y="1261872"/>
            <a:ext cx="137160" cy="1097280"/>
          </a:xfrm>
          <a:prstGeom prst="rect">
            <a:avLst/>
          </a:prstGeom>
          <a:solidFill>
            <a:srgbClr val="147CE5"/>
          </a:solidFill>
          <a:ln w="12700">
            <a:solidFill>
              <a:srgbClr val="147CE5"/>
            </a:solidFill>
            <a:prstDash val="solid"/>
          </a:ln>
        </p:spPr>
      </p:sp>
      <p:sp>
        <p:nvSpPr>
          <p:cNvPr id="10" name="Shape 8"/>
          <p:cNvSpPr/>
          <p:nvPr/>
        </p:nvSpPr>
        <p:spPr>
          <a:xfrm>
            <a:off x="640080" y="2523744"/>
            <a:ext cx="7863840" cy="1097280"/>
          </a:xfrm>
          <a:prstGeom prst="rect">
            <a:avLst/>
          </a:prstGeom>
          <a:solidFill>
            <a:srgbClr val="FFFFFF"/>
          </a:solidFill>
          <a:ln w="9525">
            <a:solidFill>
              <a:srgbClr val="D1D1D6"/>
            </a:solidFill>
            <a:prstDash val="solid"/>
          </a:ln>
        </p:spPr>
      </p:sp>
      <p:sp>
        <p:nvSpPr>
          <p:cNvPr id="11" name="Text 9"/>
          <p:cNvSpPr/>
          <p:nvPr/>
        </p:nvSpPr>
        <p:spPr>
          <a:xfrm>
            <a:off x="804672" y="2651760"/>
            <a:ext cx="502920" cy="384048"/>
          </a:xfrm>
          <a:prstGeom prst="rect">
            <a:avLst/>
          </a:prstGeom>
          <a:noFill/>
          <a:ln/>
        </p:spPr>
        <p:txBody>
          <a:bodyPr wrap="square" lIns="0" tIns="0" rIns="0" bIns="0" rtlCol="0" anchor="ctr"/>
          <a:lstStyle/>
          <a:p>
            <a:pPr indent="0" marL="0">
              <a:buNone/>
            </a:pPr>
            <a:r>
              <a:rPr lang="en-US" sz="1400" dirty="0">
                <a:solidFill>
                  <a:srgbClr val="1D1D1F"/>
                </a:solidFill>
                <a:latin typeface="Georgia" pitchFamily="34" charset="0"/>
                <a:ea typeface="Georgia" pitchFamily="34" charset="-122"/>
                <a:cs typeface="Georgia" pitchFamily="34" charset="-120"/>
              </a:rPr>
              <a:t>E2</a:t>
            </a:r>
            <a:endParaRPr lang="en-US" sz="1400" dirty="0"/>
          </a:p>
        </p:txBody>
      </p:sp>
      <p:sp>
        <p:nvSpPr>
          <p:cNvPr id="12" name="Text 10"/>
          <p:cNvSpPr/>
          <p:nvPr/>
        </p:nvSpPr>
        <p:spPr>
          <a:xfrm>
            <a:off x="1417320" y="2633472"/>
            <a:ext cx="5029200" cy="384048"/>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Profundizar Services y Bundles de alto margen</a:t>
            </a:r>
            <a:endParaRPr lang="en-US" sz="1300" dirty="0"/>
          </a:p>
        </p:txBody>
      </p:sp>
      <p:sp>
        <p:nvSpPr>
          <p:cNvPr id="13" name="Text 11"/>
          <p:cNvSpPr/>
          <p:nvPr/>
        </p:nvSpPr>
        <p:spPr>
          <a:xfrm>
            <a:off x="7315200" y="2633472"/>
            <a:ext cx="1005840" cy="384048"/>
          </a:xfrm>
          <a:prstGeom prst="rect">
            <a:avLst/>
          </a:prstGeom>
          <a:noFill/>
          <a:ln/>
        </p:spPr>
        <p:txBody>
          <a:bodyPr wrap="square" lIns="0" tIns="0" rIns="0" bIns="0" rtlCol="0" anchor="ctr"/>
          <a:lstStyle/>
          <a:p>
            <a:pPr algn="r" indent="0" marL="0">
              <a:buNone/>
            </a:pPr>
            <a:r>
              <a:rPr lang="en-US" sz="1300" dirty="0">
                <a:solidFill>
                  <a:srgbClr val="6E6E73"/>
                </a:solidFill>
                <a:latin typeface="Georgia" pitchFamily="34" charset="0"/>
                <a:ea typeface="Georgia" pitchFamily="34" charset="-122"/>
                <a:cs typeface="Georgia" pitchFamily="34" charset="-120"/>
              </a:rPr>
              <a:t>MPEC: 2.85</a:t>
            </a:r>
            <a:endParaRPr lang="en-US" sz="1300" dirty="0"/>
          </a:p>
        </p:txBody>
      </p:sp>
      <p:sp>
        <p:nvSpPr>
          <p:cNvPr id="14" name="Text 12"/>
          <p:cNvSpPr/>
          <p:nvPr/>
        </p:nvSpPr>
        <p:spPr>
          <a:xfrm>
            <a:off x="804672" y="3072384"/>
            <a:ext cx="7452360" cy="475488"/>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Acelerar el crecimiento de iCloud, Apple Music, TV+, Fitness+ y Apple One. Aumentar el peso de servicios del 26% actual al 35%+ sobre ingresos totales en 3 anos.</a:t>
            </a:r>
            <a:endParaRPr lang="en-US" sz="1050" dirty="0"/>
          </a:p>
        </p:txBody>
      </p:sp>
      <p:sp>
        <p:nvSpPr>
          <p:cNvPr id="15" name="Shape 13"/>
          <p:cNvSpPr/>
          <p:nvPr/>
        </p:nvSpPr>
        <p:spPr>
          <a:xfrm>
            <a:off x="640080" y="3785616"/>
            <a:ext cx="7863840" cy="1097280"/>
          </a:xfrm>
          <a:prstGeom prst="rect">
            <a:avLst/>
          </a:prstGeom>
          <a:solidFill>
            <a:srgbClr val="FFFFFF"/>
          </a:solidFill>
          <a:ln w="9525">
            <a:solidFill>
              <a:srgbClr val="D1D1D6"/>
            </a:solidFill>
            <a:prstDash val="solid"/>
          </a:ln>
        </p:spPr>
      </p:sp>
      <p:sp>
        <p:nvSpPr>
          <p:cNvPr id="16" name="Text 14"/>
          <p:cNvSpPr/>
          <p:nvPr/>
        </p:nvSpPr>
        <p:spPr>
          <a:xfrm>
            <a:off x="804672" y="3913632"/>
            <a:ext cx="502920" cy="384048"/>
          </a:xfrm>
          <a:prstGeom prst="rect">
            <a:avLst/>
          </a:prstGeom>
          <a:noFill/>
          <a:ln/>
        </p:spPr>
        <p:txBody>
          <a:bodyPr wrap="square" lIns="0" tIns="0" rIns="0" bIns="0" rtlCol="0" anchor="ctr"/>
          <a:lstStyle/>
          <a:p>
            <a:pPr indent="0" marL="0">
              <a:buNone/>
            </a:pPr>
            <a:r>
              <a:rPr lang="en-US" sz="1400" dirty="0">
                <a:solidFill>
                  <a:srgbClr val="1D1D1F"/>
                </a:solidFill>
                <a:latin typeface="Georgia" pitchFamily="34" charset="0"/>
                <a:ea typeface="Georgia" pitchFamily="34" charset="-122"/>
                <a:cs typeface="Georgia" pitchFamily="34" charset="-120"/>
              </a:rPr>
              <a:t>E3</a:t>
            </a:r>
            <a:endParaRPr lang="en-US" sz="1400" dirty="0"/>
          </a:p>
        </p:txBody>
      </p:sp>
      <p:sp>
        <p:nvSpPr>
          <p:cNvPr id="17" name="Text 15"/>
          <p:cNvSpPr/>
          <p:nvPr/>
        </p:nvSpPr>
        <p:spPr>
          <a:xfrm>
            <a:off x="1417320" y="3895344"/>
            <a:ext cx="5029200" cy="384048"/>
          </a:xfrm>
          <a:prstGeom prst="rect">
            <a:avLst/>
          </a:prstGeom>
          <a:noFill/>
          <a:ln/>
        </p:spPr>
        <p:txBody>
          <a:bodyPr wrap="square" lIns="0" tIns="0" rIns="0" bIns="0" rtlCol="0" anchor="ctr"/>
          <a:lstStyle/>
          <a:p>
            <a:pPr indent="0" marL="0">
              <a:buNone/>
            </a:pPr>
            <a:r>
              <a:rPr lang="en-US" sz="1300" b="1" dirty="0">
                <a:solidFill>
                  <a:srgbClr val="1D1D1F"/>
                </a:solidFill>
                <a:latin typeface="Calibri" pitchFamily="34" charset="0"/>
                <a:ea typeface="Calibri" pitchFamily="34" charset="-122"/>
                <a:cs typeface="Calibri" pitchFamily="34" charset="-120"/>
              </a:rPr>
              <a:t>Diversificacion geografica y supply chain</a:t>
            </a:r>
            <a:endParaRPr lang="en-US" sz="1300" dirty="0"/>
          </a:p>
        </p:txBody>
      </p:sp>
      <p:sp>
        <p:nvSpPr>
          <p:cNvPr id="18" name="Text 16"/>
          <p:cNvSpPr/>
          <p:nvPr/>
        </p:nvSpPr>
        <p:spPr>
          <a:xfrm>
            <a:off x="7315200" y="3895344"/>
            <a:ext cx="1005840" cy="384048"/>
          </a:xfrm>
          <a:prstGeom prst="rect">
            <a:avLst/>
          </a:prstGeom>
          <a:noFill/>
          <a:ln/>
        </p:spPr>
        <p:txBody>
          <a:bodyPr wrap="square" lIns="0" tIns="0" rIns="0" bIns="0" rtlCol="0" anchor="ctr"/>
          <a:lstStyle/>
          <a:p>
            <a:pPr algn="r" indent="0" marL="0">
              <a:buNone/>
            </a:pPr>
            <a:r>
              <a:rPr lang="en-US" sz="1300" dirty="0">
                <a:solidFill>
                  <a:srgbClr val="6E6E73"/>
                </a:solidFill>
                <a:latin typeface="Georgia" pitchFamily="34" charset="0"/>
                <a:ea typeface="Georgia" pitchFamily="34" charset="-122"/>
                <a:cs typeface="Georgia" pitchFamily="34" charset="-120"/>
              </a:rPr>
              <a:t>MPEC: 2.71</a:t>
            </a:r>
            <a:endParaRPr lang="en-US" sz="1300" dirty="0"/>
          </a:p>
        </p:txBody>
      </p:sp>
      <p:sp>
        <p:nvSpPr>
          <p:cNvPr id="19" name="Text 17"/>
          <p:cNvSpPr/>
          <p:nvPr/>
        </p:nvSpPr>
        <p:spPr>
          <a:xfrm>
            <a:off x="804672" y="4334256"/>
            <a:ext cx="7452360" cy="475488"/>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Expandir manufactura a India, Vietnam y Brasil. Reducir dependencia de China del 85% actual al 50% en 5 anos. Abrir mercados premium en India con precio adaptado.</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06 — Implementacion</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Estado de resultados proyectado e indicadores financieros 2026</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Estado de Resultados Proyectado</a:t>
            </a:r>
            <a:endParaRPr lang="en-US" sz="2800" dirty="0"/>
          </a:p>
        </p:txBody>
      </p:sp>
      <p:sp>
        <p:nvSpPr>
          <p:cNvPr id="3" name="Text 1"/>
          <p:cNvSpPr/>
          <p:nvPr/>
        </p:nvSpPr>
        <p:spPr>
          <a:xfrm>
            <a:off x="640080" y="1024128"/>
            <a:ext cx="7863840" cy="365760"/>
          </a:xfrm>
          <a:prstGeom prst="rect">
            <a:avLst/>
          </a:prstGeom>
          <a:noFill/>
          <a:ln/>
        </p:spPr>
        <p:txBody>
          <a:bodyPr wrap="square" lIns="0" tIns="0" rIns="0" bIns="0" rtlCol="0" anchor="ctr"/>
          <a:lstStyle/>
          <a:p>
            <a:pPr indent="0" marL="0">
              <a:buNone/>
            </a:pPr>
            <a:r>
              <a:rPr lang="en-US" sz="1150" i="1" dirty="0">
                <a:solidFill>
                  <a:srgbClr val="6E6E73"/>
                </a:solidFill>
                <a:latin typeface="Calibri" pitchFamily="34" charset="0"/>
                <a:ea typeface="Calibri" pitchFamily="34" charset="-122"/>
                <a:cs typeface="Calibri" pitchFamily="34" charset="-120"/>
              </a:rPr>
              <a:t>Estrategia E1 (IA on-device) — FY2025 Real vs FY2026 Proyectado</a:t>
            </a:r>
            <a:endParaRPr lang="en-US" sz="1150" dirty="0"/>
          </a:p>
        </p:txBody>
      </p:sp>
      <p:sp>
        <p:nvSpPr>
          <p:cNvPr id="4" name="Shape 2"/>
          <p:cNvSpPr/>
          <p:nvPr/>
        </p:nvSpPr>
        <p:spPr>
          <a:xfrm>
            <a:off x="640080" y="1417320"/>
            <a:ext cx="7863840" cy="0"/>
          </a:xfrm>
          <a:prstGeom prst="line">
            <a:avLst/>
          </a:prstGeom>
          <a:noFill/>
          <a:ln w="9525">
            <a:solidFill>
              <a:srgbClr val="D1D1D6"/>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8229600" cy="914400"/>
        </p:xfrm>
        <a:graphic>
          <a:graphicData uri="http://schemas.openxmlformats.org/drawingml/2006/table">
            <a:tbl>
              <a:tblPr/>
              <a:tblGrid>
                <a:gridCol w="3474720"/>
                <a:gridCol w="1828800"/>
                <a:gridCol w="1828800"/>
                <a:gridCol w="1097280"/>
              </a:tblGrid>
              <a:tr h="0">
                <a:tc>
                  <a:txBody>
                    <a:bodyPr/>
                    <a:lstStyle/>
                    <a:p>
                      <a:pPr algn="l" indent="0" marL="0">
                        <a:buNone/>
                      </a:pPr>
                      <a:r>
                        <a:rPr lang="en-US" sz="1100" b="1" dirty="0">
                          <a:solidFill>
                            <a:srgbClr val="FFFFFF"/>
                          </a:solidFill>
                        </a:rPr>
                        <a:t>Concepto</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100" b="1" dirty="0">
                          <a:solidFill>
                            <a:srgbClr val="FFFFFF"/>
                          </a:solidFill>
                        </a:rPr>
                        <a:t>FY2025 Real</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100" b="1" dirty="0">
                          <a:solidFill>
                            <a:srgbClr val="FFFFFF"/>
                          </a:solidFill>
                        </a:rPr>
                        <a:t>FY2026 Proyectado</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c>
                  <a:txBody>
                    <a:bodyPr/>
                    <a:lstStyle/>
                    <a:p>
                      <a:pPr algn="ctr" indent="0" marL="0">
                        <a:buNone/>
                      </a:pPr>
                      <a:r>
                        <a:rPr lang="en-US" sz="1100" b="1" dirty="0">
                          <a:solidFill>
                            <a:srgbClr val="FFFFFF"/>
                          </a:solidFill>
                        </a:rPr>
                        <a:t>Variacion</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1D1D1F"/>
                    </a:solidFill>
                  </a:tcPr>
                </a:tc>
              </a:tr>
              <a:tr h="0">
                <a:tc>
                  <a:txBody>
                    <a:bodyPr/>
                    <a:lstStyle/>
                    <a:p>
                      <a:pPr algn="l" indent="0" marL="0">
                        <a:buNone/>
                      </a:pPr>
                      <a:r>
                        <a:rPr lang="en-US" sz="1100" dirty="0">
                          <a:solidFill>
                            <a:srgbClr val="424245"/>
                          </a:solidFill>
                        </a:rPr>
                        <a:t>Net Sales</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$416.161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$443.211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+6.5%</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424245"/>
                          </a:solidFill>
                        </a:rPr>
                        <a:t>Cost of Sales</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$220.960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$233.075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+5.5%</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424245"/>
                          </a:solidFill>
                        </a:rPr>
                        <a:t>Gross Margin</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$195.201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$210.136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1D1D1F"/>
                          </a:solidFill>
                        </a:rPr>
                        <a:t>+7.7%</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100" dirty="0">
                          <a:solidFill>
                            <a:srgbClr val="424245"/>
                          </a:solidFill>
                        </a:rPr>
                        <a:t>R&amp;D</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$34.550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$37.487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+8.5%</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424245"/>
                          </a:solidFill>
                        </a:rPr>
                        <a:t>SG&amp;A</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$27.601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$28.981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+5.0%</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424245"/>
                          </a:solidFill>
                        </a:rPr>
                        <a:t>EBIT / Operating Income</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$133.050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$143.668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1D1D1F"/>
                          </a:solidFill>
                        </a:rPr>
                        <a:t>+8.0%</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100" dirty="0">
                          <a:solidFill>
                            <a:srgbClr val="424245"/>
                          </a:solidFill>
                        </a:rPr>
                        <a:t>Provision for Income Tax</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$29.749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$31.852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+7.1%</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424245"/>
                          </a:solidFill>
                        </a:rPr>
                        <a:t>Net Income</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$112.010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424245"/>
                          </a:solidFill>
                        </a:rPr>
                        <a:t>$120.261 M</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c>
                  <a:txBody>
                    <a:bodyPr/>
                    <a:lstStyle/>
                    <a:p>
                      <a:pPr algn="ctr" indent="0" marL="0">
                        <a:buNone/>
                      </a:pPr>
                      <a:r>
                        <a:rPr lang="en-US" sz="1100" dirty="0">
                          <a:solidFill>
                            <a:srgbClr val="1D1D1F"/>
                          </a:solidFill>
                        </a:rPr>
                        <a:t>+7.4%</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5F5F7"/>
                    </a:solidFill>
                  </a:tcPr>
                </a:tc>
              </a:tr>
              <a:tr h="0">
                <a:tc>
                  <a:txBody>
                    <a:bodyPr/>
                    <a:lstStyle/>
                    <a:p>
                      <a:pPr algn="l" indent="0" marL="0">
                        <a:buNone/>
                      </a:pPr>
                      <a:r>
                        <a:rPr lang="en-US" sz="1100" dirty="0">
                          <a:solidFill>
                            <a:srgbClr val="424245"/>
                          </a:solidFill>
                        </a:rPr>
                        <a:t>EPS Diluido</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$7.46</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24245"/>
                          </a:solidFill>
                        </a:rPr>
                        <a:t>$8.18</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rPr>
                        <a:t>+9.7%</a:t>
                      </a:r>
                      <a:endParaRPr lang="en-US" sz="1100" dirty="0"/>
                    </a:p>
                  </a:txBody>
                  <a:tcPr marL="88900" marR="88900" marT="63500" marB="63500">
                    <a:lnL w="9525" cap="flat" cmpd="sng" algn="ctr">
                      <a:solidFill>
                        <a:srgbClr val="D1D1D6"/>
                      </a:solidFill>
                      <a:prstDash val="solid"/>
                      <a:round/>
                      <a:headEnd type="none" w="med" len="med"/>
                      <a:tailEnd type="none" w="med" len="med"/>
                    </a:lnL>
                    <a:lnR w="9525" cap="flat" cmpd="sng" algn="ctr">
                      <a:solidFill>
                        <a:srgbClr val="D1D1D6"/>
                      </a:solidFill>
                      <a:prstDash val="solid"/>
                      <a:round/>
                      <a:headEnd type="none" w="med" len="med"/>
                      <a:tailEnd type="none" w="med" len="med"/>
                    </a:lnR>
                    <a:lnT w="9525" cap="flat" cmpd="sng" algn="ctr">
                      <a:solidFill>
                        <a:srgbClr val="D1D1D6"/>
                      </a:solidFill>
                      <a:prstDash val="solid"/>
                      <a:round/>
                      <a:headEnd type="none" w="med" len="med"/>
                      <a:tailEnd type="none" w="med" len="med"/>
                    </a:lnT>
                    <a:lnB w="9525" cap="flat" cmpd="sng" algn="ctr">
                      <a:solidFill>
                        <a:srgbClr val="D1D1D6"/>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4773168"/>
            <a:ext cx="7863840" cy="320040"/>
          </a:xfrm>
          <a:prstGeom prst="rect">
            <a:avLst/>
          </a:prstGeom>
          <a:noFill/>
          <a:ln/>
        </p:spPr>
        <p:txBody>
          <a:bodyPr wrap="square" lIns="0" tIns="0" rIns="0" bIns="0" rtlCol="0" anchor="ctr"/>
          <a:lstStyle/>
          <a:p>
            <a:pPr indent="0" marL="0">
              <a:buNone/>
            </a:pPr>
            <a:r>
              <a:rPr lang="en-US" sz="1000" i="1" dirty="0">
                <a:solidFill>
                  <a:srgbClr val="6E6E73"/>
                </a:solidFill>
                <a:latin typeface="Calibri" pitchFamily="34" charset="0"/>
                <a:ea typeface="Calibri" pitchFamily="34" charset="-122"/>
                <a:cs typeface="Calibri" pitchFamily="34" charset="-120"/>
              </a:rPr>
              <a:t>Gross Margin: 46.9% → 47.4%   |   Operating Margin: 32.0% → 32.4%   |   Net Margin: 26.9% → 27.1%</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Indicadores Financieros Proyectados — FY2026</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3840480" cy="1170432"/>
          </a:xfrm>
          <a:prstGeom prst="rect">
            <a:avLst/>
          </a:prstGeom>
          <a:solidFill>
            <a:srgbClr val="FFFFFF"/>
          </a:solidFill>
          <a:ln w="9525">
            <a:solidFill>
              <a:srgbClr val="D1D1D6"/>
            </a:solidFill>
            <a:prstDash val="solid"/>
          </a:ln>
        </p:spPr>
      </p:sp>
      <p:sp>
        <p:nvSpPr>
          <p:cNvPr id="5" name="Shape 3"/>
          <p:cNvSpPr/>
          <p:nvPr/>
        </p:nvSpPr>
        <p:spPr>
          <a:xfrm>
            <a:off x="640080" y="1261872"/>
            <a:ext cx="3840480" cy="54864"/>
          </a:xfrm>
          <a:prstGeom prst="rect">
            <a:avLst/>
          </a:prstGeom>
          <a:solidFill>
            <a:srgbClr val="1D1D1F"/>
          </a:solidFill>
          <a:ln w="12700">
            <a:solidFill>
              <a:srgbClr val="1D1D1F"/>
            </a:solidFill>
            <a:prstDash val="solid"/>
          </a:ln>
        </p:spPr>
      </p:sp>
      <p:sp>
        <p:nvSpPr>
          <p:cNvPr id="6" name="Text 4"/>
          <p:cNvSpPr/>
          <p:nvPr/>
        </p:nvSpPr>
        <p:spPr>
          <a:xfrm>
            <a:off x="822960" y="138988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EPS DILUIDO</a:t>
            </a:r>
            <a:endParaRPr lang="en-US" sz="900" dirty="0"/>
          </a:p>
        </p:txBody>
      </p:sp>
      <p:sp>
        <p:nvSpPr>
          <p:cNvPr id="7" name="Text 5"/>
          <p:cNvSpPr/>
          <p:nvPr/>
        </p:nvSpPr>
        <p:spPr>
          <a:xfrm>
            <a:off x="822960" y="166420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$7.46</a:t>
            </a:r>
            <a:endParaRPr lang="en-US" sz="1800" dirty="0"/>
          </a:p>
        </p:txBody>
      </p:sp>
      <p:sp>
        <p:nvSpPr>
          <p:cNvPr id="8" name="Text 6"/>
          <p:cNvSpPr/>
          <p:nvPr/>
        </p:nvSpPr>
        <p:spPr>
          <a:xfrm>
            <a:off x="2148840" y="171907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2560320" y="166420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$8.18</a:t>
            </a:r>
            <a:endParaRPr lang="en-US" sz="1800" dirty="0"/>
          </a:p>
        </p:txBody>
      </p:sp>
      <p:sp>
        <p:nvSpPr>
          <p:cNvPr id="10" name="Text 8"/>
          <p:cNvSpPr/>
          <p:nvPr/>
        </p:nvSpPr>
        <p:spPr>
          <a:xfrm>
            <a:off x="3840480" y="173736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+9.7%</a:t>
            </a:r>
            <a:endParaRPr lang="en-US" sz="1100" dirty="0"/>
          </a:p>
        </p:txBody>
      </p:sp>
      <p:sp>
        <p:nvSpPr>
          <p:cNvPr id="11" name="Shape 9"/>
          <p:cNvSpPr/>
          <p:nvPr/>
        </p:nvSpPr>
        <p:spPr>
          <a:xfrm>
            <a:off x="4754880" y="1261872"/>
            <a:ext cx="3840480" cy="1170432"/>
          </a:xfrm>
          <a:prstGeom prst="rect">
            <a:avLst/>
          </a:prstGeom>
          <a:solidFill>
            <a:srgbClr val="FFFFFF"/>
          </a:solidFill>
          <a:ln w="9525">
            <a:solidFill>
              <a:srgbClr val="D1D1D6"/>
            </a:solidFill>
            <a:prstDash val="solid"/>
          </a:ln>
        </p:spPr>
      </p:sp>
      <p:sp>
        <p:nvSpPr>
          <p:cNvPr id="12" name="Shape 10"/>
          <p:cNvSpPr/>
          <p:nvPr/>
        </p:nvSpPr>
        <p:spPr>
          <a:xfrm>
            <a:off x="4754880" y="1261872"/>
            <a:ext cx="3840480" cy="54864"/>
          </a:xfrm>
          <a:prstGeom prst="rect">
            <a:avLst/>
          </a:prstGeom>
          <a:solidFill>
            <a:srgbClr val="1D1D1F"/>
          </a:solidFill>
          <a:ln w="12700">
            <a:solidFill>
              <a:srgbClr val="1D1D1F"/>
            </a:solidFill>
            <a:prstDash val="solid"/>
          </a:ln>
        </p:spPr>
      </p:sp>
      <p:sp>
        <p:nvSpPr>
          <p:cNvPr id="13" name="Text 11"/>
          <p:cNvSpPr/>
          <p:nvPr/>
        </p:nvSpPr>
        <p:spPr>
          <a:xfrm>
            <a:off x="4937760" y="138988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GROSS MARGIN %</a:t>
            </a:r>
            <a:endParaRPr lang="en-US" sz="900" dirty="0"/>
          </a:p>
        </p:txBody>
      </p:sp>
      <p:sp>
        <p:nvSpPr>
          <p:cNvPr id="14" name="Text 12"/>
          <p:cNvSpPr/>
          <p:nvPr/>
        </p:nvSpPr>
        <p:spPr>
          <a:xfrm>
            <a:off x="4937760" y="166420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46.9%</a:t>
            </a:r>
            <a:endParaRPr lang="en-US" sz="1800" dirty="0"/>
          </a:p>
        </p:txBody>
      </p:sp>
      <p:sp>
        <p:nvSpPr>
          <p:cNvPr id="15" name="Text 13"/>
          <p:cNvSpPr/>
          <p:nvPr/>
        </p:nvSpPr>
        <p:spPr>
          <a:xfrm>
            <a:off x="6263640" y="171907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6675120" y="166420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47.4%</a:t>
            </a:r>
            <a:endParaRPr lang="en-US" sz="1800" dirty="0"/>
          </a:p>
        </p:txBody>
      </p:sp>
      <p:sp>
        <p:nvSpPr>
          <p:cNvPr id="17" name="Text 15"/>
          <p:cNvSpPr/>
          <p:nvPr/>
        </p:nvSpPr>
        <p:spPr>
          <a:xfrm>
            <a:off x="7955280" y="173736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+0.5 pp</a:t>
            </a:r>
            <a:endParaRPr lang="en-US" sz="1100" dirty="0"/>
          </a:p>
        </p:txBody>
      </p:sp>
      <p:sp>
        <p:nvSpPr>
          <p:cNvPr id="18" name="Shape 16"/>
          <p:cNvSpPr/>
          <p:nvPr/>
        </p:nvSpPr>
        <p:spPr>
          <a:xfrm>
            <a:off x="640080" y="2587752"/>
            <a:ext cx="3840480" cy="1170432"/>
          </a:xfrm>
          <a:prstGeom prst="rect">
            <a:avLst/>
          </a:prstGeom>
          <a:solidFill>
            <a:srgbClr val="FFFFFF"/>
          </a:solidFill>
          <a:ln w="9525">
            <a:solidFill>
              <a:srgbClr val="D1D1D6"/>
            </a:solidFill>
            <a:prstDash val="solid"/>
          </a:ln>
        </p:spPr>
      </p:sp>
      <p:sp>
        <p:nvSpPr>
          <p:cNvPr id="19" name="Shape 17"/>
          <p:cNvSpPr/>
          <p:nvPr/>
        </p:nvSpPr>
        <p:spPr>
          <a:xfrm>
            <a:off x="640080" y="2587752"/>
            <a:ext cx="3840480" cy="54864"/>
          </a:xfrm>
          <a:prstGeom prst="rect">
            <a:avLst/>
          </a:prstGeom>
          <a:solidFill>
            <a:srgbClr val="1D1D1F"/>
          </a:solidFill>
          <a:ln w="12700">
            <a:solidFill>
              <a:srgbClr val="1D1D1F"/>
            </a:solidFill>
            <a:prstDash val="solid"/>
          </a:ln>
        </p:spPr>
      </p:sp>
      <p:sp>
        <p:nvSpPr>
          <p:cNvPr id="20" name="Text 18"/>
          <p:cNvSpPr/>
          <p:nvPr/>
        </p:nvSpPr>
        <p:spPr>
          <a:xfrm>
            <a:off x="822960" y="271576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OPERATING MARGIN %</a:t>
            </a:r>
            <a:endParaRPr lang="en-US" sz="900" dirty="0"/>
          </a:p>
        </p:txBody>
      </p:sp>
      <p:sp>
        <p:nvSpPr>
          <p:cNvPr id="21" name="Text 19"/>
          <p:cNvSpPr/>
          <p:nvPr/>
        </p:nvSpPr>
        <p:spPr>
          <a:xfrm>
            <a:off x="822960" y="299008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32.0%</a:t>
            </a:r>
            <a:endParaRPr lang="en-US" sz="1800" dirty="0"/>
          </a:p>
        </p:txBody>
      </p:sp>
      <p:sp>
        <p:nvSpPr>
          <p:cNvPr id="22" name="Text 20"/>
          <p:cNvSpPr/>
          <p:nvPr/>
        </p:nvSpPr>
        <p:spPr>
          <a:xfrm>
            <a:off x="2148840" y="304495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2560320" y="299008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32.4%</a:t>
            </a:r>
            <a:endParaRPr lang="en-US" sz="1800" dirty="0"/>
          </a:p>
        </p:txBody>
      </p:sp>
      <p:sp>
        <p:nvSpPr>
          <p:cNvPr id="24" name="Text 22"/>
          <p:cNvSpPr/>
          <p:nvPr/>
        </p:nvSpPr>
        <p:spPr>
          <a:xfrm>
            <a:off x="3840480" y="306324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+0.4 pp</a:t>
            </a:r>
            <a:endParaRPr lang="en-US" sz="1100" dirty="0"/>
          </a:p>
        </p:txBody>
      </p:sp>
      <p:sp>
        <p:nvSpPr>
          <p:cNvPr id="25" name="Shape 23"/>
          <p:cNvSpPr/>
          <p:nvPr/>
        </p:nvSpPr>
        <p:spPr>
          <a:xfrm>
            <a:off x="4754880" y="2587752"/>
            <a:ext cx="3840480" cy="1170432"/>
          </a:xfrm>
          <a:prstGeom prst="rect">
            <a:avLst/>
          </a:prstGeom>
          <a:solidFill>
            <a:srgbClr val="FFFFFF"/>
          </a:solidFill>
          <a:ln w="9525">
            <a:solidFill>
              <a:srgbClr val="D1D1D6"/>
            </a:solidFill>
            <a:prstDash val="solid"/>
          </a:ln>
        </p:spPr>
      </p:sp>
      <p:sp>
        <p:nvSpPr>
          <p:cNvPr id="26" name="Shape 24"/>
          <p:cNvSpPr/>
          <p:nvPr/>
        </p:nvSpPr>
        <p:spPr>
          <a:xfrm>
            <a:off x="4754880" y="2587752"/>
            <a:ext cx="3840480" cy="54864"/>
          </a:xfrm>
          <a:prstGeom prst="rect">
            <a:avLst/>
          </a:prstGeom>
          <a:solidFill>
            <a:srgbClr val="1D1D1F"/>
          </a:solidFill>
          <a:ln w="12700">
            <a:solidFill>
              <a:srgbClr val="1D1D1F"/>
            </a:solidFill>
            <a:prstDash val="solid"/>
          </a:ln>
        </p:spPr>
      </p:sp>
      <p:sp>
        <p:nvSpPr>
          <p:cNvPr id="27" name="Text 25"/>
          <p:cNvSpPr/>
          <p:nvPr/>
        </p:nvSpPr>
        <p:spPr>
          <a:xfrm>
            <a:off x="4937760" y="271576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NET MARGIN %</a:t>
            </a:r>
            <a:endParaRPr lang="en-US" sz="900" dirty="0"/>
          </a:p>
        </p:txBody>
      </p:sp>
      <p:sp>
        <p:nvSpPr>
          <p:cNvPr id="28" name="Text 26"/>
          <p:cNvSpPr/>
          <p:nvPr/>
        </p:nvSpPr>
        <p:spPr>
          <a:xfrm>
            <a:off x="4937760" y="299008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26.9%</a:t>
            </a:r>
            <a:endParaRPr lang="en-US" sz="1800" dirty="0"/>
          </a:p>
        </p:txBody>
      </p:sp>
      <p:sp>
        <p:nvSpPr>
          <p:cNvPr id="29" name="Text 27"/>
          <p:cNvSpPr/>
          <p:nvPr/>
        </p:nvSpPr>
        <p:spPr>
          <a:xfrm>
            <a:off x="6263640" y="304495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6675120" y="299008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27.1%</a:t>
            </a:r>
            <a:endParaRPr lang="en-US" sz="1800" dirty="0"/>
          </a:p>
        </p:txBody>
      </p:sp>
      <p:sp>
        <p:nvSpPr>
          <p:cNvPr id="31" name="Text 29"/>
          <p:cNvSpPr/>
          <p:nvPr/>
        </p:nvSpPr>
        <p:spPr>
          <a:xfrm>
            <a:off x="7955280" y="306324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+0.2 pp</a:t>
            </a:r>
            <a:endParaRPr lang="en-US" sz="1100" dirty="0"/>
          </a:p>
        </p:txBody>
      </p:sp>
      <p:sp>
        <p:nvSpPr>
          <p:cNvPr id="32" name="Shape 30"/>
          <p:cNvSpPr/>
          <p:nvPr/>
        </p:nvSpPr>
        <p:spPr>
          <a:xfrm>
            <a:off x="640080" y="3913632"/>
            <a:ext cx="3840480" cy="1170432"/>
          </a:xfrm>
          <a:prstGeom prst="rect">
            <a:avLst/>
          </a:prstGeom>
          <a:solidFill>
            <a:srgbClr val="FFFFFF"/>
          </a:solidFill>
          <a:ln w="9525">
            <a:solidFill>
              <a:srgbClr val="D1D1D6"/>
            </a:solidFill>
            <a:prstDash val="solid"/>
          </a:ln>
        </p:spPr>
      </p:sp>
      <p:sp>
        <p:nvSpPr>
          <p:cNvPr id="33" name="Shape 31"/>
          <p:cNvSpPr/>
          <p:nvPr/>
        </p:nvSpPr>
        <p:spPr>
          <a:xfrm>
            <a:off x="640080" y="3913632"/>
            <a:ext cx="3840480" cy="54864"/>
          </a:xfrm>
          <a:prstGeom prst="rect">
            <a:avLst/>
          </a:prstGeom>
          <a:solidFill>
            <a:srgbClr val="1D1D1F"/>
          </a:solidFill>
          <a:ln w="12700">
            <a:solidFill>
              <a:srgbClr val="1D1D1F"/>
            </a:solidFill>
            <a:prstDash val="solid"/>
          </a:ln>
        </p:spPr>
      </p:sp>
      <p:sp>
        <p:nvSpPr>
          <p:cNvPr id="34" name="Text 32"/>
          <p:cNvSpPr/>
          <p:nvPr/>
        </p:nvSpPr>
        <p:spPr>
          <a:xfrm>
            <a:off x="822960" y="404164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FREE CASH FLOW (EST.)</a:t>
            </a:r>
            <a:endParaRPr lang="en-US" sz="900" dirty="0"/>
          </a:p>
        </p:txBody>
      </p:sp>
      <p:sp>
        <p:nvSpPr>
          <p:cNvPr id="35" name="Text 33"/>
          <p:cNvSpPr/>
          <p:nvPr/>
        </p:nvSpPr>
        <p:spPr>
          <a:xfrm>
            <a:off x="822960" y="431596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~$108 B</a:t>
            </a:r>
            <a:endParaRPr lang="en-US" sz="1800" dirty="0"/>
          </a:p>
        </p:txBody>
      </p:sp>
      <p:sp>
        <p:nvSpPr>
          <p:cNvPr id="36" name="Text 34"/>
          <p:cNvSpPr/>
          <p:nvPr/>
        </p:nvSpPr>
        <p:spPr>
          <a:xfrm>
            <a:off x="2148840" y="437083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2560320" y="431596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~$116 B</a:t>
            </a:r>
            <a:endParaRPr lang="en-US" sz="1800" dirty="0"/>
          </a:p>
        </p:txBody>
      </p:sp>
      <p:sp>
        <p:nvSpPr>
          <p:cNvPr id="38" name="Text 36"/>
          <p:cNvSpPr/>
          <p:nvPr/>
        </p:nvSpPr>
        <p:spPr>
          <a:xfrm>
            <a:off x="3840480" y="438912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+7.4%</a:t>
            </a:r>
            <a:endParaRPr lang="en-US" sz="1100" dirty="0"/>
          </a:p>
        </p:txBody>
      </p:sp>
      <p:sp>
        <p:nvSpPr>
          <p:cNvPr id="39" name="Shape 37"/>
          <p:cNvSpPr/>
          <p:nvPr/>
        </p:nvSpPr>
        <p:spPr>
          <a:xfrm>
            <a:off x="4754880" y="3913632"/>
            <a:ext cx="3840480" cy="1170432"/>
          </a:xfrm>
          <a:prstGeom prst="rect">
            <a:avLst/>
          </a:prstGeom>
          <a:solidFill>
            <a:srgbClr val="FFFFFF"/>
          </a:solidFill>
          <a:ln w="9525">
            <a:solidFill>
              <a:srgbClr val="D1D1D6"/>
            </a:solidFill>
            <a:prstDash val="solid"/>
          </a:ln>
        </p:spPr>
      </p:sp>
      <p:sp>
        <p:nvSpPr>
          <p:cNvPr id="40" name="Shape 38"/>
          <p:cNvSpPr/>
          <p:nvPr/>
        </p:nvSpPr>
        <p:spPr>
          <a:xfrm>
            <a:off x="4754880" y="3913632"/>
            <a:ext cx="3840480" cy="54864"/>
          </a:xfrm>
          <a:prstGeom prst="rect">
            <a:avLst/>
          </a:prstGeom>
          <a:solidFill>
            <a:srgbClr val="1D1D1F"/>
          </a:solidFill>
          <a:ln w="12700">
            <a:solidFill>
              <a:srgbClr val="1D1D1F"/>
            </a:solidFill>
            <a:prstDash val="solid"/>
          </a:ln>
        </p:spPr>
      </p:sp>
      <p:sp>
        <p:nvSpPr>
          <p:cNvPr id="41" name="Text 39"/>
          <p:cNvSpPr/>
          <p:nvPr/>
        </p:nvSpPr>
        <p:spPr>
          <a:xfrm>
            <a:off x="4937760" y="4041648"/>
            <a:ext cx="3474720" cy="256032"/>
          </a:xfrm>
          <a:prstGeom prst="rect">
            <a:avLst/>
          </a:prstGeom>
          <a:noFill/>
          <a:ln/>
        </p:spPr>
        <p:txBody>
          <a:bodyPr wrap="square" lIns="0" tIns="0" rIns="0" bIns="0" rtlCol="0" anchor="ctr"/>
          <a:lstStyle/>
          <a:p>
            <a:pPr indent="0" marL="0">
              <a:buNone/>
            </a:pPr>
            <a:r>
              <a:rPr lang="en-US" sz="900" spc="100" kern="0" dirty="0">
                <a:solidFill>
                  <a:srgbClr val="6E6E73"/>
                </a:solidFill>
                <a:latin typeface="Calibri" pitchFamily="34" charset="0"/>
                <a:ea typeface="Calibri" pitchFamily="34" charset="-122"/>
                <a:cs typeface="Calibri" pitchFamily="34" charset="-120"/>
              </a:rPr>
              <a:t>SERVICES % OF REVENUE</a:t>
            </a:r>
            <a:endParaRPr lang="en-US" sz="900" dirty="0"/>
          </a:p>
        </p:txBody>
      </p:sp>
      <p:sp>
        <p:nvSpPr>
          <p:cNvPr id="42" name="Text 40"/>
          <p:cNvSpPr/>
          <p:nvPr/>
        </p:nvSpPr>
        <p:spPr>
          <a:xfrm>
            <a:off x="4937760" y="4315968"/>
            <a:ext cx="1280160" cy="457200"/>
          </a:xfrm>
          <a:prstGeom prst="rect">
            <a:avLst/>
          </a:prstGeom>
          <a:noFill/>
          <a:ln/>
        </p:spPr>
        <p:txBody>
          <a:bodyPr wrap="square" lIns="0" tIns="0" rIns="0" bIns="0" rtlCol="0" anchor="ctr"/>
          <a:lstStyle/>
          <a:p>
            <a:pPr indent="0" marL="0">
              <a:buNone/>
            </a:pPr>
            <a:r>
              <a:rPr lang="en-US" sz="1800" dirty="0">
                <a:solidFill>
                  <a:srgbClr val="AEAEB2"/>
                </a:solidFill>
                <a:latin typeface="Georgia" pitchFamily="34" charset="0"/>
                <a:ea typeface="Georgia" pitchFamily="34" charset="-122"/>
                <a:cs typeface="Georgia" pitchFamily="34" charset="-120"/>
              </a:rPr>
              <a:t>26.2%</a:t>
            </a:r>
            <a:endParaRPr lang="en-US" sz="1800" dirty="0"/>
          </a:p>
        </p:txBody>
      </p:sp>
      <p:sp>
        <p:nvSpPr>
          <p:cNvPr id="43" name="Text 41"/>
          <p:cNvSpPr/>
          <p:nvPr/>
        </p:nvSpPr>
        <p:spPr>
          <a:xfrm>
            <a:off x="6263640" y="4370832"/>
            <a:ext cx="365760" cy="347472"/>
          </a:xfrm>
          <a:prstGeom prst="rect">
            <a:avLst/>
          </a:prstGeom>
          <a:noFill/>
          <a:ln/>
        </p:spPr>
        <p:txBody>
          <a:bodyPr wrap="square" lIns="0" tIns="0" rIns="0" bIns="0" rtlCol="0" anchor="ctr"/>
          <a:lstStyle/>
          <a:p>
            <a:pPr algn="ctr" indent="0" marL="0">
              <a:buNone/>
            </a:pPr>
            <a:r>
              <a:rPr lang="en-US" sz="1400" dirty="0">
                <a:solidFill>
                  <a:srgbClr val="6E6E73"/>
                </a:solidFill>
                <a:latin typeface="Calibri" pitchFamily="34" charset="0"/>
                <a:ea typeface="Calibri" pitchFamily="34" charset="-122"/>
                <a:cs typeface="Calibri" pitchFamily="34" charset="-120"/>
              </a:rPr>
              <a:t>→</a:t>
            </a:r>
            <a:endParaRPr lang="en-US" sz="1400" dirty="0"/>
          </a:p>
        </p:txBody>
      </p:sp>
      <p:sp>
        <p:nvSpPr>
          <p:cNvPr id="44" name="Text 42"/>
          <p:cNvSpPr/>
          <p:nvPr/>
        </p:nvSpPr>
        <p:spPr>
          <a:xfrm>
            <a:off x="6675120" y="4315968"/>
            <a:ext cx="1280160" cy="457200"/>
          </a:xfrm>
          <a:prstGeom prst="rect">
            <a:avLst/>
          </a:prstGeom>
          <a:noFill/>
          <a:ln/>
        </p:spPr>
        <p:txBody>
          <a:bodyPr wrap="square" lIns="0" tIns="0" rIns="0" bIns="0" rtlCol="0" anchor="ctr"/>
          <a:lstStyle/>
          <a:p>
            <a:pPr indent="0" marL="0">
              <a:buNone/>
            </a:pPr>
            <a:r>
              <a:rPr lang="en-US" sz="1800" b="1" dirty="0">
                <a:solidFill>
                  <a:srgbClr val="1D1D1F"/>
                </a:solidFill>
                <a:latin typeface="Georgia" pitchFamily="34" charset="0"/>
                <a:ea typeface="Georgia" pitchFamily="34" charset="-122"/>
                <a:cs typeface="Georgia" pitchFamily="34" charset="-120"/>
              </a:rPr>
              <a:t>27.8%</a:t>
            </a:r>
            <a:endParaRPr lang="en-US" sz="1800" dirty="0"/>
          </a:p>
        </p:txBody>
      </p:sp>
      <p:sp>
        <p:nvSpPr>
          <p:cNvPr id="45" name="Text 43"/>
          <p:cNvSpPr/>
          <p:nvPr/>
        </p:nvSpPr>
        <p:spPr>
          <a:xfrm>
            <a:off x="7955280" y="4389120"/>
            <a:ext cx="530352" cy="347472"/>
          </a:xfrm>
          <a:prstGeom prst="rect">
            <a:avLst/>
          </a:prstGeom>
          <a:noFill/>
          <a:ln/>
        </p:spPr>
        <p:txBody>
          <a:bodyPr wrap="square" lIns="0" tIns="0" rIns="0" bIns="0" rtlCol="0" anchor="ctr"/>
          <a:lstStyle/>
          <a:p>
            <a:pPr algn="r" indent="0" marL="0">
              <a:buNone/>
            </a:pPr>
            <a:r>
              <a:rPr lang="en-US" sz="1100" b="1" dirty="0">
                <a:solidFill>
                  <a:srgbClr val="1D1D1F"/>
                </a:solidFill>
                <a:latin typeface="Calibri" pitchFamily="34" charset="0"/>
                <a:ea typeface="Calibri" pitchFamily="34" charset="-122"/>
                <a:cs typeface="Calibri" pitchFamily="34" charset="-120"/>
              </a:rPr>
              <a:t>+1.6 pp</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07 — Evaluacion</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Balanced Scorecard — perspectivas estrategicas y KPIs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Balanced Scorecard — 1/2</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Text 2"/>
          <p:cNvSpPr/>
          <p:nvPr/>
        </p:nvSpPr>
        <p:spPr>
          <a:xfrm>
            <a:off x="640080" y="1207008"/>
            <a:ext cx="178308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Objetivo</a:t>
            </a:r>
            <a:endParaRPr lang="en-US" sz="1000" dirty="0"/>
          </a:p>
        </p:txBody>
      </p:sp>
      <p:sp>
        <p:nvSpPr>
          <p:cNvPr id="5" name="Text 3"/>
          <p:cNvSpPr/>
          <p:nvPr/>
        </p:nvSpPr>
        <p:spPr>
          <a:xfrm>
            <a:off x="2514600" y="1207008"/>
            <a:ext cx="214884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Indicador (KPI)</a:t>
            </a:r>
            <a:endParaRPr lang="en-US" sz="1000" dirty="0"/>
          </a:p>
        </p:txBody>
      </p:sp>
      <p:sp>
        <p:nvSpPr>
          <p:cNvPr id="6" name="Text 4"/>
          <p:cNvSpPr/>
          <p:nvPr/>
        </p:nvSpPr>
        <p:spPr>
          <a:xfrm>
            <a:off x="4754880" y="1207008"/>
            <a:ext cx="205740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Meta FY2026</a:t>
            </a:r>
            <a:endParaRPr lang="en-US" sz="1000" dirty="0"/>
          </a:p>
        </p:txBody>
      </p:sp>
      <p:sp>
        <p:nvSpPr>
          <p:cNvPr id="7" name="Text 5"/>
          <p:cNvSpPr/>
          <p:nvPr/>
        </p:nvSpPr>
        <p:spPr>
          <a:xfrm>
            <a:off x="6903720" y="1207008"/>
            <a:ext cx="178308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Responsable</a:t>
            </a:r>
            <a:endParaRPr lang="en-US" sz="1000" dirty="0"/>
          </a:p>
        </p:txBody>
      </p:sp>
      <p:sp>
        <p:nvSpPr>
          <p:cNvPr id="8" name="Shape 6"/>
          <p:cNvSpPr/>
          <p:nvPr/>
        </p:nvSpPr>
        <p:spPr>
          <a:xfrm>
            <a:off x="640080" y="1572768"/>
            <a:ext cx="7863840" cy="0"/>
          </a:xfrm>
          <a:prstGeom prst="line">
            <a:avLst/>
          </a:prstGeom>
          <a:noFill/>
          <a:ln w="9525">
            <a:solidFill>
              <a:srgbClr val="1D1D1F"/>
            </a:solidFill>
            <a:prstDash val="solid"/>
          </a:ln>
        </p:spPr>
      </p:sp>
      <p:sp>
        <p:nvSpPr>
          <p:cNvPr id="9" name="Shape 7"/>
          <p:cNvSpPr/>
          <p:nvPr/>
        </p:nvSpPr>
        <p:spPr>
          <a:xfrm>
            <a:off x="640080" y="1645920"/>
            <a:ext cx="54864" cy="1810512"/>
          </a:xfrm>
          <a:prstGeom prst="rect">
            <a:avLst/>
          </a:prstGeom>
          <a:solidFill>
            <a:srgbClr val="1D1D1F"/>
          </a:solidFill>
          <a:ln w="12700">
            <a:solidFill>
              <a:srgbClr val="1D1D1F"/>
            </a:solidFill>
            <a:prstDash val="solid"/>
          </a:ln>
        </p:spPr>
      </p:sp>
      <p:sp>
        <p:nvSpPr>
          <p:cNvPr id="10" name="Text 8"/>
          <p:cNvSpPr/>
          <p:nvPr/>
        </p:nvSpPr>
        <p:spPr>
          <a:xfrm>
            <a:off x="804672" y="1664208"/>
            <a:ext cx="1600200" cy="347472"/>
          </a:xfrm>
          <a:prstGeom prst="rect">
            <a:avLst/>
          </a:prstGeom>
          <a:noFill/>
          <a:ln/>
        </p:spPr>
        <p:txBody>
          <a:bodyPr wrap="square" lIns="0" tIns="0" rIns="0" bIns="0" rtlCol="0" anchor="ctr"/>
          <a:lstStyle/>
          <a:p>
            <a:pPr indent="0" marL="0">
              <a:buNone/>
            </a:pPr>
            <a:r>
              <a:rPr lang="en-US" sz="950" b="1" spc="100" kern="0" dirty="0">
                <a:solidFill>
                  <a:srgbClr val="1D1D1F"/>
                </a:solidFill>
                <a:latin typeface="Calibri" pitchFamily="34" charset="0"/>
                <a:ea typeface="Calibri" pitchFamily="34" charset="-122"/>
                <a:cs typeface="Calibri" pitchFamily="34" charset="-120"/>
              </a:rPr>
              <a:t>FINANCIERA</a:t>
            </a:r>
            <a:endParaRPr lang="en-US" sz="950" dirty="0"/>
          </a:p>
        </p:txBody>
      </p:sp>
      <p:sp>
        <p:nvSpPr>
          <p:cNvPr id="11" name="Text 9"/>
          <p:cNvSpPr/>
          <p:nvPr/>
        </p:nvSpPr>
        <p:spPr>
          <a:xfrm>
            <a:off x="804672" y="2011680"/>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Elevar peso de Services</a:t>
            </a:r>
            <a:endParaRPr lang="en-US" sz="950" dirty="0"/>
          </a:p>
        </p:txBody>
      </p:sp>
      <p:sp>
        <p:nvSpPr>
          <p:cNvPr id="12" name="Text 10"/>
          <p:cNvSpPr/>
          <p:nvPr/>
        </p:nvSpPr>
        <p:spPr>
          <a:xfrm>
            <a:off x="2514600" y="2011680"/>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Ingresos de Services</a:t>
            </a:r>
            <a:endParaRPr lang="en-US" sz="950" dirty="0"/>
          </a:p>
        </p:txBody>
      </p:sp>
      <p:sp>
        <p:nvSpPr>
          <p:cNvPr id="13" name="Text 11"/>
          <p:cNvSpPr/>
          <p:nvPr/>
        </p:nvSpPr>
        <p:spPr>
          <a:xfrm>
            <a:off x="4754880" y="2011680"/>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&gt;28% del total</a:t>
            </a:r>
            <a:endParaRPr lang="en-US" sz="950" dirty="0"/>
          </a:p>
        </p:txBody>
      </p:sp>
      <p:sp>
        <p:nvSpPr>
          <p:cNvPr id="14" name="Text 12"/>
          <p:cNvSpPr/>
          <p:nvPr/>
        </p:nvSpPr>
        <p:spPr>
          <a:xfrm>
            <a:off x="6903720" y="2011680"/>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CFO / SVP Services</a:t>
            </a:r>
            <a:endParaRPr lang="en-US" sz="950" dirty="0"/>
          </a:p>
        </p:txBody>
      </p:sp>
      <p:sp>
        <p:nvSpPr>
          <p:cNvPr id="15" name="Shape 13"/>
          <p:cNvSpPr/>
          <p:nvPr/>
        </p:nvSpPr>
        <p:spPr>
          <a:xfrm>
            <a:off x="640080" y="2542032"/>
            <a:ext cx="7863840" cy="0"/>
          </a:xfrm>
          <a:prstGeom prst="line">
            <a:avLst/>
          </a:prstGeom>
          <a:noFill/>
          <a:ln w="9525">
            <a:solidFill>
              <a:srgbClr val="D1D1D6"/>
            </a:solidFill>
            <a:prstDash val="solid"/>
          </a:ln>
        </p:spPr>
      </p:sp>
      <p:sp>
        <p:nvSpPr>
          <p:cNvPr id="16" name="Text 14"/>
          <p:cNvSpPr/>
          <p:nvPr/>
        </p:nvSpPr>
        <p:spPr>
          <a:xfrm>
            <a:off x="804672" y="2340864"/>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Aumentar margen operativo</a:t>
            </a:r>
            <a:endParaRPr lang="en-US" sz="950" dirty="0"/>
          </a:p>
        </p:txBody>
      </p:sp>
      <p:sp>
        <p:nvSpPr>
          <p:cNvPr id="17" name="Text 15"/>
          <p:cNvSpPr/>
          <p:nvPr/>
        </p:nvSpPr>
        <p:spPr>
          <a:xfrm>
            <a:off x="2514600" y="2340864"/>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Operating Income Margin</a:t>
            </a:r>
            <a:endParaRPr lang="en-US" sz="950" dirty="0"/>
          </a:p>
        </p:txBody>
      </p:sp>
      <p:sp>
        <p:nvSpPr>
          <p:cNvPr id="18" name="Text 16"/>
          <p:cNvSpPr/>
          <p:nvPr/>
        </p:nvSpPr>
        <p:spPr>
          <a:xfrm>
            <a:off x="4754880" y="2340864"/>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&gt;32.4%</a:t>
            </a:r>
            <a:endParaRPr lang="en-US" sz="950" dirty="0"/>
          </a:p>
        </p:txBody>
      </p:sp>
      <p:sp>
        <p:nvSpPr>
          <p:cNvPr id="19" name="Text 17"/>
          <p:cNvSpPr/>
          <p:nvPr/>
        </p:nvSpPr>
        <p:spPr>
          <a:xfrm>
            <a:off x="6903720" y="2340864"/>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CFO</a:t>
            </a:r>
            <a:endParaRPr lang="en-US" sz="950" dirty="0"/>
          </a:p>
        </p:txBody>
      </p:sp>
      <p:sp>
        <p:nvSpPr>
          <p:cNvPr id="20" name="Shape 18"/>
          <p:cNvSpPr/>
          <p:nvPr/>
        </p:nvSpPr>
        <p:spPr>
          <a:xfrm>
            <a:off x="640080" y="2871216"/>
            <a:ext cx="7863840" cy="0"/>
          </a:xfrm>
          <a:prstGeom prst="line">
            <a:avLst/>
          </a:prstGeom>
          <a:noFill/>
          <a:ln w="9525">
            <a:solidFill>
              <a:srgbClr val="D1D1D6"/>
            </a:solidFill>
            <a:prstDash val="solid"/>
          </a:ln>
        </p:spPr>
      </p:sp>
      <p:sp>
        <p:nvSpPr>
          <p:cNvPr id="21" name="Text 19"/>
          <p:cNvSpPr/>
          <p:nvPr/>
        </p:nvSpPr>
        <p:spPr>
          <a:xfrm>
            <a:off x="804672" y="2944368"/>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Maximizar retorno al accionista</a:t>
            </a:r>
            <a:endParaRPr lang="en-US" sz="950" dirty="0"/>
          </a:p>
        </p:txBody>
      </p:sp>
      <p:sp>
        <p:nvSpPr>
          <p:cNvPr id="22" name="Text 20"/>
          <p:cNvSpPr/>
          <p:nvPr/>
        </p:nvSpPr>
        <p:spPr>
          <a:xfrm>
            <a:off x="2514600" y="2944368"/>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EPS diluido / buyback anual</a:t>
            </a:r>
            <a:endParaRPr lang="en-US" sz="950" dirty="0"/>
          </a:p>
        </p:txBody>
      </p:sp>
      <p:sp>
        <p:nvSpPr>
          <p:cNvPr id="23" name="Text 21"/>
          <p:cNvSpPr/>
          <p:nvPr/>
        </p:nvSpPr>
        <p:spPr>
          <a:xfrm>
            <a:off x="4754880" y="2944368"/>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$8.18+ / $90B</a:t>
            </a:r>
            <a:endParaRPr lang="en-US" sz="950" dirty="0"/>
          </a:p>
        </p:txBody>
      </p:sp>
      <p:sp>
        <p:nvSpPr>
          <p:cNvPr id="24" name="Text 22"/>
          <p:cNvSpPr/>
          <p:nvPr/>
        </p:nvSpPr>
        <p:spPr>
          <a:xfrm>
            <a:off x="6903720" y="2944368"/>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CFO / Board</a:t>
            </a:r>
            <a:endParaRPr lang="en-US" sz="950" dirty="0"/>
          </a:p>
        </p:txBody>
      </p:sp>
      <p:sp>
        <p:nvSpPr>
          <p:cNvPr id="25" name="Shape 23"/>
          <p:cNvSpPr/>
          <p:nvPr/>
        </p:nvSpPr>
        <p:spPr>
          <a:xfrm>
            <a:off x="640080" y="3547872"/>
            <a:ext cx="7863840" cy="0"/>
          </a:xfrm>
          <a:prstGeom prst="line">
            <a:avLst/>
          </a:prstGeom>
          <a:noFill/>
          <a:ln w="9525">
            <a:solidFill>
              <a:srgbClr val="1D1D1F"/>
            </a:solidFill>
            <a:prstDash val="solid"/>
          </a:ln>
        </p:spPr>
      </p:sp>
      <p:sp>
        <p:nvSpPr>
          <p:cNvPr id="26" name="Shape 24"/>
          <p:cNvSpPr/>
          <p:nvPr/>
        </p:nvSpPr>
        <p:spPr>
          <a:xfrm>
            <a:off x="640080" y="3593592"/>
            <a:ext cx="54864" cy="1207008"/>
          </a:xfrm>
          <a:prstGeom prst="rect">
            <a:avLst/>
          </a:prstGeom>
          <a:solidFill>
            <a:srgbClr val="6E6E73"/>
          </a:solidFill>
          <a:ln w="12700">
            <a:solidFill>
              <a:srgbClr val="6E6E73"/>
            </a:solidFill>
            <a:prstDash val="solid"/>
          </a:ln>
        </p:spPr>
      </p:sp>
      <p:sp>
        <p:nvSpPr>
          <p:cNvPr id="27" name="Text 25"/>
          <p:cNvSpPr/>
          <p:nvPr/>
        </p:nvSpPr>
        <p:spPr>
          <a:xfrm>
            <a:off x="804672" y="3611880"/>
            <a:ext cx="1600200" cy="347472"/>
          </a:xfrm>
          <a:prstGeom prst="rect">
            <a:avLst/>
          </a:prstGeom>
          <a:noFill/>
          <a:ln/>
        </p:spPr>
        <p:txBody>
          <a:bodyPr wrap="square" lIns="0" tIns="0" rIns="0" bIns="0" rtlCol="0" anchor="ctr"/>
          <a:lstStyle/>
          <a:p>
            <a:pPr indent="0" marL="0">
              <a:buNone/>
            </a:pPr>
            <a:r>
              <a:rPr lang="en-US" sz="950" b="1" spc="100" kern="0" dirty="0">
                <a:solidFill>
                  <a:srgbClr val="6E6E73"/>
                </a:solidFill>
                <a:latin typeface="Calibri" pitchFamily="34" charset="0"/>
                <a:ea typeface="Calibri" pitchFamily="34" charset="-122"/>
                <a:cs typeface="Calibri" pitchFamily="34" charset="-120"/>
              </a:rPr>
              <a:t>CLIENTES</a:t>
            </a:r>
            <a:endParaRPr lang="en-US" sz="950" dirty="0"/>
          </a:p>
        </p:txBody>
      </p:sp>
      <p:sp>
        <p:nvSpPr>
          <p:cNvPr id="28" name="Text 26"/>
          <p:cNvSpPr/>
          <p:nvPr/>
        </p:nvSpPr>
        <p:spPr>
          <a:xfrm>
            <a:off x="804672" y="3959352"/>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Elevar percepcion de liderazgo en IA</a:t>
            </a:r>
            <a:endParaRPr lang="en-US" sz="950" dirty="0"/>
          </a:p>
        </p:txBody>
      </p:sp>
      <p:sp>
        <p:nvSpPr>
          <p:cNvPr id="29" name="Text 27"/>
          <p:cNvSpPr/>
          <p:nvPr/>
        </p:nvSpPr>
        <p:spPr>
          <a:xfrm>
            <a:off x="2514600" y="3959352"/>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Indice de percepcion de innovacion</a:t>
            </a:r>
            <a:endParaRPr lang="en-US" sz="950" dirty="0"/>
          </a:p>
        </p:txBody>
      </p:sp>
      <p:sp>
        <p:nvSpPr>
          <p:cNvPr id="30" name="Text 28"/>
          <p:cNvSpPr/>
          <p:nvPr/>
        </p:nvSpPr>
        <p:spPr>
          <a:xfrm>
            <a:off x="4754880" y="3959352"/>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+15% vs 2025</a:t>
            </a:r>
            <a:endParaRPr lang="en-US" sz="950" dirty="0"/>
          </a:p>
        </p:txBody>
      </p:sp>
      <p:sp>
        <p:nvSpPr>
          <p:cNvPr id="31" name="Text 29"/>
          <p:cNvSpPr/>
          <p:nvPr/>
        </p:nvSpPr>
        <p:spPr>
          <a:xfrm>
            <a:off x="6903720" y="3959352"/>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CMO / SVP Software</a:t>
            </a:r>
            <a:endParaRPr lang="en-US" sz="950" dirty="0"/>
          </a:p>
        </p:txBody>
      </p:sp>
      <p:sp>
        <p:nvSpPr>
          <p:cNvPr id="32" name="Shape 30"/>
          <p:cNvSpPr/>
          <p:nvPr/>
        </p:nvSpPr>
        <p:spPr>
          <a:xfrm>
            <a:off x="640080" y="4489704"/>
            <a:ext cx="7863840" cy="0"/>
          </a:xfrm>
          <a:prstGeom prst="line">
            <a:avLst/>
          </a:prstGeom>
          <a:noFill/>
          <a:ln w="9525">
            <a:solidFill>
              <a:srgbClr val="D1D1D6"/>
            </a:solidFill>
            <a:prstDash val="solid"/>
          </a:ln>
        </p:spPr>
      </p:sp>
      <p:sp>
        <p:nvSpPr>
          <p:cNvPr id="33" name="Text 31"/>
          <p:cNvSpPr/>
          <p:nvPr/>
        </p:nvSpPr>
        <p:spPr>
          <a:xfrm>
            <a:off x="804672" y="4288536"/>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Incrementar retencion del ecosistema</a:t>
            </a:r>
            <a:endParaRPr lang="en-US" sz="950" dirty="0"/>
          </a:p>
        </p:txBody>
      </p:sp>
      <p:sp>
        <p:nvSpPr>
          <p:cNvPr id="34" name="Text 32"/>
          <p:cNvSpPr/>
          <p:nvPr/>
        </p:nvSpPr>
        <p:spPr>
          <a:xfrm>
            <a:off x="2514600" y="4288536"/>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Tasa de retencion multi-dispositivo</a:t>
            </a:r>
            <a:endParaRPr lang="en-US" sz="950" dirty="0"/>
          </a:p>
        </p:txBody>
      </p:sp>
      <p:sp>
        <p:nvSpPr>
          <p:cNvPr id="35" name="Text 33"/>
          <p:cNvSpPr/>
          <p:nvPr/>
        </p:nvSpPr>
        <p:spPr>
          <a:xfrm>
            <a:off x="4754880" y="4288536"/>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&gt;91%</a:t>
            </a:r>
            <a:endParaRPr lang="en-US" sz="950" dirty="0"/>
          </a:p>
        </p:txBody>
      </p:sp>
      <p:sp>
        <p:nvSpPr>
          <p:cNvPr id="36" name="Text 34"/>
          <p:cNvSpPr/>
          <p:nvPr/>
        </p:nvSpPr>
        <p:spPr>
          <a:xfrm>
            <a:off x="6903720" y="4288536"/>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SVP Services</a:t>
            </a:r>
            <a:endParaRPr lang="en-US" sz="950" dirty="0"/>
          </a:p>
        </p:txBody>
      </p:sp>
      <p:sp>
        <p:nvSpPr>
          <p:cNvPr id="37" name="Shape 35"/>
          <p:cNvSpPr/>
          <p:nvPr/>
        </p:nvSpPr>
        <p:spPr>
          <a:xfrm>
            <a:off x="640080" y="4892040"/>
            <a:ext cx="7863840" cy="0"/>
          </a:xfrm>
          <a:prstGeom prst="line">
            <a:avLst/>
          </a:prstGeom>
          <a:noFill/>
          <a:ln w="9525">
            <a:solidFill>
              <a:srgbClr val="1D1D1F"/>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Balanced Scorecard — 2/2</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Text 2"/>
          <p:cNvSpPr/>
          <p:nvPr/>
        </p:nvSpPr>
        <p:spPr>
          <a:xfrm>
            <a:off x="640080" y="1207008"/>
            <a:ext cx="178308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Objetivo</a:t>
            </a:r>
            <a:endParaRPr lang="en-US" sz="1000" dirty="0"/>
          </a:p>
        </p:txBody>
      </p:sp>
      <p:sp>
        <p:nvSpPr>
          <p:cNvPr id="5" name="Text 3"/>
          <p:cNvSpPr/>
          <p:nvPr/>
        </p:nvSpPr>
        <p:spPr>
          <a:xfrm>
            <a:off x="2514600" y="1207008"/>
            <a:ext cx="214884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Indicador (KPI)</a:t>
            </a:r>
            <a:endParaRPr lang="en-US" sz="1000" dirty="0"/>
          </a:p>
        </p:txBody>
      </p:sp>
      <p:sp>
        <p:nvSpPr>
          <p:cNvPr id="6" name="Text 4"/>
          <p:cNvSpPr/>
          <p:nvPr/>
        </p:nvSpPr>
        <p:spPr>
          <a:xfrm>
            <a:off x="4754880" y="1207008"/>
            <a:ext cx="205740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Meta FY2026</a:t>
            </a:r>
            <a:endParaRPr lang="en-US" sz="1000" dirty="0"/>
          </a:p>
        </p:txBody>
      </p:sp>
      <p:sp>
        <p:nvSpPr>
          <p:cNvPr id="7" name="Text 5"/>
          <p:cNvSpPr/>
          <p:nvPr/>
        </p:nvSpPr>
        <p:spPr>
          <a:xfrm>
            <a:off x="6903720" y="1207008"/>
            <a:ext cx="1783080" cy="365760"/>
          </a:xfrm>
          <a:prstGeom prst="rect">
            <a:avLst/>
          </a:prstGeom>
          <a:noFill/>
          <a:ln/>
        </p:spPr>
        <p:txBody>
          <a:bodyPr wrap="square" lIns="0" tIns="0" rIns="0" bIns="0" rtlCol="0" anchor="ctr"/>
          <a:lstStyle/>
          <a:p>
            <a:pPr indent="0" marL="0">
              <a:buNone/>
            </a:pPr>
            <a:r>
              <a:rPr lang="en-US" sz="1000" b="1" spc="100" kern="0" dirty="0">
                <a:solidFill>
                  <a:srgbClr val="6E6E73"/>
                </a:solidFill>
                <a:latin typeface="Calibri" pitchFamily="34" charset="0"/>
                <a:ea typeface="Calibri" pitchFamily="34" charset="-122"/>
                <a:cs typeface="Calibri" pitchFamily="34" charset="-120"/>
              </a:rPr>
              <a:t>Responsable</a:t>
            </a:r>
            <a:endParaRPr lang="en-US" sz="1000" dirty="0"/>
          </a:p>
        </p:txBody>
      </p:sp>
      <p:sp>
        <p:nvSpPr>
          <p:cNvPr id="8" name="Shape 6"/>
          <p:cNvSpPr/>
          <p:nvPr/>
        </p:nvSpPr>
        <p:spPr>
          <a:xfrm>
            <a:off x="640080" y="1572768"/>
            <a:ext cx="7863840" cy="0"/>
          </a:xfrm>
          <a:prstGeom prst="line">
            <a:avLst/>
          </a:prstGeom>
          <a:noFill/>
          <a:ln w="9525">
            <a:solidFill>
              <a:srgbClr val="1D1D1F"/>
            </a:solidFill>
            <a:prstDash val="solid"/>
          </a:ln>
        </p:spPr>
      </p:sp>
      <p:sp>
        <p:nvSpPr>
          <p:cNvPr id="9" name="Shape 7"/>
          <p:cNvSpPr/>
          <p:nvPr/>
        </p:nvSpPr>
        <p:spPr>
          <a:xfrm>
            <a:off x="640080" y="1645920"/>
            <a:ext cx="54864" cy="1207008"/>
          </a:xfrm>
          <a:prstGeom prst="rect">
            <a:avLst/>
          </a:prstGeom>
          <a:solidFill>
            <a:srgbClr val="1D1D1F"/>
          </a:solidFill>
          <a:ln w="12700">
            <a:solidFill>
              <a:srgbClr val="1D1D1F"/>
            </a:solidFill>
            <a:prstDash val="solid"/>
          </a:ln>
        </p:spPr>
      </p:sp>
      <p:sp>
        <p:nvSpPr>
          <p:cNvPr id="10" name="Text 8"/>
          <p:cNvSpPr/>
          <p:nvPr/>
        </p:nvSpPr>
        <p:spPr>
          <a:xfrm>
            <a:off x="804672" y="1664208"/>
            <a:ext cx="1600200" cy="502920"/>
          </a:xfrm>
          <a:prstGeom prst="rect">
            <a:avLst/>
          </a:prstGeom>
          <a:noFill/>
          <a:ln/>
        </p:spPr>
        <p:txBody>
          <a:bodyPr wrap="square" lIns="0" tIns="0" rIns="0" bIns="0" rtlCol="0" anchor="ctr"/>
          <a:lstStyle/>
          <a:p>
            <a:pPr indent="0" marL="0">
              <a:buNone/>
            </a:pPr>
            <a:r>
              <a:rPr lang="en-US" sz="950" b="1" spc="100" kern="0" dirty="0">
                <a:solidFill>
                  <a:srgbClr val="1D1D1F"/>
                </a:solidFill>
                <a:latin typeface="Calibri" pitchFamily="34" charset="0"/>
                <a:ea typeface="Calibri" pitchFamily="34" charset="-122"/>
                <a:cs typeface="Calibri" pitchFamily="34" charset="-120"/>
              </a:rPr>
              <a:t>PROCESOS</a:t>
            </a:r>
            <a:endParaRPr lang="en-US" sz="950" dirty="0"/>
          </a:p>
          <a:p>
            <a:pPr indent="0" marL="0">
              <a:buNone/>
            </a:pPr>
            <a:r>
              <a:rPr lang="en-US" sz="950" b="1" spc="100" kern="0" dirty="0">
                <a:solidFill>
                  <a:srgbClr val="1D1D1F"/>
                </a:solidFill>
                <a:latin typeface="Calibri" pitchFamily="34" charset="0"/>
                <a:ea typeface="Calibri" pitchFamily="34" charset="-122"/>
                <a:cs typeface="Calibri" pitchFamily="34" charset="-120"/>
              </a:rPr>
              <a:t>INTERNOS</a:t>
            </a:r>
            <a:endParaRPr lang="en-US" sz="950" dirty="0"/>
          </a:p>
        </p:txBody>
      </p:sp>
      <p:sp>
        <p:nvSpPr>
          <p:cNvPr id="11" name="Text 9"/>
          <p:cNvSpPr/>
          <p:nvPr/>
        </p:nvSpPr>
        <p:spPr>
          <a:xfrm>
            <a:off x="804672" y="2011680"/>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Diversificar supply chain</a:t>
            </a:r>
            <a:endParaRPr lang="en-US" sz="950" dirty="0"/>
          </a:p>
        </p:txBody>
      </p:sp>
      <p:sp>
        <p:nvSpPr>
          <p:cNvPr id="12" name="Text 10"/>
          <p:cNvSpPr/>
          <p:nvPr/>
        </p:nvSpPr>
        <p:spPr>
          <a:xfrm>
            <a:off x="2514600" y="2011680"/>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 ensamblaje fuera de China</a:t>
            </a:r>
            <a:endParaRPr lang="en-US" sz="950" dirty="0"/>
          </a:p>
        </p:txBody>
      </p:sp>
      <p:sp>
        <p:nvSpPr>
          <p:cNvPr id="13" name="Text 11"/>
          <p:cNvSpPr/>
          <p:nvPr/>
        </p:nvSpPr>
        <p:spPr>
          <a:xfrm>
            <a:off x="4754880" y="2011680"/>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&lt;70% en China</a:t>
            </a:r>
            <a:endParaRPr lang="en-US" sz="950" dirty="0"/>
          </a:p>
        </p:txBody>
      </p:sp>
      <p:sp>
        <p:nvSpPr>
          <p:cNvPr id="14" name="Text 12"/>
          <p:cNvSpPr/>
          <p:nvPr/>
        </p:nvSpPr>
        <p:spPr>
          <a:xfrm>
            <a:off x="6903720" y="2011680"/>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COO / SVP Hardware</a:t>
            </a:r>
            <a:endParaRPr lang="en-US" sz="950" dirty="0"/>
          </a:p>
        </p:txBody>
      </p:sp>
      <p:sp>
        <p:nvSpPr>
          <p:cNvPr id="15" name="Shape 13"/>
          <p:cNvSpPr/>
          <p:nvPr/>
        </p:nvSpPr>
        <p:spPr>
          <a:xfrm>
            <a:off x="640080" y="2542032"/>
            <a:ext cx="7863840" cy="0"/>
          </a:xfrm>
          <a:prstGeom prst="line">
            <a:avLst/>
          </a:prstGeom>
          <a:noFill/>
          <a:ln w="9525">
            <a:solidFill>
              <a:srgbClr val="D1D1D6"/>
            </a:solidFill>
            <a:prstDash val="solid"/>
          </a:ln>
        </p:spPr>
      </p:sp>
      <p:sp>
        <p:nvSpPr>
          <p:cNvPr id="16" name="Text 14"/>
          <p:cNvSpPr/>
          <p:nvPr/>
        </p:nvSpPr>
        <p:spPr>
          <a:xfrm>
            <a:off x="804672" y="2340864"/>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Acelerar despliegue de IA</a:t>
            </a:r>
            <a:endParaRPr lang="en-US" sz="950" dirty="0"/>
          </a:p>
        </p:txBody>
      </p:sp>
      <p:sp>
        <p:nvSpPr>
          <p:cNvPr id="17" name="Text 15"/>
          <p:cNvSpPr/>
          <p:nvPr/>
        </p:nvSpPr>
        <p:spPr>
          <a:xfrm>
            <a:off x="2514600" y="2340864"/>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Features IA lanzadas por ciclo</a:t>
            </a:r>
            <a:endParaRPr lang="en-US" sz="950" dirty="0"/>
          </a:p>
        </p:txBody>
      </p:sp>
      <p:sp>
        <p:nvSpPr>
          <p:cNvPr id="18" name="Text 16"/>
          <p:cNvSpPr/>
          <p:nvPr/>
        </p:nvSpPr>
        <p:spPr>
          <a:xfrm>
            <a:off x="4754880" y="2340864"/>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+30% vs 2025</a:t>
            </a:r>
            <a:endParaRPr lang="en-US" sz="950" dirty="0"/>
          </a:p>
        </p:txBody>
      </p:sp>
      <p:sp>
        <p:nvSpPr>
          <p:cNvPr id="19" name="Text 17"/>
          <p:cNvSpPr/>
          <p:nvPr/>
        </p:nvSpPr>
        <p:spPr>
          <a:xfrm>
            <a:off x="6903720" y="2340864"/>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SVP Software</a:t>
            </a:r>
            <a:endParaRPr lang="en-US" sz="950" dirty="0"/>
          </a:p>
        </p:txBody>
      </p:sp>
      <p:sp>
        <p:nvSpPr>
          <p:cNvPr id="20" name="Shape 18"/>
          <p:cNvSpPr/>
          <p:nvPr/>
        </p:nvSpPr>
        <p:spPr>
          <a:xfrm>
            <a:off x="640080" y="2944368"/>
            <a:ext cx="7863840" cy="0"/>
          </a:xfrm>
          <a:prstGeom prst="line">
            <a:avLst/>
          </a:prstGeom>
          <a:noFill/>
          <a:ln w="9525">
            <a:solidFill>
              <a:srgbClr val="1D1D1F"/>
            </a:solidFill>
            <a:prstDash val="solid"/>
          </a:ln>
        </p:spPr>
      </p:sp>
      <p:sp>
        <p:nvSpPr>
          <p:cNvPr id="21" name="Shape 19"/>
          <p:cNvSpPr/>
          <p:nvPr/>
        </p:nvSpPr>
        <p:spPr>
          <a:xfrm>
            <a:off x="640080" y="2990088"/>
            <a:ext cx="54864" cy="1810512"/>
          </a:xfrm>
          <a:prstGeom prst="rect">
            <a:avLst/>
          </a:prstGeom>
          <a:solidFill>
            <a:srgbClr val="6E6E73"/>
          </a:solidFill>
          <a:ln w="12700">
            <a:solidFill>
              <a:srgbClr val="6E6E73"/>
            </a:solidFill>
            <a:prstDash val="solid"/>
          </a:ln>
        </p:spPr>
      </p:sp>
      <p:sp>
        <p:nvSpPr>
          <p:cNvPr id="22" name="Text 20"/>
          <p:cNvSpPr/>
          <p:nvPr/>
        </p:nvSpPr>
        <p:spPr>
          <a:xfrm>
            <a:off x="804672" y="3008376"/>
            <a:ext cx="1600200" cy="502920"/>
          </a:xfrm>
          <a:prstGeom prst="rect">
            <a:avLst/>
          </a:prstGeom>
          <a:noFill/>
          <a:ln/>
        </p:spPr>
        <p:txBody>
          <a:bodyPr wrap="square" lIns="0" tIns="0" rIns="0" bIns="0" rtlCol="0" anchor="ctr"/>
          <a:lstStyle/>
          <a:p>
            <a:pPr indent="0" marL="0">
              <a:buNone/>
            </a:pPr>
            <a:r>
              <a:rPr lang="en-US" sz="950" b="1" spc="100" kern="0" dirty="0">
                <a:solidFill>
                  <a:srgbClr val="6E6E73"/>
                </a:solidFill>
                <a:latin typeface="Calibri" pitchFamily="34" charset="0"/>
                <a:ea typeface="Calibri" pitchFamily="34" charset="-122"/>
                <a:cs typeface="Calibri" pitchFamily="34" charset="-120"/>
              </a:rPr>
              <a:t>APRENDIZAJE</a:t>
            </a:r>
            <a:endParaRPr lang="en-US" sz="950" dirty="0"/>
          </a:p>
          <a:p>
            <a:pPr indent="0" marL="0">
              <a:buNone/>
            </a:pPr>
            <a:r>
              <a:rPr lang="en-US" sz="950" b="1" spc="100" kern="0" dirty="0">
                <a:solidFill>
                  <a:srgbClr val="6E6E73"/>
                </a:solidFill>
                <a:latin typeface="Calibri" pitchFamily="34" charset="0"/>
                <a:ea typeface="Calibri" pitchFamily="34" charset="-122"/>
                <a:cs typeface="Calibri" pitchFamily="34" charset="-120"/>
              </a:rPr>
              <a:t>Y CRECIMIENTO</a:t>
            </a:r>
            <a:endParaRPr lang="en-US" sz="950" dirty="0"/>
          </a:p>
        </p:txBody>
      </p:sp>
      <p:sp>
        <p:nvSpPr>
          <p:cNvPr id="23" name="Text 21"/>
          <p:cNvSpPr/>
          <p:nvPr/>
        </p:nvSpPr>
        <p:spPr>
          <a:xfrm>
            <a:off x="804672" y="3355848"/>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Desarrollar talento en IA y silicon</a:t>
            </a:r>
            <a:endParaRPr lang="en-US" sz="950" dirty="0"/>
          </a:p>
        </p:txBody>
      </p:sp>
      <p:sp>
        <p:nvSpPr>
          <p:cNvPr id="24" name="Text 22"/>
          <p:cNvSpPr/>
          <p:nvPr/>
        </p:nvSpPr>
        <p:spPr>
          <a:xfrm>
            <a:off x="2514600" y="3355848"/>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Horas de formacion tecnica por ingeniero</a:t>
            </a:r>
            <a:endParaRPr lang="en-US" sz="950" dirty="0"/>
          </a:p>
        </p:txBody>
      </p:sp>
      <p:sp>
        <p:nvSpPr>
          <p:cNvPr id="25" name="Text 23"/>
          <p:cNvSpPr/>
          <p:nvPr/>
        </p:nvSpPr>
        <p:spPr>
          <a:xfrm>
            <a:off x="4754880" y="3355848"/>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25 h / ano</a:t>
            </a:r>
            <a:endParaRPr lang="en-US" sz="950" dirty="0"/>
          </a:p>
        </p:txBody>
      </p:sp>
      <p:sp>
        <p:nvSpPr>
          <p:cNvPr id="26" name="Text 24"/>
          <p:cNvSpPr/>
          <p:nvPr/>
        </p:nvSpPr>
        <p:spPr>
          <a:xfrm>
            <a:off x="6903720" y="3355848"/>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CHRO</a:t>
            </a:r>
            <a:endParaRPr lang="en-US" sz="950" dirty="0"/>
          </a:p>
        </p:txBody>
      </p:sp>
      <p:sp>
        <p:nvSpPr>
          <p:cNvPr id="27" name="Shape 25"/>
          <p:cNvSpPr/>
          <p:nvPr/>
        </p:nvSpPr>
        <p:spPr>
          <a:xfrm>
            <a:off x="640080" y="3886200"/>
            <a:ext cx="7863840" cy="0"/>
          </a:xfrm>
          <a:prstGeom prst="line">
            <a:avLst/>
          </a:prstGeom>
          <a:noFill/>
          <a:ln w="9525">
            <a:solidFill>
              <a:srgbClr val="D1D1D6"/>
            </a:solidFill>
            <a:prstDash val="solid"/>
          </a:ln>
        </p:spPr>
      </p:sp>
      <p:sp>
        <p:nvSpPr>
          <p:cNvPr id="28" name="Text 26"/>
          <p:cNvSpPr/>
          <p:nvPr/>
        </p:nvSpPr>
        <p:spPr>
          <a:xfrm>
            <a:off x="804672" y="3685032"/>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Fomentar liderazgo transversal</a:t>
            </a:r>
            <a:endParaRPr lang="en-US" sz="950" dirty="0"/>
          </a:p>
        </p:txBody>
      </p:sp>
      <p:sp>
        <p:nvSpPr>
          <p:cNvPr id="29" name="Text 27"/>
          <p:cNvSpPr/>
          <p:nvPr/>
        </p:nvSpPr>
        <p:spPr>
          <a:xfrm>
            <a:off x="2514600" y="3685032"/>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Proyectos cross-funcionales por equipo</a:t>
            </a:r>
            <a:endParaRPr lang="en-US" sz="950" dirty="0"/>
          </a:p>
        </p:txBody>
      </p:sp>
      <p:sp>
        <p:nvSpPr>
          <p:cNvPr id="30" name="Text 28"/>
          <p:cNvSpPr/>
          <p:nvPr/>
        </p:nvSpPr>
        <p:spPr>
          <a:xfrm>
            <a:off x="4754880" y="3685032"/>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+30% vs 2025</a:t>
            </a:r>
            <a:endParaRPr lang="en-US" sz="950" dirty="0"/>
          </a:p>
        </p:txBody>
      </p:sp>
      <p:sp>
        <p:nvSpPr>
          <p:cNvPr id="31" name="Text 29"/>
          <p:cNvSpPr/>
          <p:nvPr/>
        </p:nvSpPr>
        <p:spPr>
          <a:xfrm>
            <a:off x="6903720" y="3685032"/>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CHRO / COO</a:t>
            </a:r>
            <a:endParaRPr lang="en-US" sz="950" dirty="0"/>
          </a:p>
        </p:txBody>
      </p:sp>
      <p:sp>
        <p:nvSpPr>
          <p:cNvPr id="32" name="Shape 30"/>
          <p:cNvSpPr/>
          <p:nvPr/>
        </p:nvSpPr>
        <p:spPr>
          <a:xfrm>
            <a:off x="640080" y="4215384"/>
            <a:ext cx="7863840" cy="0"/>
          </a:xfrm>
          <a:prstGeom prst="line">
            <a:avLst/>
          </a:prstGeom>
          <a:noFill/>
          <a:ln w="9525">
            <a:solidFill>
              <a:srgbClr val="D1D1D6"/>
            </a:solidFill>
            <a:prstDash val="solid"/>
          </a:ln>
        </p:spPr>
      </p:sp>
      <p:sp>
        <p:nvSpPr>
          <p:cNvPr id="33" name="Text 31"/>
          <p:cNvSpPr/>
          <p:nvPr/>
        </p:nvSpPr>
        <p:spPr>
          <a:xfrm>
            <a:off x="804672" y="4288536"/>
            <a:ext cx="1618488"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Reducir brecha de percepcion IA</a:t>
            </a:r>
            <a:endParaRPr lang="en-US" sz="950" dirty="0"/>
          </a:p>
        </p:txBody>
      </p:sp>
      <p:sp>
        <p:nvSpPr>
          <p:cNvPr id="34" name="Text 32"/>
          <p:cNvSpPr/>
          <p:nvPr/>
        </p:nvSpPr>
        <p:spPr>
          <a:xfrm>
            <a:off x="2514600" y="4288536"/>
            <a:ext cx="214884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NPS de usuarios en funciones IA</a:t>
            </a:r>
            <a:endParaRPr lang="en-US" sz="950" dirty="0"/>
          </a:p>
        </p:txBody>
      </p:sp>
      <p:sp>
        <p:nvSpPr>
          <p:cNvPr id="35" name="Text 33"/>
          <p:cNvSpPr/>
          <p:nvPr/>
        </p:nvSpPr>
        <p:spPr>
          <a:xfrm>
            <a:off x="4754880" y="4288536"/>
            <a:ext cx="205740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&gt;70</a:t>
            </a:r>
            <a:endParaRPr lang="en-US" sz="950" dirty="0"/>
          </a:p>
        </p:txBody>
      </p:sp>
      <p:sp>
        <p:nvSpPr>
          <p:cNvPr id="36" name="Text 34"/>
          <p:cNvSpPr/>
          <p:nvPr/>
        </p:nvSpPr>
        <p:spPr>
          <a:xfrm>
            <a:off x="6903720" y="4288536"/>
            <a:ext cx="1783080" cy="475488"/>
          </a:xfrm>
          <a:prstGeom prst="rect">
            <a:avLst/>
          </a:prstGeom>
          <a:noFill/>
          <a:ln/>
        </p:spPr>
        <p:txBody>
          <a:bodyPr wrap="square" lIns="0" tIns="0" rIns="0" bIns="0" rtlCol="0" anchor="ctr"/>
          <a:lstStyle/>
          <a:p>
            <a:pPr indent="0" marL="0">
              <a:buNone/>
            </a:pPr>
            <a:r>
              <a:rPr lang="en-US" sz="950" dirty="0">
                <a:solidFill>
                  <a:srgbClr val="424245"/>
                </a:solidFill>
                <a:latin typeface="Calibri" pitchFamily="34" charset="0"/>
                <a:ea typeface="Calibri" pitchFamily="34" charset="-122"/>
                <a:cs typeface="Calibri" pitchFamily="34" charset="-120"/>
              </a:rPr>
              <a:t>CMO / SVP Software</a:t>
            </a:r>
            <a:endParaRPr lang="en-US" sz="950" dirty="0"/>
          </a:p>
        </p:txBody>
      </p:sp>
      <p:sp>
        <p:nvSpPr>
          <p:cNvPr id="37" name="Shape 35"/>
          <p:cNvSpPr/>
          <p:nvPr/>
        </p:nvSpPr>
        <p:spPr>
          <a:xfrm>
            <a:off x="640080" y="4892040"/>
            <a:ext cx="7863840" cy="0"/>
          </a:xfrm>
          <a:prstGeom prst="line">
            <a:avLst/>
          </a:prstGeom>
          <a:noFill/>
          <a:ln w="9525">
            <a:solidFill>
              <a:srgbClr val="1D1D1F"/>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1645920"/>
            <a:ext cx="8229600" cy="1371600"/>
          </a:xfrm>
          <a:prstGeom prst="rect">
            <a:avLst/>
          </a:prstGeom>
          <a:noFill/>
          <a:ln/>
        </p:spPr>
        <p:txBody>
          <a:bodyPr wrap="square" lIns="0" tIns="0" rIns="0" bIns="0" rtlCol="0" anchor="ctr"/>
          <a:lstStyle/>
          <a:p>
            <a:pPr indent="0" marL="0">
              <a:buNone/>
            </a:pPr>
            <a:r>
              <a:rPr lang="en-US" sz="5200" dirty="0">
                <a:solidFill>
                  <a:srgbClr val="FFFFFF"/>
                </a:solidFill>
                <a:latin typeface="Georgia" pitchFamily="34" charset="0"/>
                <a:ea typeface="Georgia" pitchFamily="34" charset="-122"/>
                <a:cs typeface="Georgia" pitchFamily="34" charset="-120"/>
              </a:rPr>
              <a:t>08 — Conclusion y</a:t>
            </a:r>
            <a:endParaRPr lang="en-US" sz="5200" dirty="0"/>
          </a:p>
          <a:p>
            <a:pPr indent="0" marL="0">
              <a:buNone/>
            </a:pPr>
            <a:r>
              <a:rPr lang="en-US" sz="5200" dirty="0">
                <a:solidFill>
                  <a:srgbClr val="FFFFFF"/>
                </a:solidFill>
                <a:latin typeface="Georgia" pitchFamily="34" charset="0"/>
                <a:ea typeface="Georgia" pitchFamily="34" charset="-122"/>
                <a:cs typeface="Georgia" pitchFamily="34" charset="-120"/>
              </a:rPr>
              <a:t>Recomendaciones</a:t>
            </a:r>
            <a:endParaRPr lang="en-US" sz="5200" dirty="0"/>
          </a:p>
        </p:txBody>
      </p:sp>
      <p:sp>
        <p:nvSpPr>
          <p:cNvPr id="4" name="Text 2"/>
          <p:cNvSpPr/>
          <p:nvPr/>
        </p:nvSpPr>
        <p:spPr>
          <a:xfrm>
            <a:off x="502920" y="3200400"/>
            <a:ext cx="7315200" cy="548640"/>
          </a:xfrm>
          <a:prstGeom prst="rect">
            <a:avLst/>
          </a:prstGeom>
          <a:noFill/>
          <a:ln/>
        </p:spPr>
        <p:txBody>
          <a:bodyPr wrap="square" lIns="0" tIns="0" rIns="0" bIns="0" rtlCol="0" anchor="ctr"/>
          <a:lstStyle/>
          <a:p>
            <a:pPr indent="0" marL="0">
              <a:buNone/>
            </a:pPr>
            <a:r>
              <a:rPr lang="en-US" sz="1500" spc="100" kern="0" dirty="0">
                <a:solidFill>
                  <a:srgbClr val="6E6E73"/>
                </a:solidFill>
                <a:latin typeface="Calibri" pitchFamily="34" charset="0"/>
                <a:ea typeface="Calibri" pitchFamily="34" charset="-122"/>
                <a:cs typeface="Calibri" pitchFamily="34" charset="-120"/>
              </a:rPr>
              <a:t>Sintesis estrategica y lineas de accion prioritarias</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Recomendaciones Estrategicas</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1097280" cy="384048"/>
          </a:xfrm>
          <a:prstGeom prst="rect">
            <a:avLst/>
          </a:prstGeom>
          <a:solidFill>
            <a:srgbClr val="1D1D1F"/>
          </a:solidFill>
          <a:ln w="12700">
            <a:solidFill>
              <a:srgbClr val="1D1D1F"/>
            </a:solidFill>
            <a:prstDash val="solid"/>
          </a:ln>
        </p:spPr>
      </p:sp>
      <p:sp>
        <p:nvSpPr>
          <p:cNvPr id="5" name="Text 3"/>
          <p:cNvSpPr/>
          <p:nvPr/>
        </p:nvSpPr>
        <p:spPr>
          <a:xfrm>
            <a:off x="640080" y="1261872"/>
            <a:ext cx="109728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CONTINUAR</a:t>
            </a:r>
            <a:endParaRPr lang="en-US" sz="900" dirty="0"/>
          </a:p>
        </p:txBody>
      </p:sp>
      <p:sp>
        <p:nvSpPr>
          <p:cNvPr id="6" name="Shape 4"/>
          <p:cNvSpPr/>
          <p:nvPr/>
        </p:nvSpPr>
        <p:spPr>
          <a:xfrm>
            <a:off x="640080" y="1737360"/>
            <a:ext cx="7863840" cy="749808"/>
          </a:xfrm>
          <a:prstGeom prst="rect">
            <a:avLst/>
          </a:prstGeom>
          <a:solidFill>
            <a:srgbClr val="F5F5F7"/>
          </a:solidFill>
          <a:ln w="9525">
            <a:solidFill>
              <a:srgbClr val="D1D1D6"/>
            </a:solidFill>
            <a:prstDash val="solid"/>
          </a:ln>
        </p:spPr>
      </p:sp>
      <p:sp>
        <p:nvSpPr>
          <p:cNvPr id="7" name="Shape 5"/>
          <p:cNvSpPr/>
          <p:nvPr/>
        </p:nvSpPr>
        <p:spPr>
          <a:xfrm>
            <a:off x="640080" y="1737360"/>
            <a:ext cx="54864" cy="749808"/>
          </a:xfrm>
          <a:prstGeom prst="rect">
            <a:avLst/>
          </a:prstGeom>
          <a:solidFill>
            <a:srgbClr val="1D1D1F"/>
          </a:solidFill>
          <a:ln w="12700">
            <a:solidFill>
              <a:srgbClr val="1D1D1F"/>
            </a:solidFill>
            <a:prstDash val="solid"/>
          </a:ln>
        </p:spPr>
      </p:sp>
      <p:sp>
        <p:nvSpPr>
          <p:cNvPr id="8" name="Text 6"/>
          <p:cNvSpPr/>
          <p:nvPr/>
        </p:nvSpPr>
        <p:spPr>
          <a:xfrm>
            <a:off x="822960" y="1792224"/>
            <a:ext cx="7498080" cy="2743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Inversion sostenida en silicon propio</a:t>
            </a:r>
            <a:endParaRPr lang="en-US" sz="1200" dirty="0"/>
          </a:p>
        </p:txBody>
      </p:sp>
      <p:sp>
        <p:nvSpPr>
          <p:cNvPr id="9" name="Text 7"/>
          <p:cNvSpPr/>
          <p:nvPr/>
        </p:nvSpPr>
        <p:spPr>
          <a:xfrm>
            <a:off x="822960" y="2103120"/>
            <a:ext cx="7498080" cy="329184"/>
          </a:xfrm>
          <a:prstGeom prst="rect">
            <a:avLst/>
          </a:prstGeom>
          <a:noFill/>
          <a:ln/>
        </p:spPr>
        <p:txBody>
          <a:bodyPr wrap="square" lIns="0" tIns="0" rIns="0" bIns="0" rtlCol="0" anchor="ctr"/>
          <a:lstStyle/>
          <a:p>
            <a:pPr indent="0" marL="0">
              <a:buNone/>
            </a:pPr>
            <a:r>
              <a:rPr lang="en-US" sz="1000" dirty="0">
                <a:solidFill>
                  <a:srgbClr val="424245"/>
                </a:solidFill>
                <a:latin typeface="Calibri" pitchFamily="34" charset="0"/>
                <a:ea typeface="Calibri" pitchFamily="34" charset="-122"/>
                <a:cs typeface="Calibri" pitchFamily="34" charset="-120"/>
              </a:rPr>
              <a:t>El roadmap de M-series y A-series es la ventaja mas dificil de replicar. Mantener liderazgo de 2+ anos sobre competencia.</a:t>
            </a:r>
            <a:endParaRPr lang="en-US" sz="1000" dirty="0"/>
          </a:p>
        </p:txBody>
      </p:sp>
      <p:sp>
        <p:nvSpPr>
          <p:cNvPr id="10" name="Shape 8"/>
          <p:cNvSpPr/>
          <p:nvPr/>
        </p:nvSpPr>
        <p:spPr>
          <a:xfrm>
            <a:off x="640080" y="2578608"/>
            <a:ext cx="7863840" cy="749808"/>
          </a:xfrm>
          <a:prstGeom prst="rect">
            <a:avLst/>
          </a:prstGeom>
          <a:solidFill>
            <a:srgbClr val="F5F5F7"/>
          </a:solidFill>
          <a:ln w="9525">
            <a:solidFill>
              <a:srgbClr val="D1D1D6"/>
            </a:solidFill>
            <a:prstDash val="solid"/>
          </a:ln>
        </p:spPr>
      </p:sp>
      <p:sp>
        <p:nvSpPr>
          <p:cNvPr id="11" name="Shape 9"/>
          <p:cNvSpPr/>
          <p:nvPr/>
        </p:nvSpPr>
        <p:spPr>
          <a:xfrm>
            <a:off x="640080" y="2578608"/>
            <a:ext cx="54864" cy="749808"/>
          </a:xfrm>
          <a:prstGeom prst="rect">
            <a:avLst/>
          </a:prstGeom>
          <a:solidFill>
            <a:srgbClr val="1D1D1F"/>
          </a:solidFill>
          <a:ln w="12700">
            <a:solidFill>
              <a:srgbClr val="1D1D1F"/>
            </a:solidFill>
            <a:prstDash val="solid"/>
          </a:ln>
        </p:spPr>
      </p:sp>
      <p:sp>
        <p:nvSpPr>
          <p:cNvPr id="12" name="Text 10"/>
          <p:cNvSpPr/>
          <p:nvPr/>
        </p:nvSpPr>
        <p:spPr>
          <a:xfrm>
            <a:off x="822960" y="2633472"/>
            <a:ext cx="7498080" cy="2743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Privacidad como eje de producto y marketing</a:t>
            </a:r>
            <a:endParaRPr lang="en-US" sz="1200" dirty="0"/>
          </a:p>
        </p:txBody>
      </p:sp>
      <p:sp>
        <p:nvSpPr>
          <p:cNvPr id="13" name="Text 11"/>
          <p:cNvSpPr/>
          <p:nvPr/>
        </p:nvSpPr>
        <p:spPr>
          <a:xfrm>
            <a:off x="822960" y="2944368"/>
            <a:ext cx="7498080" cy="329184"/>
          </a:xfrm>
          <a:prstGeom prst="rect">
            <a:avLst/>
          </a:prstGeom>
          <a:noFill/>
          <a:ln/>
        </p:spPr>
        <p:txBody>
          <a:bodyPr wrap="square" lIns="0" tIns="0" rIns="0" bIns="0" rtlCol="0" anchor="ctr"/>
          <a:lstStyle/>
          <a:p>
            <a:pPr indent="0" marL="0">
              <a:buNone/>
            </a:pPr>
            <a:r>
              <a:rPr lang="en-US" sz="1000" dirty="0">
                <a:solidFill>
                  <a:srgbClr val="424245"/>
                </a:solidFill>
                <a:latin typeface="Calibri" pitchFamily="34" charset="0"/>
                <a:ea typeface="Calibri" pitchFamily="34" charset="-122"/>
                <a:cs typeface="Calibri" pitchFamily="34" charset="-120"/>
              </a:rPr>
              <a:t>La diferenciacion por privacidad es creible, valorada y explotable comercialmente. No ceder terreno ante presiones regulatorias.</a:t>
            </a:r>
            <a:endParaRPr lang="en-US" sz="1000" dirty="0"/>
          </a:p>
        </p:txBody>
      </p:sp>
      <p:sp>
        <p:nvSpPr>
          <p:cNvPr id="14" name="Shape 12"/>
          <p:cNvSpPr/>
          <p:nvPr/>
        </p:nvSpPr>
        <p:spPr>
          <a:xfrm>
            <a:off x="640080" y="3419856"/>
            <a:ext cx="7863840" cy="749808"/>
          </a:xfrm>
          <a:prstGeom prst="rect">
            <a:avLst/>
          </a:prstGeom>
          <a:solidFill>
            <a:srgbClr val="F5F5F7"/>
          </a:solidFill>
          <a:ln w="9525">
            <a:solidFill>
              <a:srgbClr val="D1D1D6"/>
            </a:solidFill>
            <a:prstDash val="solid"/>
          </a:ln>
        </p:spPr>
      </p:sp>
      <p:sp>
        <p:nvSpPr>
          <p:cNvPr id="15" name="Shape 13"/>
          <p:cNvSpPr/>
          <p:nvPr/>
        </p:nvSpPr>
        <p:spPr>
          <a:xfrm>
            <a:off x="640080" y="3419856"/>
            <a:ext cx="54864" cy="749808"/>
          </a:xfrm>
          <a:prstGeom prst="rect">
            <a:avLst/>
          </a:prstGeom>
          <a:solidFill>
            <a:srgbClr val="1D1D1F"/>
          </a:solidFill>
          <a:ln w="12700">
            <a:solidFill>
              <a:srgbClr val="1D1D1F"/>
            </a:solidFill>
            <a:prstDash val="solid"/>
          </a:ln>
        </p:spPr>
      </p:sp>
      <p:sp>
        <p:nvSpPr>
          <p:cNvPr id="16" name="Text 14"/>
          <p:cNvSpPr/>
          <p:nvPr/>
        </p:nvSpPr>
        <p:spPr>
          <a:xfrm>
            <a:off x="822960" y="3474720"/>
            <a:ext cx="7498080" cy="2743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Disciplina financiera y buybacks</a:t>
            </a:r>
            <a:endParaRPr lang="en-US" sz="1200" dirty="0"/>
          </a:p>
        </p:txBody>
      </p:sp>
      <p:sp>
        <p:nvSpPr>
          <p:cNvPr id="17" name="Text 15"/>
          <p:cNvSpPr/>
          <p:nvPr/>
        </p:nvSpPr>
        <p:spPr>
          <a:xfrm>
            <a:off x="822960" y="3785616"/>
            <a:ext cx="7498080" cy="329184"/>
          </a:xfrm>
          <a:prstGeom prst="rect">
            <a:avLst/>
          </a:prstGeom>
          <a:noFill/>
          <a:ln/>
        </p:spPr>
        <p:txBody>
          <a:bodyPr wrap="square" lIns="0" tIns="0" rIns="0" bIns="0" rtlCol="0" anchor="ctr"/>
          <a:lstStyle/>
          <a:p>
            <a:pPr indent="0" marL="0">
              <a:buNone/>
            </a:pPr>
            <a:r>
              <a:rPr lang="en-US" sz="1000" dirty="0">
                <a:solidFill>
                  <a:srgbClr val="424245"/>
                </a:solidFill>
                <a:latin typeface="Calibri" pitchFamily="34" charset="0"/>
                <a:ea typeface="Calibri" pitchFamily="34" charset="-122"/>
                <a:cs typeface="Calibri" pitchFamily="34" charset="-120"/>
              </a:rPr>
              <a:t>La generacion de $100B+ en caja libre anual y los buybacks sostenidos protegen el valor del accionista en ciclos de bajo crecimiento de hardware.</a:t>
            </a:r>
            <a:endParaRPr lang="en-US" sz="1000" dirty="0"/>
          </a:p>
        </p:txBody>
      </p:sp>
      <p:sp>
        <p:nvSpPr>
          <p:cNvPr id="18" name="Shape 16"/>
          <p:cNvSpPr/>
          <p:nvPr/>
        </p:nvSpPr>
        <p:spPr>
          <a:xfrm>
            <a:off x="640080" y="4352544"/>
            <a:ext cx="1097280" cy="384048"/>
          </a:xfrm>
          <a:prstGeom prst="rect">
            <a:avLst/>
          </a:prstGeom>
          <a:solidFill>
            <a:srgbClr val="1D1D1F"/>
          </a:solidFill>
          <a:ln w="12700">
            <a:solidFill>
              <a:srgbClr val="1D1D1F"/>
            </a:solidFill>
            <a:prstDash val="solid"/>
          </a:ln>
        </p:spPr>
      </p:sp>
      <p:sp>
        <p:nvSpPr>
          <p:cNvPr id="19" name="Text 17"/>
          <p:cNvSpPr/>
          <p:nvPr/>
        </p:nvSpPr>
        <p:spPr>
          <a:xfrm>
            <a:off x="640080" y="4352544"/>
            <a:ext cx="109728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ACELERAR</a:t>
            </a:r>
            <a:endParaRPr lang="en-US" sz="900" dirty="0"/>
          </a:p>
        </p:txBody>
      </p:sp>
      <p:sp>
        <p:nvSpPr>
          <p:cNvPr id="20" name="Shape 18"/>
          <p:cNvSpPr/>
          <p:nvPr/>
        </p:nvSpPr>
        <p:spPr>
          <a:xfrm>
            <a:off x="640080" y="4828032"/>
            <a:ext cx="7863840" cy="749808"/>
          </a:xfrm>
          <a:prstGeom prst="rect">
            <a:avLst/>
          </a:prstGeom>
          <a:solidFill>
            <a:srgbClr val="F5F5F7"/>
          </a:solidFill>
          <a:ln w="9525">
            <a:solidFill>
              <a:srgbClr val="D1D1D6"/>
            </a:solidFill>
            <a:prstDash val="solid"/>
          </a:ln>
        </p:spPr>
      </p:sp>
      <p:sp>
        <p:nvSpPr>
          <p:cNvPr id="21" name="Shape 19"/>
          <p:cNvSpPr/>
          <p:nvPr/>
        </p:nvSpPr>
        <p:spPr>
          <a:xfrm>
            <a:off x="640080" y="4828032"/>
            <a:ext cx="54864" cy="749808"/>
          </a:xfrm>
          <a:prstGeom prst="rect">
            <a:avLst/>
          </a:prstGeom>
          <a:solidFill>
            <a:srgbClr val="1D1D1F"/>
          </a:solidFill>
          <a:ln w="12700">
            <a:solidFill>
              <a:srgbClr val="1D1D1F"/>
            </a:solidFill>
            <a:prstDash val="solid"/>
          </a:ln>
        </p:spPr>
      </p:sp>
      <p:sp>
        <p:nvSpPr>
          <p:cNvPr id="22" name="Text 20"/>
          <p:cNvSpPr/>
          <p:nvPr/>
        </p:nvSpPr>
        <p:spPr>
          <a:xfrm>
            <a:off x="822960" y="4882896"/>
            <a:ext cx="7498080" cy="274320"/>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IA on-device con enfoque en privacidad</a:t>
            </a:r>
            <a:endParaRPr lang="en-US" sz="1200" dirty="0"/>
          </a:p>
        </p:txBody>
      </p:sp>
      <p:sp>
        <p:nvSpPr>
          <p:cNvPr id="23" name="Text 21"/>
          <p:cNvSpPr/>
          <p:nvPr/>
        </p:nvSpPr>
        <p:spPr>
          <a:xfrm>
            <a:off x="822960" y="5193792"/>
            <a:ext cx="7498080" cy="329184"/>
          </a:xfrm>
          <a:prstGeom prst="rect">
            <a:avLst/>
          </a:prstGeom>
          <a:noFill/>
          <a:ln/>
        </p:spPr>
        <p:txBody>
          <a:bodyPr wrap="square" lIns="0" tIns="0" rIns="0" bIns="0" rtlCol="0" anchor="ctr"/>
          <a:lstStyle/>
          <a:p>
            <a:pPr indent="0" marL="0">
              <a:buNone/>
            </a:pPr>
            <a:r>
              <a:rPr lang="en-US" sz="1000" dirty="0">
                <a:solidFill>
                  <a:srgbClr val="424245"/>
                </a:solidFill>
                <a:latin typeface="Calibri" pitchFamily="34" charset="0"/>
                <a:ea typeface="Calibri" pitchFamily="34" charset="-122"/>
                <a:cs typeface="Calibri" pitchFamily="34" charset="-120"/>
              </a:rPr>
              <a:t>Integrar IA generativa avanzada localmente en el dispositivo, usando el silicon propio. Lanzar campana de producto que posicione 'IA sin la nube' como diferencial.</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800" dirty="0">
                <a:solidFill>
                  <a:srgbClr val="1D1D1F"/>
                </a:solidFill>
                <a:latin typeface="Georgia" pitchFamily="34" charset="0"/>
                <a:ea typeface="Georgia" pitchFamily="34" charset="-122"/>
                <a:cs typeface="Georgia" pitchFamily="34" charset="-120"/>
              </a:rPr>
              <a:t>Recomendaciones — Iniciar</a:t>
            </a:r>
            <a:endParaRPr lang="en-US" sz="28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61872"/>
            <a:ext cx="7863840" cy="822960"/>
          </a:xfrm>
          <a:prstGeom prst="rect">
            <a:avLst/>
          </a:prstGeom>
          <a:solidFill>
            <a:srgbClr val="FFFFFF"/>
          </a:solidFill>
          <a:ln w="9525">
            <a:solidFill>
              <a:srgbClr val="D1D1D6"/>
            </a:solidFill>
            <a:prstDash val="solid"/>
          </a:ln>
        </p:spPr>
      </p:sp>
      <p:sp>
        <p:nvSpPr>
          <p:cNvPr id="5" name="Shape 3"/>
          <p:cNvSpPr/>
          <p:nvPr/>
        </p:nvSpPr>
        <p:spPr>
          <a:xfrm>
            <a:off x="640080" y="1261872"/>
            <a:ext cx="54864" cy="822960"/>
          </a:xfrm>
          <a:prstGeom prst="rect">
            <a:avLst/>
          </a:prstGeom>
          <a:solidFill>
            <a:srgbClr val="147CE5"/>
          </a:solidFill>
          <a:ln w="12700">
            <a:solidFill>
              <a:srgbClr val="147CE5"/>
            </a:solidFill>
            <a:prstDash val="solid"/>
          </a:ln>
        </p:spPr>
      </p:sp>
      <p:sp>
        <p:nvSpPr>
          <p:cNvPr id="6" name="Shape 4"/>
          <p:cNvSpPr/>
          <p:nvPr/>
        </p:nvSpPr>
        <p:spPr>
          <a:xfrm>
            <a:off x="786384" y="1481328"/>
            <a:ext cx="384048" cy="384048"/>
          </a:xfrm>
          <a:prstGeom prst="ellipse">
            <a:avLst/>
          </a:prstGeom>
          <a:solidFill>
            <a:srgbClr val="1D1D1F"/>
          </a:solidFill>
          <a:ln w="12700">
            <a:solidFill>
              <a:srgbClr val="1D1D1F"/>
            </a:solidFill>
            <a:prstDash val="solid"/>
          </a:ln>
        </p:spPr>
      </p:sp>
      <p:sp>
        <p:nvSpPr>
          <p:cNvPr id="7" name="Text 5"/>
          <p:cNvSpPr/>
          <p:nvPr/>
        </p:nvSpPr>
        <p:spPr>
          <a:xfrm>
            <a:off x="786384" y="1499616"/>
            <a:ext cx="384048" cy="347472"/>
          </a:xfrm>
          <a:prstGeom prst="rect">
            <a:avLst/>
          </a:prstGeom>
          <a:noFill/>
          <a:ln/>
        </p:spPr>
        <p:txBody>
          <a:bodyPr wrap="square" lIns="0" tIns="0" rIns="0" bIns="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1298448" y="1335024"/>
            <a:ext cx="6949440" cy="347472"/>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Chief AI Platforms &amp; Intelligence</a:t>
            </a:r>
            <a:endParaRPr lang="en-US" sz="1200" dirty="0"/>
          </a:p>
        </p:txBody>
      </p:sp>
      <p:sp>
        <p:nvSpPr>
          <p:cNvPr id="9" name="Text 7"/>
          <p:cNvSpPr/>
          <p:nvPr/>
        </p:nvSpPr>
        <p:spPr>
          <a:xfrm>
            <a:off x="1298448" y="1700784"/>
            <a:ext cx="69494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Crear una posicion ejecutiva de primer nivel exclusivamente dedicada a IA. Hoy el liderazgo de IA esta diluido entre software, hardware y servicios.</a:t>
            </a:r>
            <a:endParaRPr lang="en-US" sz="1050" dirty="0"/>
          </a:p>
        </p:txBody>
      </p:sp>
      <p:sp>
        <p:nvSpPr>
          <p:cNvPr id="10" name="Shape 8"/>
          <p:cNvSpPr/>
          <p:nvPr/>
        </p:nvSpPr>
        <p:spPr>
          <a:xfrm>
            <a:off x="640080" y="2212848"/>
            <a:ext cx="7863840" cy="822960"/>
          </a:xfrm>
          <a:prstGeom prst="rect">
            <a:avLst/>
          </a:prstGeom>
          <a:solidFill>
            <a:srgbClr val="FFFFFF"/>
          </a:solidFill>
          <a:ln w="9525">
            <a:solidFill>
              <a:srgbClr val="D1D1D6"/>
            </a:solidFill>
            <a:prstDash val="solid"/>
          </a:ln>
        </p:spPr>
      </p:sp>
      <p:sp>
        <p:nvSpPr>
          <p:cNvPr id="11" name="Shape 9"/>
          <p:cNvSpPr/>
          <p:nvPr/>
        </p:nvSpPr>
        <p:spPr>
          <a:xfrm>
            <a:off x="640080" y="2212848"/>
            <a:ext cx="54864" cy="822960"/>
          </a:xfrm>
          <a:prstGeom prst="rect">
            <a:avLst/>
          </a:prstGeom>
          <a:solidFill>
            <a:srgbClr val="147CE5"/>
          </a:solidFill>
          <a:ln w="12700">
            <a:solidFill>
              <a:srgbClr val="147CE5"/>
            </a:solidFill>
            <a:prstDash val="solid"/>
          </a:ln>
        </p:spPr>
      </p:sp>
      <p:sp>
        <p:nvSpPr>
          <p:cNvPr id="12" name="Shape 10"/>
          <p:cNvSpPr/>
          <p:nvPr/>
        </p:nvSpPr>
        <p:spPr>
          <a:xfrm>
            <a:off x="786384" y="2432304"/>
            <a:ext cx="384048" cy="384048"/>
          </a:xfrm>
          <a:prstGeom prst="ellipse">
            <a:avLst/>
          </a:prstGeom>
          <a:solidFill>
            <a:srgbClr val="1D1D1F"/>
          </a:solidFill>
          <a:ln w="12700">
            <a:solidFill>
              <a:srgbClr val="1D1D1F"/>
            </a:solidFill>
            <a:prstDash val="solid"/>
          </a:ln>
        </p:spPr>
      </p:sp>
      <p:sp>
        <p:nvSpPr>
          <p:cNvPr id="13" name="Text 11"/>
          <p:cNvSpPr/>
          <p:nvPr/>
        </p:nvSpPr>
        <p:spPr>
          <a:xfrm>
            <a:off x="786384" y="2450592"/>
            <a:ext cx="384048" cy="347472"/>
          </a:xfrm>
          <a:prstGeom prst="rect">
            <a:avLst/>
          </a:prstGeom>
          <a:noFill/>
          <a:ln/>
        </p:spPr>
        <p:txBody>
          <a:bodyPr wrap="square" lIns="0" tIns="0" rIns="0" bIns="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2</a:t>
            </a:r>
            <a:endParaRPr lang="en-US" sz="1300" dirty="0"/>
          </a:p>
        </p:txBody>
      </p:sp>
      <p:sp>
        <p:nvSpPr>
          <p:cNvPr id="14" name="Text 12"/>
          <p:cNvSpPr/>
          <p:nvPr/>
        </p:nvSpPr>
        <p:spPr>
          <a:xfrm>
            <a:off x="1298448" y="2286000"/>
            <a:ext cx="6949440" cy="347472"/>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Apple Health como plataforma medica real</a:t>
            </a:r>
            <a:endParaRPr lang="en-US" sz="1200" dirty="0"/>
          </a:p>
        </p:txBody>
      </p:sp>
      <p:sp>
        <p:nvSpPr>
          <p:cNvPr id="15" name="Text 13"/>
          <p:cNvSpPr/>
          <p:nvPr/>
        </p:nvSpPr>
        <p:spPr>
          <a:xfrm>
            <a:off x="1298448" y="2651760"/>
            <a:ext cx="69494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Transformar Apple Watch y el ecosistema en una plataforma de salud digital certificada: monitoreo continuo, diagnostico asistido y alianzas con aseguradoras.</a:t>
            </a:r>
            <a:endParaRPr lang="en-US" sz="1050" dirty="0"/>
          </a:p>
        </p:txBody>
      </p:sp>
      <p:sp>
        <p:nvSpPr>
          <p:cNvPr id="16" name="Shape 14"/>
          <p:cNvSpPr/>
          <p:nvPr/>
        </p:nvSpPr>
        <p:spPr>
          <a:xfrm>
            <a:off x="640080" y="3163824"/>
            <a:ext cx="7863840" cy="822960"/>
          </a:xfrm>
          <a:prstGeom prst="rect">
            <a:avLst/>
          </a:prstGeom>
          <a:solidFill>
            <a:srgbClr val="FFFFFF"/>
          </a:solidFill>
          <a:ln w="9525">
            <a:solidFill>
              <a:srgbClr val="D1D1D6"/>
            </a:solidFill>
            <a:prstDash val="solid"/>
          </a:ln>
        </p:spPr>
      </p:sp>
      <p:sp>
        <p:nvSpPr>
          <p:cNvPr id="17" name="Shape 15"/>
          <p:cNvSpPr/>
          <p:nvPr/>
        </p:nvSpPr>
        <p:spPr>
          <a:xfrm>
            <a:off x="640080" y="3163824"/>
            <a:ext cx="54864" cy="822960"/>
          </a:xfrm>
          <a:prstGeom prst="rect">
            <a:avLst/>
          </a:prstGeom>
          <a:solidFill>
            <a:srgbClr val="147CE5"/>
          </a:solidFill>
          <a:ln w="12700">
            <a:solidFill>
              <a:srgbClr val="147CE5"/>
            </a:solidFill>
            <a:prstDash val="solid"/>
          </a:ln>
        </p:spPr>
      </p:sp>
      <p:sp>
        <p:nvSpPr>
          <p:cNvPr id="18" name="Shape 16"/>
          <p:cNvSpPr/>
          <p:nvPr/>
        </p:nvSpPr>
        <p:spPr>
          <a:xfrm>
            <a:off x="786384" y="3383280"/>
            <a:ext cx="384048" cy="384048"/>
          </a:xfrm>
          <a:prstGeom prst="ellipse">
            <a:avLst/>
          </a:prstGeom>
          <a:solidFill>
            <a:srgbClr val="1D1D1F"/>
          </a:solidFill>
          <a:ln w="12700">
            <a:solidFill>
              <a:srgbClr val="1D1D1F"/>
            </a:solidFill>
            <a:prstDash val="solid"/>
          </a:ln>
        </p:spPr>
      </p:sp>
      <p:sp>
        <p:nvSpPr>
          <p:cNvPr id="19" name="Text 17"/>
          <p:cNvSpPr/>
          <p:nvPr/>
        </p:nvSpPr>
        <p:spPr>
          <a:xfrm>
            <a:off x="786384" y="3401568"/>
            <a:ext cx="384048" cy="347472"/>
          </a:xfrm>
          <a:prstGeom prst="rect">
            <a:avLst/>
          </a:prstGeom>
          <a:noFill/>
          <a:ln/>
        </p:spPr>
        <p:txBody>
          <a:bodyPr wrap="square" lIns="0" tIns="0" rIns="0" bIns="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3</a:t>
            </a:r>
            <a:endParaRPr lang="en-US" sz="1300" dirty="0"/>
          </a:p>
        </p:txBody>
      </p:sp>
      <p:sp>
        <p:nvSpPr>
          <p:cNvPr id="20" name="Text 18"/>
          <p:cNvSpPr/>
          <p:nvPr/>
        </p:nvSpPr>
        <p:spPr>
          <a:xfrm>
            <a:off x="1298448" y="3236976"/>
            <a:ext cx="6949440" cy="347472"/>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Servicios de precio accesible en India</a:t>
            </a:r>
            <a:endParaRPr lang="en-US" sz="1200" dirty="0"/>
          </a:p>
        </p:txBody>
      </p:sp>
      <p:sp>
        <p:nvSpPr>
          <p:cNvPr id="21" name="Text 19"/>
          <p:cNvSpPr/>
          <p:nvPr/>
        </p:nvSpPr>
        <p:spPr>
          <a:xfrm>
            <a:off x="1298448" y="3602736"/>
            <a:ext cx="69494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Crear bundles de servicios a menor precio para el mercado indio. Prioridad: capturar usuarios jovenes que en 5 anos seran la clase media premium de mayor crecimiento del mundo.</a:t>
            </a:r>
            <a:endParaRPr lang="en-US" sz="1050" dirty="0"/>
          </a:p>
        </p:txBody>
      </p:sp>
      <p:sp>
        <p:nvSpPr>
          <p:cNvPr id="22" name="Shape 20"/>
          <p:cNvSpPr/>
          <p:nvPr/>
        </p:nvSpPr>
        <p:spPr>
          <a:xfrm>
            <a:off x="640080" y="4114800"/>
            <a:ext cx="7863840" cy="822960"/>
          </a:xfrm>
          <a:prstGeom prst="rect">
            <a:avLst/>
          </a:prstGeom>
          <a:solidFill>
            <a:srgbClr val="FFFFFF"/>
          </a:solidFill>
          <a:ln w="9525">
            <a:solidFill>
              <a:srgbClr val="D1D1D6"/>
            </a:solidFill>
            <a:prstDash val="solid"/>
          </a:ln>
        </p:spPr>
      </p:sp>
      <p:sp>
        <p:nvSpPr>
          <p:cNvPr id="23" name="Shape 21"/>
          <p:cNvSpPr/>
          <p:nvPr/>
        </p:nvSpPr>
        <p:spPr>
          <a:xfrm>
            <a:off x="640080" y="4114800"/>
            <a:ext cx="54864" cy="822960"/>
          </a:xfrm>
          <a:prstGeom prst="rect">
            <a:avLst/>
          </a:prstGeom>
          <a:solidFill>
            <a:srgbClr val="147CE5"/>
          </a:solidFill>
          <a:ln w="12700">
            <a:solidFill>
              <a:srgbClr val="147CE5"/>
            </a:solidFill>
            <a:prstDash val="solid"/>
          </a:ln>
        </p:spPr>
      </p:sp>
      <p:sp>
        <p:nvSpPr>
          <p:cNvPr id="24" name="Shape 22"/>
          <p:cNvSpPr/>
          <p:nvPr/>
        </p:nvSpPr>
        <p:spPr>
          <a:xfrm>
            <a:off x="786384" y="4334256"/>
            <a:ext cx="384048" cy="384048"/>
          </a:xfrm>
          <a:prstGeom prst="ellipse">
            <a:avLst/>
          </a:prstGeom>
          <a:solidFill>
            <a:srgbClr val="1D1D1F"/>
          </a:solidFill>
          <a:ln w="12700">
            <a:solidFill>
              <a:srgbClr val="1D1D1F"/>
            </a:solidFill>
            <a:prstDash val="solid"/>
          </a:ln>
        </p:spPr>
      </p:sp>
      <p:sp>
        <p:nvSpPr>
          <p:cNvPr id="25" name="Text 23"/>
          <p:cNvSpPr/>
          <p:nvPr/>
        </p:nvSpPr>
        <p:spPr>
          <a:xfrm>
            <a:off x="786384" y="4352544"/>
            <a:ext cx="384048" cy="347472"/>
          </a:xfrm>
          <a:prstGeom prst="rect">
            <a:avLst/>
          </a:prstGeom>
          <a:noFill/>
          <a:ln/>
        </p:spPr>
        <p:txBody>
          <a:bodyPr wrap="square" lIns="0" tIns="0" rIns="0" bIns="0" rtlCol="0" anchor="ctr"/>
          <a:lstStyle/>
          <a:p>
            <a:pPr algn="ctr" indent="0" marL="0">
              <a:buNone/>
            </a:pPr>
            <a:r>
              <a:rPr lang="en-US" sz="1300" dirty="0">
                <a:solidFill>
                  <a:srgbClr val="FFFFFF"/>
                </a:solidFill>
                <a:latin typeface="Georgia" pitchFamily="34" charset="0"/>
                <a:ea typeface="Georgia" pitchFamily="34" charset="-122"/>
                <a:cs typeface="Georgia" pitchFamily="34" charset="-120"/>
              </a:rPr>
              <a:t>4</a:t>
            </a:r>
            <a:endParaRPr lang="en-US" sz="1300" dirty="0"/>
          </a:p>
        </p:txBody>
      </p:sp>
      <p:sp>
        <p:nvSpPr>
          <p:cNvPr id="26" name="Text 24"/>
          <p:cNvSpPr/>
          <p:nvPr/>
        </p:nvSpPr>
        <p:spPr>
          <a:xfrm>
            <a:off x="1298448" y="4187952"/>
            <a:ext cx="6949440" cy="347472"/>
          </a:xfrm>
          <a:prstGeom prst="rect">
            <a:avLst/>
          </a:prstGeom>
          <a:noFill/>
          <a:ln/>
        </p:spPr>
        <p:txBody>
          <a:bodyPr wrap="square" lIns="0" tIns="0" rIns="0" bIns="0" rtlCol="0" anchor="ctr"/>
          <a:lstStyle/>
          <a:p>
            <a:pPr indent="0" marL="0">
              <a:buNone/>
            </a:pPr>
            <a:r>
              <a:rPr lang="en-US" sz="1200" b="1" dirty="0">
                <a:solidFill>
                  <a:srgbClr val="1D1D1F"/>
                </a:solidFill>
                <a:latin typeface="Calibri" pitchFamily="34" charset="0"/>
                <a:ea typeface="Calibri" pitchFamily="34" charset="-122"/>
                <a:cs typeface="Calibri" pitchFamily="34" charset="-120"/>
              </a:rPr>
              <a:t>Narrativa publica de Apple Intelligence</a:t>
            </a:r>
            <a:endParaRPr lang="en-US" sz="1200" dirty="0"/>
          </a:p>
        </p:txBody>
      </p:sp>
      <p:sp>
        <p:nvSpPr>
          <p:cNvPr id="27" name="Text 25"/>
          <p:cNvSpPr/>
          <p:nvPr/>
        </p:nvSpPr>
        <p:spPr>
          <a:xfrm>
            <a:off x="1298448" y="4553712"/>
            <a:ext cx="6949440" cy="347472"/>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Lanzar campana explicita que muestre como la IA de Apple funciona on-device y protege la privacidad. El producto existe; la narrativa es debil frente a OpenAI y Google.</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863840" cy="685800"/>
          </a:xfrm>
          <a:prstGeom prst="rect">
            <a:avLst/>
          </a:prstGeom>
          <a:noFill/>
          <a:ln/>
        </p:spPr>
        <p:txBody>
          <a:bodyPr wrap="square" lIns="0" tIns="0" rIns="0" bIns="0" rtlCol="0" anchor="ctr"/>
          <a:lstStyle/>
          <a:p>
            <a:pPr indent="0" marL="0">
              <a:buNone/>
            </a:pPr>
            <a:r>
              <a:rPr lang="en-US" sz="2400" dirty="0">
                <a:solidFill>
                  <a:srgbClr val="1D1D1F"/>
                </a:solidFill>
                <a:latin typeface="Georgia" pitchFamily="34" charset="0"/>
                <a:ea typeface="Georgia" pitchFamily="34" charset="-122"/>
                <a:cs typeface="Georgia" pitchFamily="34" charset="-120"/>
              </a:rPr>
              <a:t>Contrastar lo que fue con lo que puede ser</a:t>
            </a:r>
            <a:endParaRPr lang="en-US" sz="2400" dirty="0"/>
          </a:p>
        </p:txBody>
      </p:sp>
      <p:sp>
        <p:nvSpPr>
          <p:cNvPr id="3" name="Shape 1"/>
          <p:cNvSpPr/>
          <p:nvPr/>
        </p:nvSpPr>
        <p:spPr>
          <a:xfrm>
            <a:off x="640080" y="1078992"/>
            <a:ext cx="7863840" cy="0"/>
          </a:xfrm>
          <a:prstGeom prst="line">
            <a:avLst/>
          </a:prstGeom>
          <a:noFill/>
          <a:ln w="9525">
            <a:solidFill>
              <a:srgbClr val="D1D1D6"/>
            </a:solidFill>
            <a:prstDash val="solid"/>
          </a:ln>
        </p:spPr>
      </p:sp>
      <p:sp>
        <p:nvSpPr>
          <p:cNvPr id="4" name="Shape 2"/>
          <p:cNvSpPr/>
          <p:nvPr/>
        </p:nvSpPr>
        <p:spPr>
          <a:xfrm>
            <a:off x="640080" y="1234440"/>
            <a:ext cx="3657600" cy="411480"/>
          </a:xfrm>
          <a:prstGeom prst="rect">
            <a:avLst/>
          </a:prstGeom>
          <a:solidFill>
            <a:srgbClr val="1D1D1F"/>
          </a:solidFill>
          <a:ln w="12700">
            <a:solidFill>
              <a:srgbClr val="1D1D1F"/>
            </a:solidFill>
            <a:prstDash val="solid"/>
          </a:ln>
        </p:spPr>
      </p:sp>
      <p:sp>
        <p:nvSpPr>
          <p:cNvPr id="5" name="Text 3"/>
          <p:cNvSpPr/>
          <p:nvPr/>
        </p:nvSpPr>
        <p:spPr>
          <a:xfrm>
            <a:off x="640080" y="1234440"/>
            <a:ext cx="36576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APPLE HOY — FY2025</a:t>
            </a:r>
            <a:endParaRPr lang="en-US" sz="1100" dirty="0"/>
          </a:p>
        </p:txBody>
      </p:sp>
      <p:sp>
        <p:nvSpPr>
          <p:cNvPr id="6" name="Shape 4"/>
          <p:cNvSpPr/>
          <p:nvPr/>
        </p:nvSpPr>
        <p:spPr>
          <a:xfrm>
            <a:off x="4846320" y="1234440"/>
            <a:ext cx="3657600" cy="411480"/>
          </a:xfrm>
          <a:prstGeom prst="rect">
            <a:avLst/>
          </a:prstGeom>
          <a:solidFill>
            <a:srgbClr val="147CE5"/>
          </a:solidFill>
          <a:ln w="12700">
            <a:solidFill>
              <a:srgbClr val="147CE5"/>
            </a:solidFill>
            <a:prstDash val="solid"/>
          </a:ln>
        </p:spPr>
      </p:sp>
      <p:sp>
        <p:nvSpPr>
          <p:cNvPr id="7" name="Text 5"/>
          <p:cNvSpPr/>
          <p:nvPr/>
        </p:nvSpPr>
        <p:spPr>
          <a:xfrm>
            <a:off x="4846320" y="1234440"/>
            <a:ext cx="36576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APPLE POSIBLE — FY2026+</a:t>
            </a:r>
            <a:endParaRPr lang="en-US" sz="1100" dirty="0"/>
          </a:p>
        </p:txBody>
      </p:sp>
      <p:sp>
        <p:nvSpPr>
          <p:cNvPr id="8" name="Text 6"/>
          <p:cNvSpPr/>
          <p:nvPr/>
        </p:nvSpPr>
        <p:spPr>
          <a:xfrm>
            <a:off x="640080" y="1783080"/>
            <a:ext cx="3657600" cy="548640"/>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Ingresos: $416B con 50%+ dependencia iPhone</a:t>
            </a:r>
            <a:endParaRPr lang="en-US" sz="1050" dirty="0"/>
          </a:p>
        </p:txBody>
      </p:sp>
      <p:sp>
        <p:nvSpPr>
          <p:cNvPr id="9" name="Text 7"/>
          <p:cNvSpPr/>
          <p:nvPr/>
        </p:nvSpPr>
        <p:spPr>
          <a:xfrm>
            <a:off x="4846320" y="1783080"/>
            <a:ext cx="3657600" cy="548640"/>
          </a:xfrm>
          <a:prstGeom prst="rect">
            <a:avLst/>
          </a:prstGeom>
          <a:noFill/>
          <a:ln/>
        </p:spPr>
        <p:txBody>
          <a:bodyPr wrap="square" lIns="0" tIns="0" rIns="0" bIns="0" rtlCol="0" anchor="ctr"/>
          <a:lstStyle/>
          <a:p>
            <a:pPr indent="0" marL="0">
              <a:buNone/>
            </a:pPr>
            <a:r>
              <a:rPr lang="en-US" sz="1050" dirty="0">
                <a:solidFill>
                  <a:srgbClr val="1D1D1F"/>
                </a:solidFill>
                <a:latin typeface="Calibri" pitchFamily="34" charset="0"/>
                <a:ea typeface="Calibri" pitchFamily="34" charset="-122"/>
                <a:cs typeface="Calibri" pitchFamily="34" charset="-120"/>
              </a:rPr>
              <a:t>+ Ingresos: $443B+ con Services al 28%+ del total</a:t>
            </a:r>
            <a:endParaRPr lang="en-US" sz="1050" dirty="0"/>
          </a:p>
        </p:txBody>
      </p:sp>
      <p:sp>
        <p:nvSpPr>
          <p:cNvPr id="10" name="Shape 8"/>
          <p:cNvSpPr/>
          <p:nvPr/>
        </p:nvSpPr>
        <p:spPr>
          <a:xfrm>
            <a:off x="640080" y="2368296"/>
            <a:ext cx="3657600" cy="0"/>
          </a:xfrm>
          <a:prstGeom prst="line">
            <a:avLst/>
          </a:prstGeom>
          <a:noFill/>
          <a:ln w="9525">
            <a:solidFill>
              <a:srgbClr val="D1D1D6"/>
            </a:solidFill>
            <a:prstDash val="solid"/>
          </a:ln>
        </p:spPr>
      </p:sp>
      <p:sp>
        <p:nvSpPr>
          <p:cNvPr id="11" name="Shape 9"/>
          <p:cNvSpPr/>
          <p:nvPr/>
        </p:nvSpPr>
        <p:spPr>
          <a:xfrm>
            <a:off x="4846320" y="2368296"/>
            <a:ext cx="3657600" cy="0"/>
          </a:xfrm>
          <a:prstGeom prst="line">
            <a:avLst/>
          </a:prstGeom>
          <a:noFill/>
          <a:ln w="9525">
            <a:solidFill>
              <a:srgbClr val="D1D1D6"/>
            </a:solidFill>
            <a:prstDash val="solid"/>
          </a:ln>
        </p:spPr>
      </p:sp>
      <p:sp>
        <p:nvSpPr>
          <p:cNvPr id="12" name="Text 10"/>
          <p:cNvSpPr/>
          <p:nvPr/>
        </p:nvSpPr>
        <p:spPr>
          <a:xfrm>
            <a:off x="640080" y="2404872"/>
            <a:ext cx="3657600" cy="548640"/>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IA percibida como debilidad frente a Google y OpenAI</a:t>
            </a:r>
            <a:endParaRPr lang="en-US" sz="1050" dirty="0"/>
          </a:p>
        </p:txBody>
      </p:sp>
      <p:sp>
        <p:nvSpPr>
          <p:cNvPr id="13" name="Text 11"/>
          <p:cNvSpPr/>
          <p:nvPr/>
        </p:nvSpPr>
        <p:spPr>
          <a:xfrm>
            <a:off x="4846320" y="2404872"/>
            <a:ext cx="3657600" cy="548640"/>
          </a:xfrm>
          <a:prstGeom prst="rect">
            <a:avLst/>
          </a:prstGeom>
          <a:noFill/>
          <a:ln/>
        </p:spPr>
        <p:txBody>
          <a:bodyPr wrap="square" lIns="0" tIns="0" rIns="0" bIns="0" rtlCol="0" anchor="ctr"/>
          <a:lstStyle/>
          <a:p>
            <a:pPr indent="0" marL="0">
              <a:buNone/>
            </a:pPr>
            <a:r>
              <a:rPr lang="en-US" sz="1050" dirty="0">
                <a:solidFill>
                  <a:srgbClr val="1D1D1F"/>
                </a:solidFill>
                <a:latin typeface="Calibri" pitchFamily="34" charset="0"/>
                <a:ea typeface="Calibri" pitchFamily="34" charset="-122"/>
                <a:cs typeface="Calibri" pitchFamily="34" charset="-120"/>
              </a:rPr>
              <a:t>+ IA on-device diferenciada: privacidad + silicon = ventaja real</a:t>
            </a:r>
            <a:endParaRPr lang="en-US" sz="1050" dirty="0"/>
          </a:p>
        </p:txBody>
      </p:sp>
      <p:sp>
        <p:nvSpPr>
          <p:cNvPr id="14" name="Shape 12"/>
          <p:cNvSpPr/>
          <p:nvPr/>
        </p:nvSpPr>
        <p:spPr>
          <a:xfrm>
            <a:off x="640080" y="2990088"/>
            <a:ext cx="3657600" cy="0"/>
          </a:xfrm>
          <a:prstGeom prst="line">
            <a:avLst/>
          </a:prstGeom>
          <a:noFill/>
          <a:ln w="9525">
            <a:solidFill>
              <a:srgbClr val="D1D1D6"/>
            </a:solidFill>
            <a:prstDash val="solid"/>
          </a:ln>
        </p:spPr>
      </p:sp>
      <p:sp>
        <p:nvSpPr>
          <p:cNvPr id="15" name="Shape 13"/>
          <p:cNvSpPr/>
          <p:nvPr/>
        </p:nvSpPr>
        <p:spPr>
          <a:xfrm>
            <a:off x="4846320" y="2990088"/>
            <a:ext cx="3657600" cy="0"/>
          </a:xfrm>
          <a:prstGeom prst="line">
            <a:avLst/>
          </a:prstGeom>
          <a:noFill/>
          <a:ln w="9525">
            <a:solidFill>
              <a:srgbClr val="D1D1D6"/>
            </a:solidFill>
            <a:prstDash val="solid"/>
          </a:ln>
        </p:spPr>
      </p:sp>
      <p:sp>
        <p:nvSpPr>
          <p:cNvPr id="16" name="Text 14"/>
          <p:cNvSpPr/>
          <p:nvPr/>
        </p:nvSpPr>
        <p:spPr>
          <a:xfrm>
            <a:off x="640080" y="3026664"/>
            <a:ext cx="3657600" cy="548640"/>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Supply chain concentrado 85% en China</a:t>
            </a:r>
            <a:endParaRPr lang="en-US" sz="1050" dirty="0"/>
          </a:p>
        </p:txBody>
      </p:sp>
      <p:sp>
        <p:nvSpPr>
          <p:cNvPr id="17" name="Text 15"/>
          <p:cNvSpPr/>
          <p:nvPr/>
        </p:nvSpPr>
        <p:spPr>
          <a:xfrm>
            <a:off x="4846320" y="3026664"/>
            <a:ext cx="3657600" cy="548640"/>
          </a:xfrm>
          <a:prstGeom prst="rect">
            <a:avLst/>
          </a:prstGeom>
          <a:noFill/>
          <a:ln/>
        </p:spPr>
        <p:txBody>
          <a:bodyPr wrap="square" lIns="0" tIns="0" rIns="0" bIns="0" rtlCol="0" anchor="ctr"/>
          <a:lstStyle/>
          <a:p>
            <a:pPr indent="0" marL="0">
              <a:buNone/>
            </a:pPr>
            <a:r>
              <a:rPr lang="en-US" sz="1050" dirty="0">
                <a:solidFill>
                  <a:srgbClr val="1D1D1F"/>
                </a:solidFill>
                <a:latin typeface="Calibri" pitchFamily="34" charset="0"/>
                <a:ea typeface="Calibri" pitchFamily="34" charset="-122"/>
                <a:cs typeface="Calibri" pitchFamily="34" charset="-120"/>
              </a:rPr>
              <a:t>+ Supply chain diversificado India / Vietnam / China: &lt;70%</a:t>
            </a:r>
            <a:endParaRPr lang="en-US" sz="1050" dirty="0"/>
          </a:p>
        </p:txBody>
      </p:sp>
      <p:sp>
        <p:nvSpPr>
          <p:cNvPr id="18" name="Shape 16"/>
          <p:cNvSpPr/>
          <p:nvPr/>
        </p:nvSpPr>
        <p:spPr>
          <a:xfrm>
            <a:off x="640080" y="3611880"/>
            <a:ext cx="3657600" cy="0"/>
          </a:xfrm>
          <a:prstGeom prst="line">
            <a:avLst/>
          </a:prstGeom>
          <a:noFill/>
          <a:ln w="9525">
            <a:solidFill>
              <a:srgbClr val="D1D1D6"/>
            </a:solidFill>
            <a:prstDash val="solid"/>
          </a:ln>
        </p:spPr>
      </p:sp>
      <p:sp>
        <p:nvSpPr>
          <p:cNvPr id="19" name="Shape 17"/>
          <p:cNvSpPr/>
          <p:nvPr/>
        </p:nvSpPr>
        <p:spPr>
          <a:xfrm>
            <a:off x="4846320" y="3611880"/>
            <a:ext cx="3657600" cy="0"/>
          </a:xfrm>
          <a:prstGeom prst="line">
            <a:avLst/>
          </a:prstGeom>
          <a:noFill/>
          <a:ln w="9525">
            <a:solidFill>
              <a:srgbClr val="D1D1D6"/>
            </a:solidFill>
            <a:prstDash val="solid"/>
          </a:ln>
        </p:spPr>
      </p:sp>
      <p:sp>
        <p:nvSpPr>
          <p:cNvPr id="20" name="Text 18"/>
          <p:cNvSpPr/>
          <p:nvPr/>
        </p:nvSpPr>
        <p:spPr>
          <a:xfrm>
            <a:off x="640080" y="3648456"/>
            <a:ext cx="3657600" cy="548640"/>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Wearables sin narrativa de salud clinica clara</a:t>
            </a:r>
            <a:endParaRPr lang="en-US" sz="1050" dirty="0"/>
          </a:p>
        </p:txBody>
      </p:sp>
      <p:sp>
        <p:nvSpPr>
          <p:cNvPr id="21" name="Text 19"/>
          <p:cNvSpPr/>
          <p:nvPr/>
        </p:nvSpPr>
        <p:spPr>
          <a:xfrm>
            <a:off x="4846320" y="3648456"/>
            <a:ext cx="3657600" cy="548640"/>
          </a:xfrm>
          <a:prstGeom prst="rect">
            <a:avLst/>
          </a:prstGeom>
          <a:noFill/>
          <a:ln/>
        </p:spPr>
        <p:txBody>
          <a:bodyPr wrap="square" lIns="0" tIns="0" rIns="0" bIns="0" rtlCol="0" anchor="ctr"/>
          <a:lstStyle/>
          <a:p>
            <a:pPr indent="0" marL="0">
              <a:buNone/>
            </a:pPr>
            <a:r>
              <a:rPr lang="en-US" sz="1050" dirty="0">
                <a:solidFill>
                  <a:srgbClr val="1D1D1F"/>
                </a:solidFill>
                <a:latin typeface="Calibri" pitchFamily="34" charset="0"/>
                <a:ea typeface="Calibri" pitchFamily="34" charset="-122"/>
                <a:cs typeface="Calibri" pitchFamily="34" charset="-120"/>
              </a:rPr>
              <a:t>+ Apple Health: plataforma medica certificada y monetizable</a:t>
            </a:r>
            <a:endParaRPr lang="en-US" sz="1050" dirty="0"/>
          </a:p>
        </p:txBody>
      </p:sp>
      <p:sp>
        <p:nvSpPr>
          <p:cNvPr id="22" name="Shape 20"/>
          <p:cNvSpPr/>
          <p:nvPr/>
        </p:nvSpPr>
        <p:spPr>
          <a:xfrm>
            <a:off x="640080" y="4233672"/>
            <a:ext cx="3657600" cy="0"/>
          </a:xfrm>
          <a:prstGeom prst="line">
            <a:avLst/>
          </a:prstGeom>
          <a:noFill/>
          <a:ln w="9525">
            <a:solidFill>
              <a:srgbClr val="D1D1D6"/>
            </a:solidFill>
            <a:prstDash val="solid"/>
          </a:ln>
        </p:spPr>
      </p:sp>
      <p:sp>
        <p:nvSpPr>
          <p:cNvPr id="23" name="Shape 21"/>
          <p:cNvSpPr/>
          <p:nvPr/>
        </p:nvSpPr>
        <p:spPr>
          <a:xfrm>
            <a:off x="4846320" y="4233672"/>
            <a:ext cx="3657600" cy="0"/>
          </a:xfrm>
          <a:prstGeom prst="line">
            <a:avLst/>
          </a:prstGeom>
          <a:noFill/>
          <a:ln w="9525">
            <a:solidFill>
              <a:srgbClr val="D1D1D6"/>
            </a:solidFill>
            <a:prstDash val="solid"/>
          </a:ln>
        </p:spPr>
      </p:sp>
      <p:sp>
        <p:nvSpPr>
          <p:cNvPr id="24" name="Text 22"/>
          <p:cNvSpPr/>
          <p:nvPr/>
        </p:nvSpPr>
        <p:spPr>
          <a:xfrm>
            <a:off x="640080" y="4270248"/>
            <a:ext cx="3657600" cy="548640"/>
          </a:xfrm>
          <a:prstGeom prst="rect">
            <a:avLst/>
          </a:prstGeom>
          <a:noFill/>
          <a:ln/>
        </p:spPr>
        <p:txBody>
          <a:bodyPr wrap="square" lIns="0" tIns="0" rIns="0" bIns="0" rtlCol="0" anchor="ctr"/>
          <a:lstStyle/>
          <a:p>
            <a:pPr indent="0" marL="0">
              <a:buNone/>
            </a:pPr>
            <a:r>
              <a:rPr lang="en-US" sz="1050" dirty="0">
                <a:solidFill>
                  <a:srgbClr val="424245"/>
                </a:solidFill>
                <a:latin typeface="Calibri" pitchFamily="34" charset="0"/>
                <a:ea typeface="Calibri" pitchFamily="34" charset="-122"/>
                <a:cs typeface="Calibri" pitchFamily="34" charset="-120"/>
              </a:rPr>
              <a:t>— EBIT margin: 32.0%</a:t>
            </a:r>
            <a:endParaRPr lang="en-US" sz="1050" dirty="0"/>
          </a:p>
        </p:txBody>
      </p:sp>
      <p:sp>
        <p:nvSpPr>
          <p:cNvPr id="25" name="Text 23"/>
          <p:cNvSpPr/>
          <p:nvPr/>
        </p:nvSpPr>
        <p:spPr>
          <a:xfrm>
            <a:off x="4846320" y="4270248"/>
            <a:ext cx="3657600" cy="548640"/>
          </a:xfrm>
          <a:prstGeom prst="rect">
            <a:avLst/>
          </a:prstGeom>
          <a:noFill/>
          <a:ln/>
        </p:spPr>
        <p:txBody>
          <a:bodyPr wrap="square" lIns="0" tIns="0" rIns="0" bIns="0" rtlCol="0" anchor="ctr"/>
          <a:lstStyle/>
          <a:p>
            <a:pPr indent="0" marL="0">
              <a:buNone/>
            </a:pPr>
            <a:r>
              <a:rPr lang="en-US" sz="1050" dirty="0">
                <a:solidFill>
                  <a:srgbClr val="1D1D1F"/>
                </a:solidFill>
                <a:latin typeface="Calibri" pitchFamily="34" charset="0"/>
                <a:ea typeface="Calibri" pitchFamily="34" charset="-122"/>
                <a:cs typeface="Calibri" pitchFamily="34" charset="-120"/>
              </a:rPr>
              <a:t>+ EBIT margin proyectado: 32.4% — expansion sostenida</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47CE5"/>
          </a:solidFill>
          <a:ln w="12700">
            <a:solidFill>
              <a:srgbClr val="147CE5"/>
            </a:solidFill>
            <a:prstDash val="solid"/>
          </a:ln>
        </p:spPr>
      </p:sp>
      <p:sp>
        <p:nvSpPr>
          <p:cNvPr id="3" name="Text 1"/>
          <p:cNvSpPr/>
          <p:nvPr/>
        </p:nvSpPr>
        <p:spPr>
          <a:xfrm>
            <a:off x="502920" y="640080"/>
            <a:ext cx="7863840" cy="685800"/>
          </a:xfrm>
          <a:prstGeom prst="rect">
            <a:avLst/>
          </a:prstGeom>
          <a:noFill/>
          <a:ln/>
        </p:spPr>
        <p:txBody>
          <a:bodyPr wrap="square" lIns="0" tIns="0" rIns="0" bIns="0" rtlCol="0" anchor="ctr"/>
          <a:lstStyle/>
          <a:p>
            <a:pPr indent="0" marL="0">
              <a:buNone/>
            </a:pPr>
            <a:r>
              <a:rPr lang="en-US" sz="1400" spc="200" kern="0" dirty="0">
                <a:solidFill>
                  <a:srgbClr val="6E6E73"/>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502920" y="1371600"/>
            <a:ext cx="8046720" cy="777240"/>
          </a:xfrm>
          <a:prstGeom prst="rect">
            <a:avLst/>
          </a:prstGeom>
          <a:noFill/>
          <a:ln/>
        </p:spPr>
        <p:txBody>
          <a:bodyPr wrap="square" lIns="0" tIns="0" rIns="0" bIns="0" rtlCol="0" anchor="ctr"/>
          <a:lstStyle/>
          <a:p>
            <a:pPr indent="0" marL="0">
              <a:buNone/>
            </a:pPr>
            <a:r>
              <a:rPr lang="en-US" sz="1600" dirty="0">
                <a:solidFill>
                  <a:srgbClr val="FFFFFF"/>
                </a:solidFill>
                <a:latin typeface="Georgia" pitchFamily="34" charset="0"/>
                <a:ea typeface="Georgia" pitchFamily="34" charset="-122"/>
                <a:cs typeface="Georgia" pitchFamily="34" charset="-120"/>
              </a:rPr>
              <a:t>Apple llega a este analisis desde una posicion de fortaleza excepcional: USD 416.2B en ventas, USD 133.1B de EBIT y USD 112.0B de utilidad neta en 2025.</a:t>
            </a:r>
            <a:endParaRPr lang="en-US" sz="1600" dirty="0"/>
          </a:p>
        </p:txBody>
      </p:sp>
      <p:sp>
        <p:nvSpPr>
          <p:cNvPr id="5" name="Shape 3"/>
          <p:cNvSpPr/>
          <p:nvPr/>
        </p:nvSpPr>
        <p:spPr>
          <a:xfrm>
            <a:off x="502920" y="2194560"/>
            <a:ext cx="8046720" cy="0"/>
          </a:xfrm>
          <a:prstGeom prst="line">
            <a:avLst/>
          </a:prstGeom>
          <a:noFill/>
          <a:ln w="9525">
            <a:solidFill>
              <a:srgbClr val="424245"/>
            </a:solidFill>
            <a:prstDash val="solid"/>
          </a:ln>
        </p:spPr>
      </p:sp>
      <p:sp>
        <p:nvSpPr>
          <p:cNvPr id="6" name="Shape 4"/>
          <p:cNvSpPr/>
          <p:nvPr/>
        </p:nvSpPr>
        <p:spPr>
          <a:xfrm>
            <a:off x="502920" y="2432304"/>
            <a:ext cx="384048" cy="384048"/>
          </a:xfrm>
          <a:prstGeom prst="rect">
            <a:avLst/>
          </a:prstGeom>
          <a:solidFill>
            <a:srgbClr val="147CE5"/>
          </a:solidFill>
          <a:ln w="12700">
            <a:solidFill>
              <a:srgbClr val="147CE5"/>
            </a:solidFill>
            <a:prstDash val="solid"/>
          </a:ln>
        </p:spPr>
      </p:sp>
      <p:sp>
        <p:nvSpPr>
          <p:cNvPr id="7" name="Text 5"/>
          <p:cNvSpPr/>
          <p:nvPr/>
        </p:nvSpPr>
        <p:spPr>
          <a:xfrm>
            <a:off x="502920" y="2450592"/>
            <a:ext cx="38404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005840" y="2468880"/>
            <a:ext cx="7406640" cy="384048"/>
          </a:xfrm>
          <a:prstGeom prst="rect">
            <a:avLst/>
          </a:prstGeom>
          <a:noFill/>
          <a:ln/>
        </p:spPr>
        <p:txBody>
          <a:bodyPr wrap="square" lIns="0" tIns="0" rIns="0" bIns="0" rtlCol="0" anchor="ctr"/>
          <a:lstStyle/>
          <a:p>
            <a:pPr indent="0" marL="0">
              <a:buNone/>
            </a:pPr>
            <a:r>
              <a:rPr lang="en-US" sz="1300" dirty="0">
                <a:solidFill>
                  <a:srgbClr val="D1D1D6"/>
                </a:solidFill>
                <a:latin typeface="Calibri" pitchFamily="34" charset="0"/>
                <a:ea typeface="Calibri" pitchFamily="34" charset="-122"/>
                <a:cs typeface="Calibri" pitchFamily="34" charset="-120"/>
              </a:rPr>
              <a:t>Convertir el silicon propio en liderazgo tangible de IA on-device</a:t>
            </a:r>
            <a:endParaRPr lang="en-US" sz="1300" dirty="0"/>
          </a:p>
        </p:txBody>
      </p:sp>
      <p:sp>
        <p:nvSpPr>
          <p:cNvPr id="9" name="Shape 7"/>
          <p:cNvSpPr/>
          <p:nvPr/>
        </p:nvSpPr>
        <p:spPr>
          <a:xfrm>
            <a:off x="502920" y="3026664"/>
            <a:ext cx="384048" cy="384048"/>
          </a:xfrm>
          <a:prstGeom prst="rect">
            <a:avLst/>
          </a:prstGeom>
          <a:solidFill>
            <a:srgbClr val="147CE5"/>
          </a:solidFill>
          <a:ln w="12700">
            <a:solidFill>
              <a:srgbClr val="147CE5"/>
            </a:solidFill>
            <a:prstDash val="solid"/>
          </a:ln>
        </p:spPr>
      </p:sp>
      <p:sp>
        <p:nvSpPr>
          <p:cNvPr id="10" name="Text 8"/>
          <p:cNvSpPr/>
          <p:nvPr/>
        </p:nvSpPr>
        <p:spPr>
          <a:xfrm>
            <a:off x="502920" y="3044952"/>
            <a:ext cx="38404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Georgia" pitchFamily="34" charset="0"/>
                <a:ea typeface="Georgia" pitchFamily="34" charset="-122"/>
                <a:cs typeface="Georgia" pitchFamily="34" charset="-120"/>
              </a:rPr>
              <a:t>2</a:t>
            </a:r>
            <a:endParaRPr lang="en-US" sz="1400" dirty="0"/>
          </a:p>
        </p:txBody>
      </p:sp>
      <p:sp>
        <p:nvSpPr>
          <p:cNvPr id="11" name="Text 9"/>
          <p:cNvSpPr/>
          <p:nvPr/>
        </p:nvSpPr>
        <p:spPr>
          <a:xfrm>
            <a:off x="1005840" y="3063240"/>
            <a:ext cx="7406640" cy="384048"/>
          </a:xfrm>
          <a:prstGeom prst="rect">
            <a:avLst/>
          </a:prstGeom>
          <a:noFill/>
          <a:ln/>
        </p:spPr>
        <p:txBody>
          <a:bodyPr wrap="square" lIns="0" tIns="0" rIns="0" bIns="0" rtlCol="0" anchor="ctr"/>
          <a:lstStyle/>
          <a:p>
            <a:pPr indent="0" marL="0">
              <a:buNone/>
            </a:pPr>
            <a:r>
              <a:rPr lang="en-US" sz="1300" dirty="0">
                <a:solidFill>
                  <a:srgbClr val="D1D1D6"/>
                </a:solidFill>
                <a:latin typeface="Calibri" pitchFamily="34" charset="0"/>
                <a:ea typeface="Calibri" pitchFamily="34" charset="-122"/>
                <a:cs typeface="Calibri" pitchFamily="34" charset="-120"/>
              </a:rPr>
              <a:t>Elevar el peso de Services al 28%+ del total de ingresos</a:t>
            </a:r>
            <a:endParaRPr lang="en-US" sz="1300" dirty="0"/>
          </a:p>
        </p:txBody>
      </p:sp>
      <p:sp>
        <p:nvSpPr>
          <p:cNvPr id="12" name="Shape 10"/>
          <p:cNvSpPr/>
          <p:nvPr/>
        </p:nvSpPr>
        <p:spPr>
          <a:xfrm>
            <a:off x="502920" y="3621024"/>
            <a:ext cx="384048" cy="384048"/>
          </a:xfrm>
          <a:prstGeom prst="rect">
            <a:avLst/>
          </a:prstGeom>
          <a:solidFill>
            <a:srgbClr val="147CE5"/>
          </a:solidFill>
          <a:ln w="12700">
            <a:solidFill>
              <a:srgbClr val="147CE5"/>
            </a:solidFill>
            <a:prstDash val="solid"/>
          </a:ln>
        </p:spPr>
      </p:sp>
      <p:sp>
        <p:nvSpPr>
          <p:cNvPr id="13" name="Text 11"/>
          <p:cNvSpPr/>
          <p:nvPr/>
        </p:nvSpPr>
        <p:spPr>
          <a:xfrm>
            <a:off x="502920" y="3639312"/>
            <a:ext cx="38404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1005840" y="3657600"/>
            <a:ext cx="7406640" cy="384048"/>
          </a:xfrm>
          <a:prstGeom prst="rect">
            <a:avLst/>
          </a:prstGeom>
          <a:noFill/>
          <a:ln/>
        </p:spPr>
        <p:txBody>
          <a:bodyPr wrap="square" lIns="0" tIns="0" rIns="0" bIns="0" rtlCol="0" anchor="ctr"/>
          <a:lstStyle/>
          <a:p>
            <a:pPr indent="0" marL="0">
              <a:buNone/>
            </a:pPr>
            <a:r>
              <a:rPr lang="en-US" sz="1300" dirty="0">
                <a:solidFill>
                  <a:srgbClr val="D1D1D6"/>
                </a:solidFill>
                <a:latin typeface="Calibri" pitchFamily="34" charset="0"/>
                <a:ea typeface="Calibri" pitchFamily="34" charset="-122"/>
                <a:cs typeface="Calibri" pitchFamily="34" charset="-120"/>
              </a:rPr>
              <a:t>Reducir la concentracion de supply chain en Asia sin perder eficiencia</a:t>
            </a:r>
            <a:endParaRPr lang="en-US" sz="1300" dirty="0"/>
          </a:p>
        </p:txBody>
      </p:sp>
      <p:sp>
        <p:nvSpPr>
          <p:cNvPr id="15" name="Shape 13"/>
          <p:cNvSpPr/>
          <p:nvPr/>
        </p:nvSpPr>
        <p:spPr>
          <a:xfrm>
            <a:off x="502920" y="4215384"/>
            <a:ext cx="384048" cy="384048"/>
          </a:xfrm>
          <a:prstGeom prst="rect">
            <a:avLst/>
          </a:prstGeom>
          <a:solidFill>
            <a:srgbClr val="147CE5"/>
          </a:solidFill>
          <a:ln w="12700">
            <a:solidFill>
              <a:srgbClr val="147CE5"/>
            </a:solidFill>
            <a:prstDash val="solid"/>
          </a:ln>
        </p:spPr>
      </p:sp>
      <p:sp>
        <p:nvSpPr>
          <p:cNvPr id="16" name="Text 14"/>
          <p:cNvSpPr/>
          <p:nvPr/>
        </p:nvSpPr>
        <p:spPr>
          <a:xfrm>
            <a:off x="502920" y="4233672"/>
            <a:ext cx="38404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Georgia" pitchFamily="34" charset="0"/>
                <a:ea typeface="Georgia" pitchFamily="34" charset="-122"/>
                <a:cs typeface="Georgia" pitchFamily="34" charset="-120"/>
              </a:rPr>
              <a:t>4</a:t>
            </a:r>
            <a:endParaRPr lang="en-US" sz="1400" dirty="0"/>
          </a:p>
        </p:txBody>
      </p:sp>
      <p:sp>
        <p:nvSpPr>
          <p:cNvPr id="17" name="Text 15"/>
          <p:cNvSpPr/>
          <p:nvPr/>
        </p:nvSpPr>
        <p:spPr>
          <a:xfrm>
            <a:off x="1005840" y="4251960"/>
            <a:ext cx="7406640" cy="384048"/>
          </a:xfrm>
          <a:prstGeom prst="rect">
            <a:avLst/>
          </a:prstGeom>
          <a:noFill/>
          <a:ln/>
        </p:spPr>
        <p:txBody>
          <a:bodyPr wrap="square" lIns="0" tIns="0" rIns="0" bIns="0" rtlCol="0" anchor="ctr"/>
          <a:lstStyle/>
          <a:p>
            <a:pPr indent="0" marL="0">
              <a:buNone/>
            </a:pPr>
            <a:r>
              <a:rPr lang="en-US" sz="1300" dirty="0">
                <a:solidFill>
                  <a:srgbClr val="D1D1D6"/>
                </a:solidFill>
                <a:latin typeface="Calibri" pitchFamily="34" charset="0"/>
                <a:ea typeface="Calibri" pitchFamily="34" charset="-122"/>
                <a:cs typeface="Calibri" pitchFamily="34" charset="-120"/>
              </a:rPr>
              <a:t>Establecer Apple Health como la plataforma de salud digital de referencia</a:t>
            </a:r>
            <a:endParaRPr lang="en-US" sz="1300" dirty="0"/>
          </a:p>
        </p:txBody>
      </p:sp>
      <p:sp>
        <p:nvSpPr>
          <p:cNvPr id="18" name="Shape 16"/>
          <p:cNvSpPr/>
          <p:nvPr/>
        </p:nvSpPr>
        <p:spPr>
          <a:xfrm>
            <a:off x="0" y="4846320"/>
            <a:ext cx="9144000" cy="297180"/>
          </a:xfrm>
          <a:prstGeom prst="rect">
            <a:avLst/>
          </a:prstGeom>
          <a:solidFill>
            <a:srgbClr val="147CE5"/>
          </a:solidFill>
          <a:ln w="12700">
            <a:solidFill>
              <a:srgbClr val="147CE5"/>
            </a:solidFill>
            <a:prstDash val="solid"/>
          </a:ln>
        </p:spPr>
      </p:sp>
      <p:sp>
        <p:nvSpPr>
          <p:cNvPr id="19" name="Text 17"/>
          <p:cNvSpPr/>
          <p:nvPr/>
        </p:nvSpPr>
        <p:spPr>
          <a:xfrm>
            <a:off x="274320" y="4864608"/>
            <a:ext cx="859536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Apple Inc.  |  Administracion Estrategica 2025  |  Think Different. Build Different. Lead Always.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2"/>
          </a:solidFill>
          <a:ln w="12700">
            <a:solidFill>
              <a:srgbClr val="AEAEB2"/>
            </a:solidFill>
            <a:prstDash val="solid"/>
          </a:ln>
        </p:spPr>
      </p:sp>
      <p:sp>
        <p:nvSpPr>
          <p:cNvPr id="3" name="Shape 1"/>
          <p:cNvSpPr/>
          <p:nvPr/>
        </p:nvSpPr>
        <p:spPr>
          <a:xfrm>
            <a:off x="0" y="0"/>
            <a:ext cx="9144000" cy="0"/>
          </a:xfrm>
          <a:prstGeom prst="line">
            <a:avLst/>
          </a:prstGeom>
          <a:noFill/>
          <a:ln w="6350">
            <a:solidFill>
              <a:srgbClr val="D1D1D6"/>
            </a:solidFill>
            <a:prstDash val="solid"/>
          </a:ln>
        </p:spPr>
      </p:sp>
      <p:sp>
        <p:nvSpPr>
          <p:cNvPr id="4" name="Text 2"/>
          <p:cNvSpPr/>
          <p:nvPr/>
        </p:nvSpPr>
        <p:spPr>
          <a:xfrm>
            <a:off x="0" y="2407158"/>
            <a:ext cx="9144000" cy="329184"/>
          </a:xfrm>
          <a:prstGeom prst="rect">
            <a:avLst/>
          </a:prstGeom>
          <a:noFill/>
          <a:ln/>
        </p:spPr>
        <p:txBody>
          <a:bodyPr wrap="square" lIns="0" tIns="0" rIns="0" bIns="0" rtlCol="0" anchor="ctr"/>
          <a:lstStyle/>
          <a:p>
            <a:pPr algn="ctr" indent="0" marL="0">
              <a:buNone/>
            </a:pPr>
            <a:r>
              <a:rPr lang="en-US" sz="1000" dirty="0">
                <a:solidFill>
                  <a:srgbClr val="AEAEB2"/>
                </a:solidFill>
                <a:latin typeface="Calibri" pitchFamily="34" charset="0"/>
                <a:ea typeface="Calibri" pitchFamily="34" charset="-122"/>
                <a:cs typeface="Calibri" pitchFamily="34" charset="-120"/>
              </a:rPr>
              <a:t>[ Imagen de cierre — producto Apple icónico ]</a:t>
            </a:r>
            <a:endParaRPr lang="en-US" sz="1000" dirty="0"/>
          </a:p>
        </p:txBody>
      </p:sp>
      <p:sp>
        <p:nvSpPr>
          <p:cNvPr id="5" name="Shape 3"/>
          <p:cNvSpPr/>
          <p:nvPr/>
        </p:nvSpPr>
        <p:spPr>
          <a:xfrm>
            <a:off x="0" y="4114800"/>
            <a:ext cx="9144000" cy="1028700"/>
          </a:xfrm>
          <a:prstGeom prst="rect">
            <a:avLst/>
          </a:prstGeom>
          <a:solidFill>
            <a:srgbClr val="0A0A0A">
              <a:alpha val="70000"/>
            </a:srgbClr>
          </a:solidFill>
          <a:ln w="12700">
            <a:solidFill>
              <a:srgbClr val="0A0A0A">
                <a:alpha val="70000"/>
              </a:srgbClr>
            </a:solidFill>
            <a:prstDash val="solid"/>
          </a:ln>
        </p:spPr>
      </p:sp>
      <p:sp>
        <p:nvSpPr>
          <p:cNvPr id="6" name="Text 4"/>
          <p:cNvSpPr/>
          <p:nvPr/>
        </p:nvSpPr>
        <p:spPr>
          <a:xfrm>
            <a:off x="640080" y="4206240"/>
            <a:ext cx="7863840" cy="822960"/>
          </a:xfrm>
          <a:prstGeom prst="rect">
            <a:avLst/>
          </a:prstGeom>
          <a:noFill/>
          <a:ln/>
        </p:spPr>
        <p:txBody>
          <a:bodyPr wrap="square" lIns="0" tIns="0" rIns="0" bIns="0" rtlCol="0" anchor="ctr"/>
          <a:lstStyle/>
          <a:p>
            <a:pPr algn="ctr" indent="0" marL="0">
              <a:buNone/>
            </a:pPr>
            <a:r>
              <a:rPr lang="en-US" sz="3800" i="1" dirty="0">
                <a:solidFill>
                  <a:srgbClr val="FFFFFF"/>
                </a:solidFill>
                <a:latin typeface="Georgia" pitchFamily="34" charset="0"/>
                <a:ea typeface="Georgia" pitchFamily="34" charset="-122"/>
                <a:cs typeface="Georgia" pitchFamily="34" charset="-120"/>
              </a:rPr>
              <a:t>"Think Different."</a:t>
            </a:r>
            <a:endParaRPr lang="en-US" sz="3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Inc. — Analisis Estrategico</dc:title>
  <dc:subject>PptxGenJS Presentation</dc:subject>
  <dc:creator>PptxGenJS</dc:creator>
  <cp:lastModifiedBy>PptxGenJS</cp:lastModifiedBy>
  <cp:revision>1</cp:revision>
  <dcterms:created xsi:type="dcterms:W3CDTF">2026-06-04T21:58:36Z</dcterms:created>
  <dcterms:modified xsi:type="dcterms:W3CDTF">2026-06-04T21:58:36Z</dcterms:modified>
</cp:coreProperties>
</file>